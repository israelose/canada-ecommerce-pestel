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Annual sales (CAD B)</c:v>
                </c:pt>
              </c:strCache>
            </c:strRef>
          </c:tx>
          <c:spPr>
            <a:solidFill>
              <a:srgbClr val="2B6F9F"/>
            </a:solidFill>
            <a:effectLst/>
          </c:spPr>
          <c:invertIfNegative val="0"/>
          <c:dLbls>
            <c:numFmt formatCode="0.0" sourceLinked="0"/>
            <c:spPr>
              <a:noFill/>
              <a:ln>
                <a:noFill/>
              </a:ln>
              <a:effectLst/>
            </c:spPr>
            <c:txPr>
              <a:bodyPr/>
              <a:lstStyle/>
              <a:p>
                <a:pPr>
                  <a:defRPr sz="1200" b="0" i="0" u="none" strike="noStrike">
                    <a:solidFill>
                      <a:srgbClr val="000000"/>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2017</c:v>
                </c:pt>
                <c:pt idx="1">
                  <c:v>2018</c:v>
                </c:pt>
                <c:pt idx="2">
                  <c:v>2019</c:v>
                </c:pt>
                <c:pt idx="3">
                  <c:v>2020</c:v>
                </c:pt>
                <c:pt idx="4">
                  <c:v>2021</c:v>
                </c:pt>
                <c:pt idx="5">
                  <c:v>2022</c:v>
                </c:pt>
                <c:pt idx="6">
                  <c:v>2023</c:v>
                </c:pt>
                <c:pt idx="7">
                  <c:v>2024</c:v>
                </c:pt>
                <c:pt idx="8">
                  <c:v>2025</c:v>
                </c:pt>
              </c:strCache>
            </c:strRef>
          </c:cat>
          <c:val>
            <c:numRef>
              <c:f>Sheet1!$B$2:$B$10</c:f>
              <c:numCache>
                <c:formatCode>General</c:formatCode>
                <c:ptCount val="9"/>
                <c:pt idx="0">
                  <c:v>15.759356</c:v>
                </c:pt>
                <c:pt idx="1">
                  <c:v>18.247292000000002</c:v>
                </c:pt>
                <c:pt idx="2">
                  <c:v>22.48563</c:v>
                </c:pt>
                <c:pt idx="3">
                  <c:v>39.348092000000001</c:v>
                </c:pt>
                <c:pt idx="4">
                  <c:v>46.387959000000002</c:v>
                </c:pt>
                <c:pt idx="5">
                  <c:v>42.389198999999998</c:v>
                </c:pt>
                <c:pt idx="6">
                  <c:v>45.076402999999999</c:v>
                </c:pt>
                <c:pt idx="7">
                  <c:v>57.571306</c:v>
                </c:pt>
                <c:pt idx="8">
                  <c:v>59.239421</c:v>
                </c:pt>
              </c:numCache>
            </c:numRef>
          </c:val>
          <c:extLst>
            <c:ext xmlns:c16="http://schemas.microsoft.com/office/drawing/2014/chart" uri="{C3380CC4-5D6E-409C-BE32-E72D297353CC}">
              <c16:uniqueId val="{00000000-B19A-4F9D-A7DF-BF4A9DB768A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65"/>
          <c:min val="0"/>
        </c:scaling>
        <c:delete val="0"/>
        <c:axPos val="l"/>
        <c:majorGridlines>
          <c:spPr>
            <a:ln w="12700" cap="flat">
              <a:solidFill>
                <a:srgbClr val="E6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w="12700" cap="flat">
          <a:solidFill>
            <a:srgbClr val="DCE3E8"/>
          </a:solid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Average e-commerce YoY growth</c:v>
                </c:pt>
              </c:strCache>
            </c:strRef>
          </c:tx>
          <c:spPr>
            <a:solidFill>
              <a:srgbClr val="D59E2A"/>
            </a:solidFill>
            <a:effectLst/>
          </c:spPr>
          <c:invertIfNegative val="0"/>
          <c:dLbls>
            <c:numFmt formatCode="0.0&quot;%&quot;" sourceLinked="0"/>
            <c:spPr>
              <a:noFill/>
              <a:ln>
                <a:noFill/>
              </a:ln>
              <a:effectLst/>
            </c:spPr>
            <c:txPr>
              <a:bodyPr/>
              <a:lstStyle/>
              <a:p>
                <a:pPr>
                  <a:defRPr sz="1200" b="0" i="0" u="none" strike="noStrike">
                    <a:solidFill>
                      <a:srgbClr val="000000"/>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Pre-pandemic</c:v>
                </c:pt>
                <c:pt idx="1">
                  <c:v>Pandemic</c:v>
                </c:pt>
                <c:pt idx="2">
                  <c:v>Inflation / normalization</c:v>
                </c:pt>
                <c:pt idx="3">
                  <c:v>Recent</c:v>
                </c:pt>
              </c:strCache>
            </c:strRef>
          </c:cat>
          <c:val>
            <c:numRef>
              <c:f>Sheet1!$B$2:$B$5</c:f>
              <c:numCache>
                <c:formatCode>General</c:formatCode>
                <c:ptCount val="4"/>
                <c:pt idx="0">
                  <c:v>19.600000000000001</c:v>
                </c:pt>
                <c:pt idx="1">
                  <c:v>49.9</c:v>
                </c:pt>
                <c:pt idx="2">
                  <c:v>-0.4</c:v>
                </c:pt>
                <c:pt idx="3">
                  <c:v>15.4</c:v>
                </c:pt>
              </c:numCache>
            </c:numRef>
          </c:val>
          <c:extLst>
            <c:ext xmlns:c16="http://schemas.microsoft.com/office/drawing/2014/chart" uri="{C3380CC4-5D6E-409C-BE32-E72D297353CC}">
              <c16:uniqueId val="{00000000-BB48-46BC-AA26-0C2A68A46F4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2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60"/>
          <c:min val="-10"/>
        </c:scaling>
        <c:delete val="0"/>
        <c:axPos val="l"/>
        <c:majorGridlines>
          <c:spPr>
            <a:ln w="12700" cap="flat">
              <a:solidFill>
                <a:srgbClr val="E6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w="12700" cap="flat">
          <a:solidFill>
            <a:srgbClr val="DCE3E8"/>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E-commerce YoY growth</c:v>
                </c:pt>
              </c:strCache>
            </c:strRef>
          </c:tx>
          <c:spPr>
            <a:ln w="25400" cap="flat">
              <a:solidFill>
                <a:srgbClr val="2B6F9F"/>
              </a:solidFill>
              <a:prstDash val="solid"/>
              <a:round/>
            </a:ln>
            <a:effectLst/>
          </c:spPr>
          <c:marker>
            <c:symbol val="circle"/>
            <c:size val="6"/>
            <c:spPr>
              <a:solidFill>
                <a:srgbClr val="2B6F9F"/>
              </a:solidFill>
              <a:ln w="9525" cap="flat">
                <a:solidFill>
                  <a:srgbClr val="2B6F9F"/>
                </a:solidFill>
                <a:prstDash val="solid"/>
                <a:round/>
              </a:ln>
              <a:effectLst/>
            </c:spPr>
          </c:marker>
          <c:cat>
            <c:strRef>
              <c:f>Sheet1!$A$2:$A$97</c:f>
              <c:strCache>
                <c:ptCount val="96"/>
                <c:pt idx="0">
                  <c:v>2018-01</c:v>
                </c:pt>
                <c:pt idx="6">
                  <c:v>2018-07</c:v>
                </c:pt>
                <c:pt idx="12">
                  <c:v>2019-01</c:v>
                </c:pt>
                <c:pt idx="18">
                  <c:v>2019-07</c:v>
                </c:pt>
                <c:pt idx="24">
                  <c:v>2020-01</c:v>
                </c:pt>
                <c:pt idx="30">
                  <c:v>2020-07</c:v>
                </c:pt>
                <c:pt idx="36">
                  <c:v>2021-01</c:v>
                </c:pt>
                <c:pt idx="42">
                  <c:v>2021-07</c:v>
                </c:pt>
                <c:pt idx="48">
                  <c:v>2022-01</c:v>
                </c:pt>
                <c:pt idx="54">
                  <c:v>2022-07</c:v>
                </c:pt>
                <c:pt idx="60">
                  <c:v>2023-01</c:v>
                </c:pt>
                <c:pt idx="66">
                  <c:v>2023-07</c:v>
                </c:pt>
                <c:pt idx="72">
                  <c:v>2024-01</c:v>
                </c:pt>
                <c:pt idx="78">
                  <c:v>2024-07</c:v>
                </c:pt>
                <c:pt idx="84">
                  <c:v>2025-01</c:v>
                </c:pt>
                <c:pt idx="90">
                  <c:v>2025-07</c:v>
                </c:pt>
              </c:strCache>
            </c:strRef>
          </c:cat>
          <c:val>
            <c:numRef>
              <c:f>Sheet1!$B$2:$B$97</c:f>
              <c:numCache>
                <c:formatCode>General</c:formatCode>
                <c:ptCount val="96"/>
                <c:pt idx="0">
                  <c:v>17.208632977196746</c:v>
                </c:pt>
                <c:pt idx="1">
                  <c:v>16.681559000456247</c:v>
                </c:pt>
                <c:pt idx="2">
                  <c:v>14.730748675666261</c:v>
                </c:pt>
                <c:pt idx="3">
                  <c:v>11.67708260187721</c:v>
                </c:pt>
                <c:pt idx="4">
                  <c:v>17.068593487083049</c:v>
                </c:pt>
                <c:pt idx="5">
                  <c:v>19.078266073630303</c:v>
                </c:pt>
                <c:pt idx="6">
                  <c:v>10.485545978866085</c:v>
                </c:pt>
                <c:pt idx="7">
                  <c:v>17.602510287214912</c:v>
                </c:pt>
                <c:pt idx="8">
                  <c:v>14.364355026689623</c:v>
                </c:pt>
                <c:pt idx="9">
                  <c:v>22.040880345585535</c:v>
                </c:pt>
                <c:pt idx="10">
                  <c:v>21.829292464906793</c:v>
                </c:pt>
                <c:pt idx="11">
                  <c:v>6.3848391364421886</c:v>
                </c:pt>
                <c:pt idx="12">
                  <c:v>14.157129298023907</c:v>
                </c:pt>
                <c:pt idx="13">
                  <c:v>18.938014550787386</c:v>
                </c:pt>
                <c:pt idx="14">
                  <c:v>19.267997559158822</c:v>
                </c:pt>
                <c:pt idx="15">
                  <c:v>20.628020741200292</c:v>
                </c:pt>
                <c:pt idx="16">
                  <c:v>22.778690908598985</c:v>
                </c:pt>
                <c:pt idx="17">
                  <c:v>30.092372706305849</c:v>
                </c:pt>
                <c:pt idx="18">
                  <c:v>33.628903672568789</c:v>
                </c:pt>
                <c:pt idx="19">
                  <c:v>23.791166524852979</c:v>
                </c:pt>
                <c:pt idx="20">
                  <c:v>31.234347095560654</c:v>
                </c:pt>
                <c:pt idx="21">
                  <c:v>15.750457405506712</c:v>
                </c:pt>
                <c:pt idx="22">
                  <c:v>9.429403473687481</c:v>
                </c:pt>
                <c:pt idx="23">
                  <c:v>41.97375803369512</c:v>
                </c:pt>
                <c:pt idx="24">
                  <c:v>21.410146485419435</c:v>
                </c:pt>
                <c:pt idx="25">
                  <c:v>29.616823341125432</c:v>
                </c:pt>
                <c:pt idx="26">
                  <c:v>53.214069521082166</c:v>
                </c:pt>
                <c:pt idx="27">
                  <c:v>132.84017157280087</c:v>
                </c:pt>
                <c:pt idx="28">
                  <c:v>124.43900028481755</c:v>
                </c:pt>
                <c:pt idx="29">
                  <c:v>80.679097934156346</c:v>
                </c:pt>
                <c:pt idx="30">
                  <c:v>73.149273201084512</c:v>
                </c:pt>
                <c:pt idx="31">
                  <c:v>74.646520548806876</c:v>
                </c:pt>
                <c:pt idx="32">
                  <c:v>72.200799793056319</c:v>
                </c:pt>
                <c:pt idx="33">
                  <c:v>75.07768369205337</c:v>
                </c:pt>
                <c:pt idx="34">
                  <c:v>77.295270564318173</c:v>
                </c:pt>
                <c:pt idx="35">
                  <c:v>78.31830941415221</c:v>
                </c:pt>
                <c:pt idx="36">
                  <c:v>121.24993156854842</c:v>
                </c:pt>
                <c:pt idx="37">
                  <c:v>97.649173566607288</c:v>
                </c:pt>
                <c:pt idx="38">
                  <c:v>63.460256302618376</c:v>
                </c:pt>
                <c:pt idx="39">
                  <c:v>7.0376949100939168</c:v>
                </c:pt>
                <c:pt idx="40">
                  <c:v>3.7532308462669528</c:v>
                </c:pt>
                <c:pt idx="41">
                  <c:v>12.538443519197195</c:v>
                </c:pt>
                <c:pt idx="42">
                  <c:v>-2.0884645298702709</c:v>
                </c:pt>
                <c:pt idx="43">
                  <c:v>-1.3148657468309066</c:v>
                </c:pt>
                <c:pt idx="44">
                  <c:v>2.2940075180015285</c:v>
                </c:pt>
                <c:pt idx="45">
                  <c:v>4.5425612062683474</c:v>
                </c:pt>
                <c:pt idx="46">
                  <c:v>2.1205158584455264</c:v>
                </c:pt>
                <c:pt idx="47">
                  <c:v>-7.2959560016115592</c:v>
                </c:pt>
                <c:pt idx="48">
                  <c:v>-20.848021086931634</c:v>
                </c:pt>
                <c:pt idx="49">
                  <c:v>-23.843843746279735</c:v>
                </c:pt>
                <c:pt idx="50">
                  <c:v>-23.770466657215305</c:v>
                </c:pt>
                <c:pt idx="51">
                  <c:v>-21.469730320618407</c:v>
                </c:pt>
                <c:pt idx="52">
                  <c:v>-13.875384825394022</c:v>
                </c:pt>
                <c:pt idx="53">
                  <c:v>-4.1200315335815247</c:v>
                </c:pt>
                <c:pt idx="54">
                  <c:v>3.5253471681981008</c:v>
                </c:pt>
                <c:pt idx="55">
                  <c:v>12.038908733008547</c:v>
                </c:pt>
                <c:pt idx="56">
                  <c:v>4.4980682239917247</c:v>
                </c:pt>
                <c:pt idx="57">
                  <c:v>-1.3965392361357853</c:v>
                </c:pt>
                <c:pt idx="58">
                  <c:v>0.50333900835970447</c:v>
                </c:pt>
                <c:pt idx="59">
                  <c:v>-1.0262152417372938E-2</c:v>
                </c:pt>
                <c:pt idx="60">
                  <c:v>-0.47854681369497998</c:v>
                </c:pt>
                <c:pt idx="61">
                  <c:v>14.851179221494725</c:v>
                </c:pt>
                <c:pt idx="62">
                  <c:v>18.793603928839175</c:v>
                </c:pt>
                <c:pt idx="63">
                  <c:v>5.5705882457383282</c:v>
                </c:pt>
                <c:pt idx="64">
                  <c:v>2.5389406045902341</c:v>
                </c:pt>
                <c:pt idx="65">
                  <c:v>0.19689067833779106</c:v>
                </c:pt>
                <c:pt idx="66">
                  <c:v>6.2340846289463014</c:v>
                </c:pt>
                <c:pt idx="67">
                  <c:v>0.32979345220502942</c:v>
                </c:pt>
                <c:pt idx="68">
                  <c:v>5.5311618100025495</c:v>
                </c:pt>
                <c:pt idx="69">
                  <c:v>8.9300764212817398</c:v>
                </c:pt>
                <c:pt idx="70">
                  <c:v>9.5358871004348487</c:v>
                </c:pt>
                <c:pt idx="71">
                  <c:v>6.681729170765327</c:v>
                </c:pt>
                <c:pt idx="72">
                  <c:v>29.295170475556542</c:v>
                </c:pt>
                <c:pt idx="73">
                  <c:v>22.727781654360356</c:v>
                </c:pt>
                <c:pt idx="74">
                  <c:v>21.087976199397794</c:v>
                </c:pt>
                <c:pt idx="75">
                  <c:v>31.706249865103466</c:v>
                </c:pt>
                <c:pt idx="76">
                  <c:v>22.699984247935355</c:v>
                </c:pt>
                <c:pt idx="77">
                  <c:v>20.04579306917109</c:v>
                </c:pt>
                <c:pt idx="78">
                  <c:v>31.538258645494754</c:v>
                </c:pt>
                <c:pt idx="79">
                  <c:v>24.101436460558666</c:v>
                </c:pt>
                <c:pt idx="80">
                  <c:v>28.686857381797882</c:v>
                </c:pt>
                <c:pt idx="81">
                  <c:v>31.910449103690919</c:v>
                </c:pt>
                <c:pt idx="82">
                  <c:v>30.840962704573684</c:v>
                </c:pt>
                <c:pt idx="83">
                  <c:v>39.010047388034707</c:v>
                </c:pt>
                <c:pt idx="84">
                  <c:v>9.9873714563109459</c:v>
                </c:pt>
                <c:pt idx="85">
                  <c:v>7.0360654915498033</c:v>
                </c:pt>
                <c:pt idx="86">
                  <c:v>2.6669772477457832</c:v>
                </c:pt>
                <c:pt idx="87">
                  <c:v>7.3414795841815206</c:v>
                </c:pt>
                <c:pt idx="88">
                  <c:v>6.4114463148871925</c:v>
                </c:pt>
                <c:pt idx="89">
                  <c:v>4.0094621884437576</c:v>
                </c:pt>
                <c:pt idx="90">
                  <c:v>4.9995776921819557</c:v>
                </c:pt>
                <c:pt idx="91">
                  <c:v>3.3872078479957102</c:v>
                </c:pt>
                <c:pt idx="92">
                  <c:v>-2.7831513888679216</c:v>
                </c:pt>
                <c:pt idx="93">
                  <c:v>-2.2672360905594102</c:v>
                </c:pt>
                <c:pt idx="94">
                  <c:v>-4.4499171765928107</c:v>
                </c:pt>
                <c:pt idx="95">
                  <c:v>0.20034186813884247</c:v>
                </c:pt>
              </c:numCache>
            </c:numRef>
          </c:val>
          <c:smooth val="0"/>
          <c:extLst>
            <c:ext xmlns:c16="http://schemas.microsoft.com/office/drawing/2014/chart" uri="{C3380CC4-5D6E-409C-BE32-E72D297353CC}">
              <c16:uniqueId val="{00000000-9BF1-4184-9F14-2DC53E35D70E}"/>
            </c:ext>
          </c:extLst>
        </c:ser>
        <c:ser>
          <c:idx val="1"/>
          <c:order val="1"/>
          <c:tx>
            <c:strRef>
              <c:f>Sheet1!$C$1</c:f>
              <c:strCache>
                <c:ptCount val="1"/>
                <c:pt idx="0">
                  <c:v>CPI YoY inflation</c:v>
                </c:pt>
              </c:strCache>
            </c:strRef>
          </c:tx>
          <c:spPr>
            <a:ln w="25400" cap="flat">
              <a:solidFill>
                <a:srgbClr val="C94A4A"/>
              </a:solidFill>
              <a:prstDash val="solid"/>
              <a:round/>
            </a:ln>
            <a:effectLst/>
          </c:spPr>
          <c:marker>
            <c:symbol val="circle"/>
            <c:size val="6"/>
            <c:spPr>
              <a:solidFill>
                <a:srgbClr val="C94A4A"/>
              </a:solidFill>
              <a:ln w="9525" cap="flat">
                <a:solidFill>
                  <a:srgbClr val="C94A4A"/>
                </a:solidFill>
                <a:prstDash val="solid"/>
                <a:round/>
              </a:ln>
              <a:effectLst/>
            </c:spPr>
          </c:marker>
          <c:cat>
            <c:strRef>
              <c:f>Sheet1!$A$2:$A$97</c:f>
              <c:strCache>
                <c:ptCount val="96"/>
                <c:pt idx="0">
                  <c:v>2018-01</c:v>
                </c:pt>
                <c:pt idx="6">
                  <c:v>2018-07</c:v>
                </c:pt>
                <c:pt idx="12">
                  <c:v>2019-01</c:v>
                </c:pt>
                <c:pt idx="18">
                  <c:v>2019-07</c:v>
                </c:pt>
                <c:pt idx="24">
                  <c:v>2020-01</c:v>
                </c:pt>
                <c:pt idx="30">
                  <c:v>2020-07</c:v>
                </c:pt>
                <c:pt idx="36">
                  <c:v>2021-01</c:v>
                </c:pt>
                <c:pt idx="42">
                  <c:v>2021-07</c:v>
                </c:pt>
                <c:pt idx="48">
                  <c:v>2022-01</c:v>
                </c:pt>
                <c:pt idx="54">
                  <c:v>2022-07</c:v>
                </c:pt>
                <c:pt idx="60">
                  <c:v>2023-01</c:v>
                </c:pt>
                <c:pt idx="66">
                  <c:v>2023-07</c:v>
                </c:pt>
                <c:pt idx="72">
                  <c:v>2024-01</c:v>
                </c:pt>
                <c:pt idx="78">
                  <c:v>2024-07</c:v>
                </c:pt>
                <c:pt idx="84">
                  <c:v>2025-01</c:v>
                </c:pt>
                <c:pt idx="90">
                  <c:v>2025-07</c:v>
                </c:pt>
              </c:strCache>
            </c:strRef>
          </c:cat>
          <c:val>
            <c:numRef>
              <c:f>Sheet1!$C$2:$C$97</c:f>
              <c:numCache>
                <c:formatCode>General</c:formatCode>
                <c:ptCount val="96"/>
                <c:pt idx="0">
                  <c:v>1.7</c:v>
                </c:pt>
                <c:pt idx="1">
                  <c:v>2.2000000000000002</c:v>
                </c:pt>
                <c:pt idx="2">
                  <c:v>2.2999999999999998</c:v>
                </c:pt>
                <c:pt idx="3">
                  <c:v>2.2000000000000002</c:v>
                </c:pt>
                <c:pt idx="4">
                  <c:v>2.2000000000000002</c:v>
                </c:pt>
                <c:pt idx="5">
                  <c:v>2.5</c:v>
                </c:pt>
                <c:pt idx="6">
                  <c:v>3</c:v>
                </c:pt>
                <c:pt idx="7">
                  <c:v>2.8</c:v>
                </c:pt>
                <c:pt idx="8">
                  <c:v>2.2000000000000002</c:v>
                </c:pt>
                <c:pt idx="9">
                  <c:v>2.4</c:v>
                </c:pt>
                <c:pt idx="10">
                  <c:v>1.7</c:v>
                </c:pt>
                <c:pt idx="11">
                  <c:v>2</c:v>
                </c:pt>
                <c:pt idx="12">
                  <c:v>1.4</c:v>
                </c:pt>
                <c:pt idx="13">
                  <c:v>1.5</c:v>
                </c:pt>
                <c:pt idx="14">
                  <c:v>1.9</c:v>
                </c:pt>
                <c:pt idx="15">
                  <c:v>2</c:v>
                </c:pt>
                <c:pt idx="16">
                  <c:v>2.4</c:v>
                </c:pt>
                <c:pt idx="17">
                  <c:v>2</c:v>
                </c:pt>
                <c:pt idx="18">
                  <c:v>2</c:v>
                </c:pt>
                <c:pt idx="19">
                  <c:v>1.9</c:v>
                </c:pt>
                <c:pt idx="20">
                  <c:v>1.9</c:v>
                </c:pt>
                <c:pt idx="21">
                  <c:v>1.9</c:v>
                </c:pt>
                <c:pt idx="22">
                  <c:v>2.2000000000000002</c:v>
                </c:pt>
                <c:pt idx="23">
                  <c:v>2.2000000000000002</c:v>
                </c:pt>
                <c:pt idx="24">
                  <c:v>2.4</c:v>
                </c:pt>
                <c:pt idx="25">
                  <c:v>2.2000000000000002</c:v>
                </c:pt>
                <c:pt idx="26">
                  <c:v>0.9</c:v>
                </c:pt>
                <c:pt idx="27">
                  <c:v>-0.2</c:v>
                </c:pt>
                <c:pt idx="28">
                  <c:v>-0.4</c:v>
                </c:pt>
                <c:pt idx="29">
                  <c:v>0.7</c:v>
                </c:pt>
                <c:pt idx="30">
                  <c:v>0.1</c:v>
                </c:pt>
                <c:pt idx="31">
                  <c:v>0.1</c:v>
                </c:pt>
                <c:pt idx="32">
                  <c:v>0.5</c:v>
                </c:pt>
                <c:pt idx="33">
                  <c:v>0.7</c:v>
                </c:pt>
                <c:pt idx="34">
                  <c:v>1</c:v>
                </c:pt>
                <c:pt idx="35">
                  <c:v>0.7</c:v>
                </c:pt>
                <c:pt idx="36">
                  <c:v>1</c:v>
                </c:pt>
                <c:pt idx="37">
                  <c:v>1.1000000000000001</c:v>
                </c:pt>
                <c:pt idx="38">
                  <c:v>2.2000000000000002</c:v>
                </c:pt>
                <c:pt idx="39">
                  <c:v>3.4</c:v>
                </c:pt>
                <c:pt idx="40">
                  <c:v>3.6</c:v>
                </c:pt>
                <c:pt idx="41">
                  <c:v>3.1</c:v>
                </c:pt>
                <c:pt idx="42">
                  <c:v>3.7</c:v>
                </c:pt>
                <c:pt idx="43">
                  <c:v>4.0999999999999996</c:v>
                </c:pt>
                <c:pt idx="44">
                  <c:v>4.4000000000000004</c:v>
                </c:pt>
                <c:pt idx="45">
                  <c:v>4.7</c:v>
                </c:pt>
                <c:pt idx="46">
                  <c:v>4.7</c:v>
                </c:pt>
                <c:pt idx="47">
                  <c:v>4.8</c:v>
                </c:pt>
                <c:pt idx="48">
                  <c:v>5.0999999999999996</c:v>
                </c:pt>
                <c:pt idx="49">
                  <c:v>5.7</c:v>
                </c:pt>
                <c:pt idx="50">
                  <c:v>6.7</c:v>
                </c:pt>
                <c:pt idx="51">
                  <c:v>6.8</c:v>
                </c:pt>
                <c:pt idx="52">
                  <c:v>7.7</c:v>
                </c:pt>
                <c:pt idx="53">
                  <c:v>8.1</c:v>
                </c:pt>
                <c:pt idx="54">
                  <c:v>7.6</c:v>
                </c:pt>
                <c:pt idx="55">
                  <c:v>7</c:v>
                </c:pt>
                <c:pt idx="56">
                  <c:v>6.9</c:v>
                </c:pt>
                <c:pt idx="57">
                  <c:v>6.9</c:v>
                </c:pt>
                <c:pt idx="58">
                  <c:v>6.8</c:v>
                </c:pt>
                <c:pt idx="59">
                  <c:v>6.3</c:v>
                </c:pt>
                <c:pt idx="60">
                  <c:v>5.9</c:v>
                </c:pt>
                <c:pt idx="61">
                  <c:v>5.2</c:v>
                </c:pt>
                <c:pt idx="62">
                  <c:v>4.3</c:v>
                </c:pt>
                <c:pt idx="63">
                  <c:v>4.4000000000000004</c:v>
                </c:pt>
                <c:pt idx="64">
                  <c:v>3.4</c:v>
                </c:pt>
                <c:pt idx="65">
                  <c:v>2.8</c:v>
                </c:pt>
                <c:pt idx="66">
                  <c:v>3.3</c:v>
                </c:pt>
                <c:pt idx="67">
                  <c:v>4</c:v>
                </c:pt>
                <c:pt idx="68">
                  <c:v>3.8</c:v>
                </c:pt>
                <c:pt idx="69">
                  <c:v>3.1</c:v>
                </c:pt>
                <c:pt idx="70">
                  <c:v>3.1</c:v>
                </c:pt>
                <c:pt idx="71">
                  <c:v>3.4</c:v>
                </c:pt>
                <c:pt idx="72">
                  <c:v>2.9</c:v>
                </c:pt>
                <c:pt idx="73">
                  <c:v>2.8</c:v>
                </c:pt>
                <c:pt idx="74">
                  <c:v>2.9</c:v>
                </c:pt>
                <c:pt idx="75">
                  <c:v>2.7</c:v>
                </c:pt>
                <c:pt idx="76">
                  <c:v>2.9</c:v>
                </c:pt>
                <c:pt idx="77">
                  <c:v>2.7</c:v>
                </c:pt>
                <c:pt idx="78">
                  <c:v>2.5</c:v>
                </c:pt>
                <c:pt idx="79">
                  <c:v>2</c:v>
                </c:pt>
                <c:pt idx="80">
                  <c:v>1.6</c:v>
                </c:pt>
                <c:pt idx="81">
                  <c:v>2</c:v>
                </c:pt>
                <c:pt idx="82">
                  <c:v>1.9</c:v>
                </c:pt>
                <c:pt idx="83">
                  <c:v>1.8</c:v>
                </c:pt>
                <c:pt idx="84">
                  <c:v>1.9</c:v>
                </c:pt>
                <c:pt idx="85">
                  <c:v>2.6</c:v>
                </c:pt>
                <c:pt idx="86">
                  <c:v>2.2999999999999998</c:v>
                </c:pt>
                <c:pt idx="87">
                  <c:v>1.7</c:v>
                </c:pt>
                <c:pt idx="88">
                  <c:v>1.7</c:v>
                </c:pt>
                <c:pt idx="89">
                  <c:v>1.9</c:v>
                </c:pt>
                <c:pt idx="90">
                  <c:v>1.7</c:v>
                </c:pt>
                <c:pt idx="91">
                  <c:v>1.9</c:v>
                </c:pt>
                <c:pt idx="92">
                  <c:v>2.4</c:v>
                </c:pt>
                <c:pt idx="93">
                  <c:v>2.2000000000000002</c:v>
                </c:pt>
                <c:pt idx="94">
                  <c:v>2.2000000000000002</c:v>
                </c:pt>
                <c:pt idx="95">
                  <c:v>2.4</c:v>
                </c:pt>
              </c:numCache>
            </c:numRef>
          </c:val>
          <c:smooth val="0"/>
          <c:extLst>
            <c:ext xmlns:c16="http://schemas.microsoft.com/office/drawing/2014/chart" uri="{C3380CC4-5D6E-409C-BE32-E72D297353CC}">
              <c16:uniqueId val="{00000001-9BF1-4184-9F14-2DC53E35D70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20"/>
          <c:min val="-30"/>
        </c:scaling>
        <c:delete val="0"/>
        <c:axPos val="l"/>
        <c:majorGridlines>
          <c:spPr>
            <a:ln w="12700" cap="flat">
              <a:solidFill>
                <a:srgbClr val="E6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w="12700" cap="flat">
          <a:solidFill>
            <a:srgbClr val="DCE3E8"/>
          </a:solidFill>
        </a:ln>
        <a:effectLst/>
      </c:spPr>
    </c:plotArea>
    <c:legend>
      <c:legendPos val="b"/>
      <c:overlay val="0"/>
      <c:txPr>
        <a:bodyPr/>
        <a:lstStyle/>
        <a:p>
          <a:pPr>
            <a:defRPr sz="850"/>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E-commerce sales per capita</c:v>
                </c:pt>
              </c:strCache>
            </c:strRef>
          </c:tx>
          <c:spPr>
            <a:ln w="27940" cap="flat">
              <a:solidFill>
                <a:srgbClr val="2B6F9F"/>
              </a:solidFill>
              <a:prstDash val="solid"/>
              <a:round/>
            </a:ln>
            <a:effectLst/>
          </c:spPr>
          <c:marker>
            <c:symbol val="circle"/>
            <c:size val="6"/>
            <c:spPr>
              <a:solidFill>
                <a:srgbClr val="2B6F9F"/>
              </a:solidFill>
              <a:ln w="9525" cap="flat">
                <a:solidFill>
                  <a:srgbClr val="2B6F9F"/>
                </a:solidFill>
                <a:prstDash val="solid"/>
                <a:round/>
              </a:ln>
              <a:effectLst/>
            </c:spPr>
          </c:marker>
          <c:cat>
            <c:strRef>
              <c:f>Sheet1!$A$2:$A$10</c:f>
              <c:strCache>
                <c:ptCount val="9"/>
                <c:pt idx="0">
                  <c:v>2017</c:v>
                </c:pt>
                <c:pt idx="1">
                  <c:v>2018</c:v>
                </c:pt>
                <c:pt idx="2">
                  <c:v>2019</c:v>
                </c:pt>
                <c:pt idx="3">
                  <c:v>2020</c:v>
                </c:pt>
                <c:pt idx="4">
                  <c:v>2021</c:v>
                </c:pt>
                <c:pt idx="5">
                  <c:v>2022</c:v>
                </c:pt>
                <c:pt idx="6">
                  <c:v>2023</c:v>
                </c:pt>
                <c:pt idx="7">
                  <c:v>2024</c:v>
                </c:pt>
                <c:pt idx="8">
                  <c:v>2025</c:v>
                </c:pt>
              </c:strCache>
            </c:strRef>
          </c:cat>
          <c:val>
            <c:numRef>
              <c:f>Sheet1!$B$2:$B$10</c:f>
              <c:numCache>
                <c:formatCode>General</c:formatCode>
                <c:ptCount val="9"/>
                <c:pt idx="0">
                  <c:v>100</c:v>
                </c:pt>
                <c:pt idx="1">
                  <c:v>114.139386357794</c:v>
                </c:pt>
                <c:pt idx="2">
                  <c:v>138.60983110388366</c:v>
                </c:pt>
                <c:pt idx="3">
                  <c:v>239.94035530471746</c:v>
                </c:pt>
                <c:pt idx="4">
                  <c:v>281.30620811780074</c:v>
                </c:pt>
                <c:pt idx="5">
                  <c:v>252.36938382842825</c:v>
                </c:pt>
                <c:pt idx="6">
                  <c:v>261.00390993090798</c:v>
                </c:pt>
                <c:pt idx="7">
                  <c:v>323.55099152300954</c:v>
                </c:pt>
                <c:pt idx="8">
                  <c:v>329.8138997257426</c:v>
                </c:pt>
              </c:numCache>
            </c:numRef>
          </c:val>
          <c:smooth val="0"/>
          <c:extLst>
            <c:ext xmlns:c16="http://schemas.microsoft.com/office/drawing/2014/chart" uri="{C3380CC4-5D6E-409C-BE32-E72D297353CC}">
              <c16:uniqueId val="{00000000-A7C1-40D5-A801-D7CB959BD00C}"/>
            </c:ext>
          </c:extLst>
        </c:ser>
        <c:ser>
          <c:idx val="1"/>
          <c:order val="1"/>
          <c:tx>
            <c:strRef>
              <c:f>Sheet1!$C$1</c:f>
              <c:strCache>
                <c:ptCount val="1"/>
                <c:pt idx="0">
                  <c:v>Population</c:v>
                </c:pt>
              </c:strCache>
            </c:strRef>
          </c:tx>
          <c:spPr>
            <a:ln w="27940" cap="flat">
              <a:solidFill>
                <a:srgbClr val="0B7A75"/>
              </a:solidFill>
              <a:prstDash val="solid"/>
              <a:round/>
            </a:ln>
            <a:effectLst/>
          </c:spPr>
          <c:marker>
            <c:symbol val="circle"/>
            <c:size val="6"/>
            <c:spPr>
              <a:solidFill>
                <a:srgbClr val="0B7A75"/>
              </a:solidFill>
              <a:ln w="9525" cap="flat">
                <a:solidFill>
                  <a:srgbClr val="0B7A75"/>
                </a:solidFill>
                <a:prstDash val="solid"/>
                <a:round/>
              </a:ln>
              <a:effectLst/>
            </c:spPr>
          </c:marker>
          <c:cat>
            <c:strRef>
              <c:f>Sheet1!$A$2:$A$10</c:f>
              <c:strCache>
                <c:ptCount val="9"/>
                <c:pt idx="0">
                  <c:v>2017</c:v>
                </c:pt>
                <c:pt idx="1">
                  <c:v>2018</c:v>
                </c:pt>
                <c:pt idx="2">
                  <c:v>2019</c:v>
                </c:pt>
                <c:pt idx="3">
                  <c:v>2020</c:v>
                </c:pt>
                <c:pt idx="4">
                  <c:v>2021</c:v>
                </c:pt>
                <c:pt idx="5">
                  <c:v>2022</c:v>
                </c:pt>
                <c:pt idx="6">
                  <c:v>2023</c:v>
                </c:pt>
                <c:pt idx="7">
                  <c:v>2024</c:v>
                </c:pt>
                <c:pt idx="8">
                  <c:v>2025</c:v>
                </c:pt>
              </c:strCache>
            </c:strRef>
          </c:cat>
          <c:val>
            <c:numRef>
              <c:f>Sheet1!$C$2:$C$10</c:f>
              <c:numCache>
                <c:formatCode>General</c:formatCode>
                <c:ptCount val="9"/>
                <c:pt idx="0">
                  <c:v>100</c:v>
                </c:pt>
                <c:pt idx="1">
                  <c:v>101.44354608657939</c:v>
                </c:pt>
                <c:pt idx="2">
                  <c:v>102.93724941048829</c:v>
                </c:pt>
                <c:pt idx="3">
                  <c:v>104.05954290694437</c:v>
                </c:pt>
                <c:pt idx="4">
                  <c:v>104.63753050171603</c:v>
                </c:pt>
                <c:pt idx="5">
                  <c:v>106.58107008947171</c:v>
                </c:pt>
                <c:pt idx="6">
                  <c:v>109.58819485252116</c:v>
                </c:pt>
                <c:pt idx="7">
                  <c:v>112.90804301263577</c:v>
                </c:pt>
                <c:pt idx="8">
                  <c:v>113.97336850451123</c:v>
                </c:pt>
              </c:numCache>
            </c:numRef>
          </c:val>
          <c:smooth val="0"/>
          <c:extLst>
            <c:ext xmlns:c16="http://schemas.microsoft.com/office/drawing/2014/chart" uri="{C3380CC4-5D6E-409C-BE32-E72D297353CC}">
              <c16:uniqueId val="{00000001-A7C1-40D5-A801-D7CB959BD00C}"/>
            </c:ext>
          </c:extLst>
        </c:ser>
        <c:ser>
          <c:idx val="2"/>
          <c:order val="2"/>
          <c:tx>
            <c:strRef>
              <c:f>Sheet1!$D$1</c:f>
              <c:strCache>
                <c:ptCount val="1"/>
                <c:pt idx="0">
                  <c:v>Internet users</c:v>
                </c:pt>
              </c:strCache>
            </c:strRef>
          </c:tx>
          <c:spPr>
            <a:ln w="27940" cap="flat">
              <a:solidFill>
                <a:srgbClr val="6554C0"/>
              </a:solidFill>
              <a:prstDash val="solid"/>
              <a:round/>
            </a:ln>
            <a:effectLst/>
          </c:spPr>
          <c:marker>
            <c:symbol val="circle"/>
            <c:size val="6"/>
            <c:spPr>
              <a:solidFill>
                <a:srgbClr val="6554C0"/>
              </a:solidFill>
              <a:ln w="9525" cap="flat">
                <a:solidFill>
                  <a:srgbClr val="6554C0"/>
                </a:solidFill>
                <a:prstDash val="solid"/>
                <a:round/>
              </a:ln>
              <a:effectLst/>
            </c:spPr>
          </c:marker>
          <c:cat>
            <c:strRef>
              <c:f>Sheet1!$A$2:$A$10</c:f>
              <c:strCache>
                <c:ptCount val="9"/>
                <c:pt idx="0">
                  <c:v>2017</c:v>
                </c:pt>
                <c:pt idx="1">
                  <c:v>2018</c:v>
                </c:pt>
                <c:pt idx="2">
                  <c:v>2019</c:v>
                </c:pt>
                <c:pt idx="3">
                  <c:v>2020</c:v>
                </c:pt>
                <c:pt idx="4">
                  <c:v>2021</c:v>
                </c:pt>
                <c:pt idx="5">
                  <c:v>2022</c:v>
                </c:pt>
                <c:pt idx="6">
                  <c:v>2023</c:v>
                </c:pt>
                <c:pt idx="7">
                  <c:v>2024</c:v>
                </c:pt>
                <c:pt idx="8">
                  <c:v>2025</c:v>
                </c:pt>
              </c:strCache>
            </c:strRef>
          </c:cat>
          <c:val>
            <c:numRef>
              <c:f>Sheet1!$D$2:$D$10</c:f>
              <c:numCache>
                <c:formatCode>General</c:formatCode>
                <c:ptCount val="9"/>
                <c:pt idx="0">
                  <c:v>100</c:v>
                </c:pt>
                <c:pt idx="1">
                  <c:v>102.09123055315237</c:v>
                </c:pt>
                <c:pt idx="2">
                  <c:v>99.149419534117058</c:v>
                </c:pt>
                <c:pt idx="3">
                  <c:v>99.566996830684317</c:v>
                </c:pt>
                <c:pt idx="4">
                  <c:v>101.33298957728793</c:v>
                </c:pt>
                <c:pt idx="5">
                  <c:v>101.40084184273377</c:v>
                </c:pt>
                <c:pt idx="6">
                  <c:v>101.55758165464599</c:v>
                </c:pt>
                <c:pt idx="7">
                  <c:v>101.78195798553205</c:v>
                </c:pt>
                <c:pt idx="8">
                  <c:v>101.78195798553205</c:v>
                </c:pt>
              </c:numCache>
            </c:numRef>
          </c:val>
          <c:smooth val="0"/>
          <c:extLst>
            <c:ext xmlns:c16="http://schemas.microsoft.com/office/drawing/2014/chart" uri="{C3380CC4-5D6E-409C-BE32-E72D297353CC}">
              <c16:uniqueId val="{00000002-A7C1-40D5-A801-D7CB959BD00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340"/>
          <c:min val="90"/>
        </c:scaling>
        <c:delete val="0"/>
        <c:axPos val="l"/>
        <c:majorGridlines>
          <c:spPr>
            <a:ln w="12700" cap="flat">
              <a:solidFill>
                <a:srgbClr val="E6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w="12700" cap="flat">
          <a:solidFill>
            <a:srgbClr val="DCE3E8"/>
          </a:solidFill>
        </a:ln>
        <a:effectLst/>
      </c:spPr>
    </c:plotArea>
    <c:legend>
      <c:legendPos val="b"/>
      <c:overlay val="0"/>
      <c:txPr>
        <a:bodyPr/>
        <a:lstStyle/>
        <a:p>
          <a:pPr>
            <a:defRPr sz="85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FAE34E-4136-463C-B5A4-A0330DB86381}" type="datetimeFigureOut">
              <a:rPr lang="LID4096" smtClean="0"/>
              <a:t>09/13/2026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BCD884-3596-4921-902F-3BD64A3732EC}" type="slidenum">
              <a:rPr lang="LID4096" smtClean="0"/>
              <a:t>‹#›</a:t>
            </a:fld>
            <a:endParaRPr lang="LID4096"/>
          </a:p>
        </p:txBody>
      </p:sp>
    </p:spTree>
    <p:extLst>
      <p:ext uri="{BB962C8B-B14F-4D97-AF65-F5344CB8AC3E}">
        <p14:creationId xmlns:p14="http://schemas.microsoft.com/office/powerpoint/2010/main" val="3525508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examine how external Economic, Social and Technological factors shaped Canadian retail e-commerce between 2017 and 2025. The headline is not simply that e-commerce grew. Annual sales reached about 59.2 billion dollars in 2025, nearly four times the 2017 level. The deeper finding is that the basis of growth changed: pandemic acceleration gave way to inflation pressure, normalization and a more mature digital market. Our presentation connects those patterns directly to strategic decisions.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findings can be summarized in three moves. First, this is a genuine structural expansion: annual sales rose by about 276 percent across the study period. Second, the pandemic created a regime shift rather than a normal growth year. Growth reached roughly 75 percent in 2020 and later reversed in 2022. Third, by 2024 and 2025 the market looked more mature. Digital access was already high, so the strategic question shifted from getting consumers online to converting, retaining and serving them more effectively.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design is deliberately frequency-aware. The economic variables are monthly, while the social and technological indicators are annual. We did not treat an annual population value repeated twelve times as twelve independent observations. We also did not automatically remove outliers, because the pandemic and the 2022 inflation spike are precisely the external shocks PESTEL analysis should explain. Finally, we emphasized growth rates rather than only raw levels, and used robust statistical methods where normality, equal variance or serial independence were not satisfied.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sector trend is clear. Annual sales increased from about 15.8 billion dollars in 2017 to 59.2 billion in 2025, which is roughly a 276 percent increase and an 18 percent compound annual growth rate. But the path matters. Growth surged to about 75 percent in 2020, fell negative in 2022, recovered strongly in 2024, and then slowed to about 2.9 percent in 2025. So the correct planning message is structural expansion with substantial regime variation — not a smooth exponential growth story.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the sample into four regimes reveals the main environmental pattern. Average year-over-year e-commerce growth was about 19.6 percent before the pandemic, nearly 50 percent during the pandemic acceleration, roughly negative 0.4 percent during the 2022 to 2023 inflation and normalization phase, and about 15.4 percent in the recent period. The Kruskal-Wallis test is statistically significant, so these differences are not just visual noise. The practical point is that 2022 to 2023 was a materially weaker environment, while 2024 to 2025 looks much closer to normalized growth.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Inflation is the clearest short-run risk signal in the bivariate analysis. Across the full sample, the Spearman correlation between CPI inflation and e-commerce year-over-year growth is about negative 0.705, with a p-value below .001. The negative pattern also remains when the pandemic years are excluded. But we do not stop there. In the multivariable model, inflation is no longer independently significant after persistence, household consumption growth and the pandemic regime are considered. So inflation is a valuable monitoring indicator, not a one-variable causal explanation.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avoid overinterpreting simple correlations, we estimated a supporting dynamic regression. Three results remain significant: the previous month's e-commerce growth, HFCE year-over-year growth, and the pandemic indicator. Inflation and consumer confidence do not remain independently significant once the dynamic terms are included. This is actually useful: it tells us that the economic environment is interacting rather than operating through one simple driver. We use HAC robust standard errors because diagnostics still showed heteroskedasticity and some serial dependence, so this remains explanatory evidence — not a forecasting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social and technology dimensions tell a structural story. Canada's population increased by about 14 percent and urban concentration rose, which expands the addressable market and can improve delivery density. But e-commerce sales per capita increased by about 230 percent — far faster than population. At the same time, internet and mobile access are already near saturation. So future growth is less about adding newly connected shoppers and more about conversion, retention, mobile experience, payment flexibility, personalization, delivery reliability and returns.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the three PESTEL dimensions together shows why a single-driver explanation is not enough. Inflation and changing confidence affect the quality of short-run demand. The pandemic created a permanent digital opportunity but also makes those growth rates a dangerous benchmark. Population and urbanization remain expansionary. Technology is enabling, but its saturation also signals maturity. The strategic value of PESTEL is therefore the interaction of these forces — not treating them as isolated indicators.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recommendations are deliberately grounded in the evidence. First, planning should use normalized post-pandemic growth rather than the 2020 surge. Second, retailers need an inflation-sensitive strategy that watches real growth, price sensitivity and margins. Third, consumer confidence is useful as an early warning signal but should be combined with other indicators. Fourth, technology investment should focus on experience and conversion because access is already mature. Fifth, demographic and urban growth should guide fulfillment capacity and market expansion.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designed as an ongoing decision monitor rather than a static reproduction of the report. Page one answers what happened. Page two explains the short-run economic environment. Page three shows the long-run social and technology structure. Page four translates the evidence into risks, opportunities and actions. We also use synchronized year filters, period filters, reset buttons and tooltip pages so the dashboard remains intuitive for non-technical users. In the final deck, these wireframes should be replaced with screenshots of the completed Power BI pages.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important limitations. The dataset mixes monthly and annual frequencies, some late-2025 values were imputed, and the annual sample is small. The pandemic also creates a structural break, so we do not claim that the observed associations prove causation. Even with those limitations, the strategic conclusion is strong: e-commerce is now a permanent capability in Canadian retail, but future success will depend more on economic resilience, value positioning, customer experience and fulfillment execution than on simply expanding basic digital access.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slide is for technical questions. The regime differences are statistically significant under Kruskal-Wallis. Inflation has the strongest full-period Spearman relationship with e-commerce growth. Consumer confidence shows a positive monotonic relationship but the pandemic weakens the simple linear Pearson relationship. HFCE growth is negative because the pandemic changed channel composition. The dynamic HAC model has an R-squared around .879, but we still frame it as supporting explanation rather than prediction or causal inference.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defence prompt rather than part of the main presentation. The most important answers are: we selected three dimensions because the assignment requires at least three and these had the strongest relevance and data coverage; annual indicators were not treated as monthly independent observations; genuine environmental shocks were retained; Spearman was emphasized because of non-normality and outliers; we do not claim inflation causes e-commerce changes; and we deliberately avoided machine learning because the assignment is explanatory and strategic rather than predictive.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84340-277E-A7F5-DF59-4026155666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20D548E7-3ECD-C99F-642E-D37461EB41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8487A86D-19C3-FACB-DB8C-16A473240DE2}"/>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5" name="Footer Placeholder 4">
            <a:extLst>
              <a:ext uri="{FF2B5EF4-FFF2-40B4-BE49-F238E27FC236}">
                <a16:creationId xmlns:a16="http://schemas.microsoft.com/office/drawing/2014/main" id="{4D20523C-D195-839A-BBFF-60484BCB871A}"/>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C13BC016-4428-3CF8-72EB-14243ABE9485}"/>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3591225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D6F7A-BE68-7F1F-AC38-06BDE7D3FB0A}"/>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2235CA23-4052-D579-5D77-B1B3C4DFB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54D232D1-12BC-3FBC-6A62-AFA8ADFF65C7}"/>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5" name="Footer Placeholder 4">
            <a:extLst>
              <a:ext uri="{FF2B5EF4-FFF2-40B4-BE49-F238E27FC236}">
                <a16:creationId xmlns:a16="http://schemas.microsoft.com/office/drawing/2014/main" id="{1FD0F6AF-6992-6C04-A8E7-4B7BC4FD4D05}"/>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897E7A4-0A57-0118-7130-830BCC27ED89}"/>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3703003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89B19-CAE3-B038-CF1D-532F583AE3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0AC1D992-B72B-F2AC-0096-22727C87FD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7EFDD9-6979-088E-AF34-BB1C58ED6345}"/>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5" name="Footer Placeholder 4">
            <a:extLst>
              <a:ext uri="{FF2B5EF4-FFF2-40B4-BE49-F238E27FC236}">
                <a16:creationId xmlns:a16="http://schemas.microsoft.com/office/drawing/2014/main" id="{97EE7751-7F62-78E6-6C15-38DDB10D8E13}"/>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39CE0C0A-4C94-08C1-FBD0-C0280B93D0E8}"/>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4266463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63245-4E25-70F1-979C-8785652FD2BA}"/>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EF7BF406-3C03-673F-B9AD-7BFAD18FD3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65AF83FD-BE5A-3BEC-DDAE-D9212648E9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65F0C4E3-51EB-CAAA-A198-DA819F85DDD5}"/>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6" name="Footer Placeholder 5">
            <a:extLst>
              <a:ext uri="{FF2B5EF4-FFF2-40B4-BE49-F238E27FC236}">
                <a16:creationId xmlns:a16="http://schemas.microsoft.com/office/drawing/2014/main" id="{EFC9B409-1BD8-E3AA-6B37-795F6A5F0E00}"/>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F6E626B0-24ED-FFEE-2CB3-FD44C49C117E}"/>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2140914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4FFC6-5898-A01F-F579-52AA08E4DD84}"/>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7867F110-982A-DA12-0A0B-6C4B317ABE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DEF36-2AF9-9E95-3181-7C77296B41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6A7F85AD-A4B4-7B2F-0D81-E4FDA10EDB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2FBFA7-75A0-95B7-BC5E-F86482B8A6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8886F79F-05FB-8409-B15C-C5ED0F32AD4D}"/>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8" name="Footer Placeholder 7">
            <a:extLst>
              <a:ext uri="{FF2B5EF4-FFF2-40B4-BE49-F238E27FC236}">
                <a16:creationId xmlns:a16="http://schemas.microsoft.com/office/drawing/2014/main" id="{79AE8310-6350-376B-6CCC-5E7469A05634}"/>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04105EE1-27DF-46CF-36AE-4AADACE4FF2D}"/>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2559968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B51E7-963C-B83E-132C-0D19AB7C1BEE}"/>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72256B15-E80E-B9C7-1A34-967BAD2070AD}"/>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4" name="Footer Placeholder 3">
            <a:extLst>
              <a:ext uri="{FF2B5EF4-FFF2-40B4-BE49-F238E27FC236}">
                <a16:creationId xmlns:a16="http://schemas.microsoft.com/office/drawing/2014/main" id="{EDE27461-1CDB-02EA-43C4-B979CF9981F7}"/>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FC34B302-1AC5-224B-AB05-CA14AAD6D0DF}"/>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828309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4597BA-0324-E578-646E-DD156B09DB7D}"/>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3" name="Footer Placeholder 2">
            <a:extLst>
              <a:ext uri="{FF2B5EF4-FFF2-40B4-BE49-F238E27FC236}">
                <a16:creationId xmlns:a16="http://schemas.microsoft.com/office/drawing/2014/main" id="{F43E1B01-8EC4-7957-4079-53BFA22CDCCF}"/>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16E2CD59-648F-29A3-14B1-A55E5B876053}"/>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2562830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8D58C-F788-C807-0CAB-1C23A7181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B08206E0-FDE5-D7B0-C357-0C08516E79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80FB47B0-9AF6-A6B3-4AF4-1B9BE69488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93D687-8FA9-3096-E523-83F7AFA72949}"/>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6" name="Footer Placeholder 5">
            <a:extLst>
              <a:ext uri="{FF2B5EF4-FFF2-40B4-BE49-F238E27FC236}">
                <a16:creationId xmlns:a16="http://schemas.microsoft.com/office/drawing/2014/main" id="{EFFE3996-E3AA-5CB7-5798-62C862305F63}"/>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113F6D4C-20BA-79D1-3C1B-997F731CE9E6}"/>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2293546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06528-0ABF-EB3F-AC4E-9E9A8C7920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A0831166-6E3F-EA1A-4265-B89B7E12A6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227410A4-332A-8781-F22C-350D0BC60D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B15E9C-FD91-25BF-225A-7CFDF3F180BB}"/>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6" name="Footer Placeholder 5">
            <a:extLst>
              <a:ext uri="{FF2B5EF4-FFF2-40B4-BE49-F238E27FC236}">
                <a16:creationId xmlns:a16="http://schemas.microsoft.com/office/drawing/2014/main" id="{AA53F8CF-5F70-EFE9-CE64-24053F17E545}"/>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45AAE243-B1E9-0649-DA6E-BE38A0CF3476}"/>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3704023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1B1E0-C155-59AC-4050-DC53806CC4FA}"/>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3A8DF214-023F-CF79-73FD-1895B8D2C2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D0122900-7595-9385-F4B3-20547CBA9320}"/>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5" name="Footer Placeholder 4">
            <a:extLst>
              <a:ext uri="{FF2B5EF4-FFF2-40B4-BE49-F238E27FC236}">
                <a16:creationId xmlns:a16="http://schemas.microsoft.com/office/drawing/2014/main" id="{BCF4B446-8D49-4EDE-0B24-E7ED055E1CA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894CB20-76A4-741F-3389-0B0B1EB87CD9}"/>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3062242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DC1ED3-EDDF-4956-D4CC-67A7E7872D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D800579C-D82D-6054-3BC4-D1463A568B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95ECF5D6-444D-F9C9-C9FE-3E6567BFC4D8}"/>
              </a:ext>
            </a:extLst>
          </p:cNvPr>
          <p:cNvSpPr>
            <a:spLocks noGrp="1"/>
          </p:cNvSpPr>
          <p:nvPr>
            <p:ph type="dt" sz="half" idx="10"/>
          </p:nvPr>
        </p:nvSpPr>
        <p:spPr/>
        <p:txBody>
          <a:bodyPr/>
          <a:lstStyle/>
          <a:p>
            <a:fld id="{2ABF19F6-0FAA-408D-B657-89BDE9E1B14C}" type="datetimeFigureOut">
              <a:rPr lang="LID4096" smtClean="0"/>
              <a:t>09/13/2026</a:t>
            </a:fld>
            <a:endParaRPr lang="LID4096"/>
          </a:p>
        </p:txBody>
      </p:sp>
      <p:sp>
        <p:nvSpPr>
          <p:cNvPr id="5" name="Footer Placeholder 4">
            <a:extLst>
              <a:ext uri="{FF2B5EF4-FFF2-40B4-BE49-F238E27FC236}">
                <a16:creationId xmlns:a16="http://schemas.microsoft.com/office/drawing/2014/main" id="{650A476F-22C8-4FF3-D8C8-79D22A8FFF3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0484183F-9AFA-D06A-047C-6EBCDBBC01D8}"/>
              </a:ext>
            </a:extLst>
          </p:cNvPr>
          <p:cNvSpPr>
            <a:spLocks noGrp="1"/>
          </p:cNvSpPr>
          <p:nvPr>
            <p:ph type="sldNum" sz="quarter" idx="12"/>
          </p:nvPr>
        </p:nvSpPr>
        <p:spPr/>
        <p:txBody>
          <a:bodyPr/>
          <a:lstStyle/>
          <a:p>
            <a:fld id="{2AC3E2ED-0399-49B8-809C-FF0E0097AF87}" type="slidenum">
              <a:rPr lang="LID4096" smtClean="0"/>
              <a:t>‹#›</a:t>
            </a:fld>
            <a:endParaRPr lang="LID4096"/>
          </a:p>
        </p:txBody>
      </p:sp>
    </p:spTree>
    <p:extLst>
      <p:ext uri="{BB962C8B-B14F-4D97-AF65-F5344CB8AC3E}">
        <p14:creationId xmlns:p14="http://schemas.microsoft.com/office/powerpoint/2010/main" val="4196999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411480" y="6510528"/>
            <a:ext cx="11356848" cy="0"/>
          </a:xfrm>
          <a:prstGeom prst="line">
            <a:avLst/>
          </a:prstGeom>
          <a:noFill/>
          <a:ln w="12700">
            <a:solidFill>
              <a:srgbClr val="D9E1E8"/>
            </a:solidFill>
            <a:prstDash val="solid"/>
          </a:ln>
        </p:spPr>
        <p:txBody>
          <a:bodyPr/>
          <a:lstStyle/>
          <a:p>
            <a:endParaRPr lang="LID4096"/>
          </a:p>
        </p:txBody>
      </p:sp>
      <p:sp>
        <p:nvSpPr>
          <p:cNvPr id="3" name="Text 1"/>
          <p:cNvSpPr/>
          <p:nvPr/>
        </p:nvSpPr>
        <p:spPr>
          <a:xfrm>
            <a:off x="502920" y="6565392"/>
            <a:ext cx="402336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Canada E-Commerce PESTEL Monitor</a:t>
            </a:r>
            <a:endParaRPr lang="en-US" sz="750" dirty="0"/>
          </a:p>
        </p:txBody>
      </p:sp>
      <p:sp>
        <p:nvSpPr>
          <p:cNvPr id="4" name="Text 2"/>
          <p:cNvSpPr/>
          <p:nvPr/>
        </p:nvSpPr>
        <p:spPr>
          <a:xfrm>
            <a:off x="7955280" y="6565392"/>
            <a:ext cx="3703320" cy="164592"/>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Group 6 | University of Niagara Falls</a:t>
            </a:r>
            <a:endParaRPr lang="en-US" sz="750" dirty="0"/>
          </a:p>
        </p:txBody>
      </p:sp>
      <p:sp>
        <p:nvSpPr>
          <p:cNvPr id="25"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349626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1015A1-D244-61DA-B92C-4F3FB5C60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414CA640-D793-FC72-9790-71E079C1D9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AD6450B-95CA-126E-6CFF-6FFF85F419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BF19F6-0FAA-408D-B657-89BDE9E1B14C}" type="datetimeFigureOut">
              <a:rPr lang="LID4096" smtClean="0"/>
              <a:t>09/13/2026</a:t>
            </a:fld>
            <a:endParaRPr lang="LID4096"/>
          </a:p>
        </p:txBody>
      </p:sp>
      <p:sp>
        <p:nvSpPr>
          <p:cNvPr id="5" name="Footer Placeholder 4">
            <a:extLst>
              <a:ext uri="{FF2B5EF4-FFF2-40B4-BE49-F238E27FC236}">
                <a16:creationId xmlns:a16="http://schemas.microsoft.com/office/drawing/2014/main" id="{B2F1F6CB-5516-0323-3DB2-DBAA65BC7C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A846F8E2-8548-5DEB-C039-D4956ABFD3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C3E2ED-0399-49B8-809C-FF0E0097AF87}" type="slidenum">
              <a:rPr lang="LID4096" smtClean="0"/>
              <a:t>‹#›</a:t>
            </a:fld>
            <a:endParaRPr lang="LID4096"/>
          </a:p>
        </p:txBody>
      </p:sp>
    </p:spTree>
    <p:extLst>
      <p:ext uri="{BB962C8B-B14F-4D97-AF65-F5344CB8AC3E}">
        <p14:creationId xmlns:p14="http://schemas.microsoft.com/office/powerpoint/2010/main" val="1382975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840480" cy="6510528"/>
          </a:xfrm>
          <a:prstGeom prst="rect">
            <a:avLst/>
          </a:prstGeom>
          <a:solidFill>
            <a:srgbClr val="123B5D"/>
          </a:solidFill>
          <a:ln w="12700">
            <a:solidFill>
              <a:srgbClr val="123B5D"/>
            </a:solidFill>
            <a:prstDash val="solid"/>
          </a:ln>
        </p:spPr>
        <p:txBody>
          <a:bodyPr/>
          <a:lstStyle/>
          <a:p>
            <a:endParaRPr lang="LID4096"/>
          </a:p>
        </p:txBody>
      </p:sp>
      <p:sp>
        <p:nvSpPr>
          <p:cNvPr id="3" name="Text 1"/>
          <p:cNvSpPr/>
          <p:nvPr/>
        </p:nvSpPr>
        <p:spPr>
          <a:xfrm>
            <a:off x="594360" y="777240"/>
            <a:ext cx="2606040" cy="150876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CANADA</a:t>
            </a:r>
            <a:endParaRPr lang="en-US" sz="2700" dirty="0"/>
          </a:p>
          <a:p>
            <a:pPr marL="0" indent="0">
              <a:buNone/>
            </a:pPr>
            <a:r>
              <a:rPr lang="en-US" sz="2700" b="1" dirty="0">
                <a:solidFill>
                  <a:srgbClr val="FFFFFF"/>
                </a:solidFill>
                <a:latin typeface="Aptos Display" pitchFamily="34" charset="0"/>
                <a:ea typeface="Aptos Display" pitchFamily="34" charset="-122"/>
                <a:cs typeface="Aptos Display" pitchFamily="34" charset="-120"/>
              </a:rPr>
              <a:t>E-COMMERCE</a:t>
            </a:r>
            <a:endParaRPr lang="en-US" sz="2700" dirty="0"/>
          </a:p>
          <a:p>
            <a:pPr marL="0" indent="0">
              <a:buNone/>
            </a:pPr>
            <a:r>
              <a:rPr lang="en-US" sz="2700" b="1" dirty="0">
                <a:solidFill>
                  <a:srgbClr val="FFFFFF"/>
                </a:solidFill>
                <a:latin typeface="Aptos Display" pitchFamily="34" charset="0"/>
                <a:ea typeface="Aptos Display" pitchFamily="34" charset="-122"/>
                <a:cs typeface="Aptos Display" pitchFamily="34" charset="-120"/>
              </a:rPr>
              <a:t>PESTEL</a:t>
            </a:r>
            <a:endParaRPr lang="en-US" sz="2700" dirty="0"/>
          </a:p>
        </p:txBody>
      </p:sp>
      <p:sp>
        <p:nvSpPr>
          <p:cNvPr id="4" name="Text 2"/>
          <p:cNvSpPr/>
          <p:nvPr/>
        </p:nvSpPr>
        <p:spPr>
          <a:xfrm>
            <a:off x="621792" y="2487168"/>
            <a:ext cx="2651760" cy="594360"/>
          </a:xfrm>
          <a:prstGeom prst="rect">
            <a:avLst/>
          </a:prstGeom>
          <a:noFill/>
          <a:ln/>
        </p:spPr>
        <p:txBody>
          <a:bodyPr wrap="square" lIns="0" tIns="0" rIns="0" bIns="0" rtlCol="0" anchor="ctr"/>
          <a:lstStyle/>
          <a:p>
            <a:pPr marL="0" indent="0">
              <a:buNone/>
            </a:pPr>
            <a:r>
              <a:rPr lang="en-US" sz="1300" dirty="0">
                <a:solidFill>
                  <a:srgbClr val="D8E7F2"/>
                </a:solidFill>
              </a:rPr>
              <a:t>External environment, risks &amp; strategic opportunities</a:t>
            </a:r>
            <a:endParaRPr lang="en-US" sz="1300" dirty="0"/>
          </a:p>
        </p:txBody>
      </p:sp>
      <p:sp>
        <p:nvSpPr>
          <p:cNvPr id="5" name="Shape 3"/>
          <p:cNvSpPr/>
          <p:nvPr/>
        </p:nvSpPr>
        <p:spPr>
          <a:xfrm>
            <a:off x="621792" y="3218688"/>
            <a:ext cx="2286000" cy="0"/>
          </a:xfrm>
          <a:prstGeom prst="line">
            <a:avLst/>
          </a:prstGeom>
          <a:noFill/>
          <a:ln w="25400">
            <a:solidFill>
              <a:srgbClr val="7FB2D4"/>
            </a:solidFill>
            <a:prstDash val="solid"/>
          </a:ln>
        </p:spPr>
        <p:txBody>
          <a:bodyPr/>
          <a:lstStyle/>
          <a:p>
            <a:endParaRPr lang="LID4096"/>
          </a:p>
        </p:txBody>
      </p:sp>
      <p:sp>
        <p:nvSpPr>
          <p:cNvPr id="6" name="Text 4"/>
          <p:cNvSpPr/>
          <p:nvPr/>
        </p:nvSpPr>
        <p:spPr>
          <a:xfrm>
            <a:off x="621792" y="3383280"/>
            <a:ext cx="2011680" cy="320040"/>
          </a:xfrm>
          <a:prstGeom prst="rect">
            <a:avLst/>
          </a:prstGeom>
          <a:noFill/>
          <a:ln/>
        </p:spPr>
        <p:txBody>
          <a:bodyPr wrap="square" lIns="0" tIns="0" rIns="0" bIns="0" rtlCol="0" anchor="ctr"/>
          <a:lstStyle/>
          <a:p>
            <a:pPr marL="0" indent="0">
              <a:buNone/>
            </a:pPr>
            <a:r>
              <a:rPr lang="en-US" sz="1800" b="1" dirty="0">
                <a:solidFill>
                  <a:srgbClr val="FFFFFF"/>
                </a:solidFill>
              </a:rPr>
              <a:t>2017–2025</a:t>
            </a:r>
            <a:endParaRPr lang="en-US" sz="1800" dirty="0"/>
          </a:p>
        </p:txBody>
      </p:sp>
      <p:sp>
        <p:nvSpPr>
          <p:cNvPr id="7" name="Text 5"/>
          <p:cNvSpPr/>
          <p:nvPr/>
        </p:nvSpPr>
        <p:spPr>
          <a:xfrm>
            <a:off x="621792" y="5413248"/>
            <a:ext cx="2651760" cy="219456"/>
          </a:xfrm>
          <a:prstGeom prst="rect">
            <a:avLst/>
          </a:prstGeom>
          <a:noFill/>
          <a:ln/>
        </p:spPr>
        <p:txBody>
          <a:bodyPr wrap="square" lIns="0" tIns="0" rIns="0" bIns="0" rtlCol="0" anchor="ctr"/>
          <a:lstStyle/>
          <a:p>
            <a:pPr marL="0" indent="0">
              <a:buNone/>
            </a:pPr>
            <a:r>
              <a:rPr lang="en-US" sz="950" dirty="0">
                <a:solidFill>
                  <a:srgbClr val="D8E7F2"/>
                </a:solidFill>
              </a:rPr>
              <a:t>Group 6 · Master of Data Analytics</a:t>
            </a:r>
            <a:endParaRPr lang="en-US" sz="950" dirty="0"/>
          </a:p>
        </p:txBody>
      </p:sp>
      <p:sp>
        <p:nvSpPr>
          <p:cNvPr id="8" name="Text 6"/>
          <p:cNvSpPr/>
          <p:nvPr/>
        </p:nvSpPr>
        <p:spPr>
          <a:xfrm>
            <a:off x="621792" y="5715000"/>
            <a:ext cx="2651760" cy="219456"/>
          </a:xfrm>
          <a:prstGeom prst="rect">
            <a:avLst/>
          </a:prstGeom>
          <a:noFill/>
          <a:ln/>
        </p:spPr>
        <p:txBody>
          <a:bodyPr wrap="square" lIns="0" tIns="0" rIns="0" bIns="0" rtlCol="0" anchor="ctr"/>
          <a:lstStyle/>
          <a:p>
            <a:pPr marL="0" indent="0">
              <a:buNone/>
            </a:pPr>
            <a:r>
              <a:rPr lang="en-US" sz="950" dirty="0">
                <a:solidFill>
                  <a:srgbClr val="D8E7F2"/>
                </a:solidFill>
              </a:rPr>
              <a:t>University of Niagara Falls</a:t>
            </a:r>
            <a:endParaRPr lang="en-US" sz="950" dirty="0"/>
          </a:p>
        </p:txBody>
      </p:sp>
      <p:sp>
        <p:nvSpPr>
          <p:cNvPr id="9" name="Text 7"/>
          <p:cNvSpPr/>
          <p:nvPr/>
        </p:nvSpPr>
        <p:spPr>
          <a:xfrm>
            <a:off x="4434840" y="1143000"/>
            <a:ext cx="6126480" cy="594360"/>
          </a:xfrm>
          <a:prstGeom prst="rect">
            <a:avLst/>
          </a:prstGeom>
          <a:noFill/>
          <a:ln/>
        </p:spPr>
        <p:txBody>
          <a:bodyPr wrap="square" lIns="0" tIns="0" rIns="0" bIns="0" rtlCol="0" anchor="ctr"/>
          <a:lstStyle/>
          <a:p>
            <a:pPr marL="0" indent="0">
              <a:buNone/>
            </a:pPr>
            <a:r>
              <a:rPr lang="en-US" sz="2800" b="1" dirty="0">
                <a:solidFill>
                  <a:srgbClr val="1F2937"/>
                </a:solidFill>
              </a:rPr>
              <a:t>Dashboard &amp; Analysis Presentation</a:t>
            </a:r>
            <a:endParaRPr lang="en-US" sz="2800" dirty="0"/>
          </a:p>
        </p:txBody>
      </p:sp>
      <p:sp>
        <p:nvSpPr>
          <p:cNvPr id="10" name="Text 8"/>
          <p:cNvSpPr/>
          <p:nvPr/>
        </p:nvSpPr>
        <p:spPr>
          <a:xfrm>
            <a:off x="4443984" y="1856232"/>
            <a:ext cx="5989320" cy="640080"/>
          </a:xfrm>
          <a:prstGeom prst="rect">
            <a:avLst/>
          </a:prstGeom>
          <a:noFill/>
          <a:ln/>
        </p:spPr>
        <p:txBody>
          <a:bodyPr wrap="square" lIns="0" tIns="0" rIns="0" bIns="0" rtlCol="0" anchor="ctr"/>
          <a:lstStyle/>
          <a:p>
            <a:pPr marL="0" indent="0">
              <a:buNone/>
            </a:pPr>
            <a:r>
              <a:rPr lang="en-US" sz="1500" dirty="0">
                <a:solidFill>
                  <a:srgbClr val="5F6B76"/>
                </a:solidFill>
              </a:rPr>
              <a:t>How economic shocks, demographic change and digital maturity shaped Canadian retail e-commerce.</a:t>
            </a:r>
            <a:endParaRPr lang="en-US" sz="1500" dirty="0"/>
          </a:p>
        </p:txBody>
      </p:sp>
      <p:sp>
        <p:nvSpPr>
          <p:cNvPr id="11" name="Shape 9"/>
          <p:cNvSpPr/>
          <p:nvPr/>
        </p:nvSpPr>
        <p:spPr>
          <a:xfrm>
            <a:off x="4443984" y="2971800"/>
            <a:ext cx="2084832" cy="1261872"/>
          </a:xfrm>
          <a:prstGeom prst="roundRect">
            <a:avLst>
              <a:gd name="adj" fmla="val 579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12" name="Shape 10"/>
          <p:cNvSpPr/>
          <p:nvPr/>
        </p:nvSpPr>
        <p:spPr>
          <a:xfrm>
            <a:off x="4443984" y="2971800"/>
            <a:ext cx="73152" cy="1261872"/>
          </a:xfrm>
          <a:prstGeom prst="rect">
            <a:avLst/>
          </a:prstGeom>
          <a:solidFill>
            <a:srgbClr val="2B6F9F"/>
          </a:solidFill>
          <a:ln w="12700">
            <a:solidFill>
              <a:srgbClr val="2B6F9F"/>
            </a:solidFill>
            <a:prstDash val="solid"/>
          </a:ln>
        </p:spPr>
        <p:txBody>
          <a:bodyPr/>
          <a:lstStyle/>
          <a:p>
            <a:endParaRPr lang="LID4096"/>
          </a:p>
        </p:txBody>
      </p:sp>
      <p:sp>
        <p:nvSpPr>
          <p:cNvPr id="13" name="Text 11"/>
          <p:cNvSpPr/>
          <p:nvPr/>
        </p:nvSpPr>
        <p:spPr>
          <a:xfrm>
            <a:off x="4663440" y="3172968"/>
            <a:ext cx="1764792" cy="384048"/>
          </a:xfrm>
          <a:prstGeom prst="rect">
            <a:avLst/>
          </a:prstGeom>
          <a:noFill/>
          <a:ln/>
        </p:spPr>
        <p:txBody>
          <a:bodyPr wrap="square" lIns="0" tIns="0" rIns="0" bIns="0" rtlCol="0" anchor="ctr"/>
          <a:lstStyle/>
          <a:p>
            <a:pPr marL="0" indent="0">
              <a:buNone/>
            </a:pPr>
            <a:r>
              <a:rPr lang="en-US" sz="2200" b="1" dirty="0">
                <a:solidFill>
                  <a:srgbClr val="1F2937"/>
                </a:solidFill>
              </a:rPr>
              <a:t>$59.24B</a:t>
            </a:r>
            <a:endParaRPr lang="en-US" sz="2200" dirty="0"/>
          </a:p>
        </p:txBody>
      </p:sp>
      <p:sp>
        <p:nvSpPr>
          <p:cNvPr id="14" name="Text 12"/>
          <p:cNvSpPr/>
          <p:nvPr/>
        </p:nvSpPr>
        <p:spPr>
          <a:xfrm>
            <a:off x="4663440" y="3593592"/>
            <a:ext cx="1764792" cy="292608"/>
          </a:xfrm>
          <a:prstGeom prst="rect">
            <a:avLst/>
          </a:prstGeom>
          <a:noFill/>
          <a:ln/>
        </p:spPr>
        <p:txBody>
          <a:bodyPr wrap="square" lIns="0" tIns="0" rIns="0" bIns="0" rtlCol="0" anchor="ctr"/>
          <a:lstStyle/>
          <a:p>
            <a:pPr marL="0" indent="0">
              <a:buNone/>
            </a:pPr>
            <a:r>
              <a:rPr lang="en-US" sz="950" dirty="0">
                <a:solidFill>
                  <a:srgbClr val="5F6B76"/>
                </a:solidFill>
              </a:rPr>
              <a:t>2025 e-commerce sales</a:t>
            </a:r>
            <a:endParaRPr lang="en-US" sz="950" dirty="0"/>
          </a:p>
        </p:txBody>
      </p:sp>
      <p:sp>
        <p:nvSpPr>
          <p:cNvPr id="15" name="Shape 13"/>
          <p:cNvSpPr/>
          <p:nvPr/>
        </p:nvSpPr>
        <p:spPr>
          <a:xfrm>
            <a:off x="6720840" y="2971800"/>
            <a:ext cx="2084832" cy="1261872"/>
          </a:xfrm>
          <a:prstGeom prst="roundRect">
            <a:avLst>
              <a:gd name="adj" fmla="val 579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16" name="Shape 14"/>
          <p:cNvSpPr/>
          <p:nvPr/>
        </p:nvSpPr>
        <p:spPr>
          <a:xfrm>
            <a:off x="6720840" y="2971800"/>
            <a:ext cx="73152" cy="1261872"/>
          </a:xfrm>
          <a:prstGeom prst="rect">
            <a:avLst/>
          </a:prstGeom>
          <a:solidFill>
            <a:srgbClr val="0B7A75"/>
          </a:solidFill>
          <a:ln w="12700">
            <a:solidFill>
              <a:srgbClr val="0B7A75"/>
            </a:solidFill>
            <a:prstDash val="solid"/>
          </a:ln>
        </p:spPr>
        <p:txBody>
          <a:bodyPr/>
          <a:lstStyle/>
          <a:p>
            <a:endParaRPr lang="LID4096"/>
          </a:p>
        </p:txBody>
      </p:sp>
      <p:sp>
        <p:nvSpPr>
          <p:cNvPr id="17" name="Text 15"/>
          <p:cNvSpPr/>
          <p:nvPr/>
        </p:nvSpPr>
        <p:spPr>
          <a:xfrm>
            <a:off x="6940296" y="3172968"/>
            <a:ext cx="1764792" cy="384048"/>
          </a:xfrm>
          <a:prstGeom prst="rect">
            <a:avLst/>
          </a:prstGeom>
          <a:noFill/>
          <a:ln/>
        </p:spPr>
        <p:txBody>
          <a:bodyPr wrap="square" lIns="0" tIns="0" rIns="0" bIns="0" rtlCol="0" anchor="ctr"/>
          <a:lstStyle/>
          <a:p>
            <a:pPr marL="0" indent="0">
              <a:buNone/>
            </a:pPr>
            <a:r>
              <a:rPr lang="en-US" sz="2200" b="1" dirty="0">
                <a:solidFill>
                  <a:srgbClr val="1F2937"/>
                </a:solidFill>
              </a:rPr>
              <a:t>18.0%</a:t>
            </a:r>
            <a:endParaRPr lang="en-US" sz="2200" dirty="0"/>
          </a:p>
        </p:txBody>
      </p:sp>
      <p:sp>
        <p:nvSpPr>
          <p:cNvPr id="18" name="Text 16"/>
          <p:cNvSpPr/>
          <p:nvPr/>
        </p:nvSpPr>
        <p:spPr>
          <a:xfrm>
            <a:off x="6940296" y="3593592"/>
            <a:ext cx="1764792" cy="292608"/>
          </a:xfrm>
          <a:prstGeom prst="rect">
            <a:avLst/>
          </a:prstGeom>
          <a:noFill/>
          <a:ln/>
        </p:spPr>
        <p:txBody>
          <a:bodyPr wrap="square" lIns="0" tIns="0" rIns="0" bIns="0" rtlCol="0" anchor="ctr"/>
          <a:lstStyle/>
          <a:p>
            <a:pPr marL="0" indent="0">
              <a:buNone/>
            </a:pPr>
            <a:r>
              <a:rPr lang="en-US" sz="950" dirty="0">
                <a:solidFill>
                  <a:srgbClr val="5F6B76"/>
                </a:solidFill>
              </a:rPr>
              <a:t>2017–2025 CAGR</a:t>
            </a:r>
            <a:endParaRPr lang="en-US" sz="950" dirty="0"/>
          </a:p>
        </p:txBody>
      </p:sp>
      <p:sp>
        <p:nvSpPr>
          <p:cNvPr id="19" name="Shape 17"/>
          <p:cNvSpPr/>
          <p:nvPr/>
        </p:nvSpPr>
        <p:spPr>
          <a:xfrm>
            <a:off x="8997696" y="2971800"/>
            <a:ext cx="2084832" cy="1261872"/>
          </a:xfrm>
          <a:prstGeom prst="roundRect">
            <a:avLst>
              <a:gd name="adj" fmla="val 579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20" name="Shape 18"/>
          <p:cNvSpPr/>
          <p:nvPr/>
        </p:nvSpPr>
        <p:spPr>
          <a:xfrm>
            <a:off x="8997696" y="2971800"/>
            <a:ext cx="73152" cy="1261872"/>
          </a:xfrm>
          <a:prstGeom prst="rect">
            <a:avLst/>
          </a:prstGeom>
          <a:solidFill>
            <a:srgbClr val="6554C0"/>
          </a:solidFill>
          <a:ln w="12700">
            <a:solidFill>
              <a:srgbClr val="6554C0"/>
            </a:solidFill>
            <a:prstDash val="solid"/>
          </a:ln>
        </p:spPr>
        <p:txBody>
          <a:bodyPr/>
          <a:lstStyle/>
          <a:p>
            <a:endParaRPr lang="LID4096"/>
          </a:p>
        </p:txBody>
      </p:sp>
      <p:sp>
        <p:nvSpPr>
          <p:cNvPr id="21" name="Text 19"/>
          <p:cNvSpPr/>
          <p:nvPr/>
        </p:nvSpPr>
        <p:spPr>
          <a:xfrm>
            <a:off x="9217152" y="3172968"/>
            <a:ext cx="1764792" cy="384048"/>
          </a:xfrm>
          <a:prstGeom prst="rect">
            <a:avLst/>
          </a:prstGeom>
          <a:noFill/>
          <a:ln/>
        </p:spPr>
        <p:txBody>
          <a:bodyPr wrap="square" lIns="0" tIns="0" rIns="0" bIns="0" rtlCol="0" anchor="ctr"/>
          <a:lstStyle/>
          <a:p>
            <a:pPr marL="0" indent="0">
              <a:buNone/>
            </a:pPr>
            <a:r>
              <a:rPr lang="en-US" sz="2200" b="1" dirty="0">
                <a:solidFill>
                  <a:srgbClr val="1F2937"/>
                </a:solidFill>
              </a:rPr>
              <a:t>+230%</a:t>
            </a:r>
            <a:endParaRPr lang="en-US" sz="2200" dirty="0"/>
          </a:p>
        </p:txBody>
      </p:sp>
      <p:sp>
        <p:nvSpPr>
          <p:cNvPr id="22" name="Text 20"/>
          <p:cNvSpPr/>
          <p:nvPr/>
        </p:nvSpPr>
        <p:spPr>
          <a:xfrm>
            <a:off x="9217152" y="3593592"/>
            <a:ext cx="1764792" cy="292608"/>
          </a:xfrm>
          <a:prstGeom prst="rect">
            <a:avLst/>
          </a:prstGeom>
          <a:noFill/>
          <a:ln/>
        </p:spPr>
        <p:txBody>
          <a:bodyPr wrap="square" lIns="0" tIns="0" rIns="0" bIns="0" rtlCol="0" anchor="ctr"/>
          <a:lstStyle/>
          <a:p>
            <a:pPr marL="0" indent="0">
              <a:buNone/>
            </a:pPr>
            <a:r>
              <a:rPr lang="en-US" sz="950" dirty="0">
                <a:solidFill>
                  <a:srgbClr val="5F6B76"/>
                </a:solidFill>
              </a:rPr>
              <a:t>Sales per capita growth</a:t>
            </a:r>
            <a:endParaRPr lang="en-US" sz="950" dirty="0"/>
          </a:p>
        </p:txBody>
      </p:sp>
      <p:sp>
        <p:nvSpPr>
          <p:cNvPr id="23" name="Shape 21"/>
          <p:cNvSpPr/>
          <p:nvPr/>
        </p:nvSpPr>
        <p:spPr>
          <a:xfrm>
            <a:off x="4443984" y="4617720"/>
            <a:ext cx="6629400" cy="1005840"/>
          </a:xfrm>
          <a:prstGeom prst="roundRect">
            <a:avLst>
              <a:gd name="adj" fmla="val 5455"/>
            </a:avLst>
          </a:prstGeom>
          <a:solidFill>
            <a:srgbClr val="FFFFFF"/>
          </a:solidFill>
          <a:ln w="12700">
            <a:solidFill>
              <a:srgbClr val="D9E1E8"/>
            </a:solidFill>
            <a:prstDash val="solid"/>
          </a:ln>
        </p:spPr>
        <p:txBody>
          <a:bodyPr/>
          <a:lstStyle/>
          <a:p>
            <a:endParaRPr lang="LID4096"/>
          </a:p>
        </p:txBody>
      </p:sp>
      <p:sp>
        <p:nvSpPr>
          <p:cNvPr id="24" name="Text 22"/>
          <p:cNvSpPr/>
          <p:nvPr/>
        </p:nvSpPr>
        <p:spPr>
          <a:xfrm>
            <a:off x="4681728" y="4721006"/>
            <a:ext cx="1371600" cy="201168"/>
          </a:xfrm>
          <a:prstGeom prst="rect">
            <a:avLst/>
          </a:prstGeom>
          <a:noFill/>
          <a:ln/>
        </p:spPr>
        <p:txBody>
          <a:bodyPr wrap="square" lIns="0" tIns="0" rIns="0" bIns="0" rtlCol="0" anchor="ctr"/>
          <a:lstStyle/>
          <a:p>
            <a:pPr marL="0" indent="0">
              <a:buNone/>
            </a:pPr>
            <a:r>
              <a:rPr lang="en-US" sz="1000" b="1" dirty="0">
                <a:solidFill>
                  <a:srgbClr val="2B6F9F"/>
                </a:solidFill>
              </a:rPr>
              <a:t>Core message</a:t>
            </a:r>
            <a:endParaRPr lang="en-US" sz="1000" dirty="0"/>
          </a:p>
        </p:txBody>
      </p:sp>
      <p:sp>
        <p:nvSpPr>
          <p:cNvPr id="25" name="Text 23"/>
          <p:cNvSpPr/>
          <p:nvPr/>
        </p:nvSpPr>
        <p:spPr>
          <a:xfrm>
            <a:off x="4681728" y="5074920"/>
            <a:ext cx="5989320" cy="402336"/>
          </a:xfrm>
          <a:prstGeom prst="rect">
            <a:avLst/>
          </a:prstGeom>
          <a:noFill/>
          <a:ln/>
        </p:spPr>
        <p:txBody>
          <a:bodyPr wrap="square" lIns="0" tIns="0" rIns="0" bIns="0" rtlCol="0" anchor="ctr"/>
          <a:lstStyle/>
          <a:p>
            <a:pPr marL="0" indent="0">
              <a:buNone/>
            </a:pPr>
            <a:r>
              <a:rPr lang="en-US" sz="1130" dirty="0">
                <a:solidFill>
                  <a:srgbClr val="1F2937"/>
                </a:solidFill>
              </a:rPr>
              <a:t>Canadian e-commerce is structurally larger than before the pandemic, but growth has entered a more mature phase where inflation resilience, customer experience and fulfillment execution matter more.</a:t>
            </a:r>
            <a:endParaRPr lang="en-US" sz="1130" dirty="0"/>
          </a:p>
        </p:txBody>
      </p:sp>
      <p:sp>
        <p:nvSpPr>
          <p:cNvPr id="26"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The story in three moves</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A structural expansion, a major shock, and a more mature post-pandemic market</a:t>
            </a:r>
            <a:endParaRPr lang="en-US" sz="1050" dirty="0"/>
          </a:p>
        </p:txBody>
      </p:sp>
      <p:sp>
        <p:nvSpPr>
          <p:cNvPr id="4" name="Shape 2"/>
          <p:cNvSpPr/>
          <p:nvPr/>
        </p:nvSpPr>
        <p:spPr>
          <a:xfrm>
            <a:off x="9829800" y="347472"/>
            <a:ext cx="1847088" cy="310896"/>
          </a:xfrm>
          <a:prstGeom prst="roundRect">
            <a:avLst>
              <a:gd name="adj" fmla="val 17647"/>
            </a:avLst>
          </a:prstGeom>
          <a:solidFill>
            <a:srgbClr val="123B5D"/>
          </a:solidFill>
          <a:ln w="12700">
            <a:solidFill>
              <a:srgbClr val="123B5D"/>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EXECUTIVE STORY</a:t>
            </a:r>
            <a:endParaRPr lang="en-US" sz="800" dirty="0"/>
          </a:p>
        </p:txBody>
      </p:sp>
      <p:sp>
        <p:nvSpPr>
          <p:cNvPr id="6" name="Shape 4"/>
          <p:cNvSpPr/>
          <p:nvPr/>
        </p:nvSpPr>
        <p:spPr>
          <a:xfrm>
            <a:off x="640080" y="1417320"/>
            <a:ext cx="3154680" cy="2240280"/>
          </a:xfrm>
          <a:prstGeom prst="roundRect">
            <a:avLst>
              <a:gd name="adj" fmla="val 3265"/>
            </a:avLst>
          </a:prstGeom>
          <a:solidFill>
            <a:srgbClr val="FFFFFF"/>
          </a:solidFill>
          <a:ln w="12700">
            <a:solidFill>
              <a:srgbClr val="D9E1E8"/>
            </a:solidFill>
            <a:prstDash val="solid"/>
          </a:ln>
        </p:spPr>
        <p:txBody>
          <a:bodyPr/>
          <a:lstStyle/>
          <a:p>
            <a:endParaRPr lang="LID4096"/>
          </a:p>
        </p:txBody>
      </p:sp>
      <p:sp>
        <p:nvSpPr>
          <p:cNvPr id="7" name="Shape 5"/>
          <p:cNvSpPr/>
          <p:nvPr/>
        </p:nvSpPr>
        <p:spPr>
          <a:xfrm>
            <a:off x="868680" y="1664208"/>
            <a:ext cx="502920" cy="502920"/>
          </a:xfrm>
          <a:prstGeom prst="ellipse">
            <a:avLst/>
          </a:prstGeom>
          <a:solidFill>
            <a:srgbClr val="2B6F9F"/>
          </a:solidFill>
          <a:ln w="12700">
            <a:solidFill>
              <a:srgbClr val="2B6F9F"/>
            </a:solidFill>
            <a:prstDash val="solid"/>
          </a:ln>
        </p:spPr>
        <p:txBody>
          <a:bodyPr/>
          <a:lstStyle/>
          <a:p>
            <a:endParaRPr lang="LID4096"/>
          </a:p>
        </p:txBody>
      </p:sp>
      <p:sp>
        <p:nvSpPr>
          <p:cNvPr id="8" name="Text 6"/>
          <p:cNvSpPr/>
          <p:nvPr/>
        </p:nvSpPr>
        <p:spPr>
          <a:xfrm>
            <a:off x="868680" y="1773936"/>
            <a:ext cx="502920" cy="146304"/>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9" name="Text 7"/>
          <p:cNvSpPr/>
          <p:nvPr/>
        </p:nvSpPr>
        <p:spPr>
          <a:xfrm>
            <a:off x="1508760" y="1664208"/>
            <a:ext cx="1920240" cy="310896"/>
          </a:xfrm>
          <a:prstGeom prst="rect">
            <a:avLst/>
          </a:prstGeom>
          <a:noFill/>
          <a:ln/>
        </p:spPr>
        <p:txBody>
          <a:bodyPr wrap="square" lIns="0" tIns="0" rIns="0" bIns="0" rtlCol="0" anchor="ctr"/>
          <a:lstStyle/>
          <a:p>
            <a:pPr marL="0" indent="0">
              <a:buNone/>
            </a:pPr>
            <a:r>
              <a:rPr lang="en-US" sz="1400" b="1" dirty="0">
                <a:solidFill>
                  <a:srgbClr val="1F2937"/>
                </a:solidFill>
              </a:rPr>
              <a:t>Structural expansion</a:t>
            </a:r>
            <a:endParaRPr lang="en-US" sz="1400" dirty="0"/>
          </a:p>
        </p:txBody>
      </p:sp>
      <p:sp>
        <p:nvSpPr>
          <p:cNvPr id="10" name="Text 8"/>
          <p:cNvSpPr/>
          <p:nvPr/>
        </p:nvSpPr>
        <p:spPr>
          <a:xfrm>
            <a:off x="896112" y="2331720"/>
            <a:ext cx="2606040" cy="914400"/>
          </a:xfrm>
          <a:prstGeom prst="rect">
            <a:avLst/>
          </a:prstGeom>
          <a:noFill/>
          <a:ln/>
        </p:spPr>
        <p:txBody>
          <a:bodyPr wrap="square" lIns="0" tIns="0" rIns="0" bIns="0" rtlCol="0" anchor="ctr"/>
          <a:lstStyle/>
          <a:p>
            <a:pPr marL="0" indent="0">
              <a:buNone/>
            </a:pPr>
            <a:r>
              <a:rPr lang="en-US" sz="1100" dirty="0">
                <a:solidFill>
                  <a:srgbClr val="5F6B76"/>
                </a:solidFill>
              </a:rPr>
              <a:t>Annual e-commerce sales rose from $15.76B in 2017 to $59.24B in 2025 — about +276%.</a:t>
            </a:r>
            <a:endParaRPr lang="en-US" sz="1100" dirty="0"/>
          </a:p>
        </p:txBody>
      </p:sp>
      <p:sp>
        <p:nvSpPr>
          <p:cNvPr id="11" name="Shape 9"/>
          <p:cNvSpPr/>
          <p:nvPr/>
        </p:nvSpPr>
        <p:spPr>
          <a:xfrm>
            <a:off x="4160520" y="1417320"/>
            <a:ext cx="3154680" cy="2240280"/>
          </a:xfrm>
          <a:prstGeom prst="roundRect">
            <a:avLst>
              <a:gd name="adj" fmla="val 3265"/>
            </a:avLst>
          </a:prstGeom>
          <a:solidFill>
            <a:srgbClr val="FFFFFF"/>
          </a:solidFill>
          <a:ln w="12700">
            <a:solidFill>
              <a:srgbClr val="D9E1E8"/>
            </a:solidFill>
            <a:prstDash val="solid"/>
          </a:ln>
        </p:spPr>
        <p:txBody>
          <a:bodyPr/>
          <a:lstStyle/>
          <a:p>
            <a:endParaRPr lang="LID4096"/>
          </a:p>
        </p:txBody>
      </p:sp>
      <p:sp>
        <p:nvSpPr>
          <p:cNvPr id="12" name="Shape 10"/>
          <p:cNvSpPr/>
          <p:nvPr/>
        </p:nvSpPr>
        <p:spPr>
          <a:xfrm>
            <a:off x="4389120" y="1664208"/>
            <a:ext cx="502920" cy="502920"/>
          </a:xfrm>
          <a:prstGeom prst="ellipse">
            <a:avLst/>
          </a:prstGeom>
          <a:solidFill>
            <a:srgbClr val="D59E2A"/>
          </a:solidFill>
          <a:ln w="12700">
            <a:solidFill>
              <a:srgbClr val="D59E2A"/>
            </a:solidFill>
            <a:prstDash val="solid"/>
          </a:ln>
        </p:spPr>
        <p:txBody>
          <a:bodyPr/>
          <a:lstStyle/>
          <a:p>
            <a:endParaRPr lang="LID4096"/>
          </a:p>
        </p:txBody>
      </p:sp>
      <p:sp>
        <p:nvSpPr>
          <p:cNvPr id="13" name="Text 11"/>
          <p:cNvSpPr/>
          <p:nvPr/>
        </p:nvSpPr>
        <p:spPr>
          <a:xfrm>
            <a:off x="4389120" y="1773936"/>
            <a:ext cx="502920" cy="146304"/>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4" name="Text 12"/>
          <p:cNvSpPr/>
          <p:nvPr/>
        </p:nvSpPr>
        <p:spPr>
          <a:xfrm>
            <a:off x="5029200" y="1664208"/>
            <a:ext cx="1920240" cy="310896"/>
          </a:xfrm>
          <a:prstGeom prst="rect">
            <a:avLst/>
          </a:prstGeom>
          <a:noFill/>
          <a:ln/>
        </p:spPr>
        <p:txBody>
          <a:bodyPr wrap="square" lIns="0" tIns="0" rIns="0" bIns="0" rtlCol="0" anchor="ctr"/>
          <a:lstStyle/>
          <a:p>
            <a:pPr marL="0" indent="0">
              <a:buNone/>
            </a:pPr>
            <a:r>
              <a:rPr lang="en-US" sz="1400" b="1" dirty="0">
                <a:solidFill>
                  <a:srgbClr val="1F2937"/>
                </a:solidFill>
              </a:rPr>
              <a:t>Regime shift</a:t>
            </a:r>
            <a:endParaRPr lang="en-US" sz="1400" dirty="0"/>
          </a:p>
        </p:txBody>
      </p:sp>
      <p:sp>
        <p:nvSpPr>
          <p:cNvPr id="15" name="Text 13"/>
          <p:cNvSpPr/>
          <p:nvPr/>
        </p:nvSpPr>
        <p:spPr>
          <a:xfrm>
            <a:off x="4416552" y="2331720"/>
            <a:ext cx="2606040" cy="914400"/>
          </a:xfrm>
          <a:prstGeom prst="rect">
            <a:avLst/>
          </a:prstGeom>
          <a:noFill/>
          <a:ln/>
        </p:spPr>
        <p:txBody>
          <a:bodyPr wrap="square" lIns="0" tIns="0" rIns="0" bIns="0" rtlCol="0" anchor="ctr"/>
          <a:lstStyle/>
          <a:p>
            <a:pPr marL="0" indent="0">
              <a:buNone/>
            </a:pPr>
            <a:r>
              <a:rPr lang="en-US" sz="1100" dirty="0">
                <a:solidFill>
                  <a:srgbClr val="5F6B76"/>
                </a:solidFill>
              </a:rPr>
              <a:t>2020 growth surged to ~75%, then fell to −8.6% in 2022 as the market normalized.</a:t>
            </a:r>
            <a:endParaRPr lang="en-US" sz="1100" dirty="0"/>
          </a:p>
        </p:txBody>
      </p:sp>
      <p:sp>
        <p:nvSpPr>
          <p:cNvPr id="16" name="Shape 14"/>
          <p:cNvSpPr/>
          <p:nvPr/>
        </p:nvSpPr>
        <p:spPr>
          <a:xfrm>
            <a:off x="7680960" y="1417320"/>
            <a:ext cx="3154680" cy="2240280"/>
          </a:xfrm>
          <a:prstGeom prst="roundRect">
            <a:avLst>
              <a:gd name="adj" fmla="val 3265"/>
            </a:avLst>
          </a:prstGeom>
          <a:solidFill>
            <a:srgbClr val="FFFFFF"/>
          </a:solidFill>
          <a:ln w="12700">
            <a:solidFill>
              <a:srgbClr val="D9E1E8"/>
            </a:solidFill>
            <a:prstDash val="solid"/>
          </a:ln>
        </p:spPr>
        <p:txBody>
          <a:bodyPr/>
          <a:lstStyle/>
          <a:p>
            <a:endParaRPr lang="LID4096"/>
          </a:p>
        </p:txBody>
      </p:sp>
      <p:sp>
        <p:nvSpPr>
          <p:cNvPr id="17" name="Shape 15"/>
          <p:cNvSpPr/>
          <p:nvPr/>
        </p:nvSpPr>
        <p:spPr>
          <a:xfrm>
            <a:off x="7909560" y="1664208"/>
            <a:ext cx="502920" cy="502920"/>
          </a:xfrm>
          <a:prstGeom prst="ellipse">
            <a:avLst/>
          </a:prstGeom>
          <a:solidFill>
            <a:srgbClr val="0B7A75"/>
          </a:solidFill>
          <a:ln w="12700">
            <a:solidFill>
              <a:srgbClr val="0B7A75"/>
            </a:solidFill>
            <a:prstDash val="solid"/>
          </a:ln>
        </p:spPr>
        <p:txBody>
          <a:bodyPr/>
          <a:lstStyle/>
          <a:p>
            <a:endParaRPr lang="LID4096"/>
          </a:p>
        </p:txBody>
      </p:sp>
      <p:sp>
        <p:nvSpPr>
          <p:cNvPr id="18" name="Text 16"/>
          <p:cNvSpPr/>
          <p:nvPr/>
        </p:nvSpPr>
        <p:spPr>
          <a:xfrm>
            <a:off x="7909560" y="1773936"/>
            <a:ext cx="502920" cy="146304"/>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9" name="Text 17"/>
          <p:cNvSpPr/>
          <p:nvPr/>
        </p:nvSpPr>
        <p:spPr>
          <a:xfrm>
            <a:off x="8549640" y="1664208"/>
            <a:ext cx="1920240" cy="310896"/>
          </a:xfrm>
          <a:prstGeom prst="rect">
            <a:avLst/>
          </a:prstGeom>
          <a:noFill/>
          <a:ln/>
        </p:spPr>
        <p:txBody>
          <a:bodyPr wrap="square" lIns="0" tIns="0" rIns="0" bIns="0" rtlCol="0" anchor="ctr"/>
          <a:lstStyle/>
          <a:p>
            <a:pPr marL="0" indent="0">
              <a:buNone/>
            </a:pPr>
            <a:r>
              <a:rPr lang="en-US" sz="1400" b="1" dirty="0">
                <a:solidFill>
                  <a:srgbClr val="1F2937"/>
                </a:solidFill>
              </a:rPr>
              <a:t>Mature digital market</a:t>
            </a:r>
            <a:endParaRPr lang="en-US" sz="1400" dirty="0"/>
          </a:p>
        </p:txBody>
      </p:sp>
      <p:sp>
        <p:nvSpPr>
          <p:cNvPr id="20" name="Text 18"/>
          <p:cNvSpPr/>
          <p:nvPr/>
        </p:nvSpPr>
        <p:spPr>
          <a:xfrm>
            <a:off x="7936992" y="2331720"/>
            <a:ext cx="2606040" cy="914400"/>
          </a:xfrm>
          <a:prstGeom prst="rect">
            <a:avLst/>
          </a:prstGeom>
          <a:noFill/>
          <a:ln/>
        </p:spPr>
        <p:txBody>
          <a:bodyPr wrap="square" lIns="0" tIns="0" rIns="0" bIns="0" rtlCol="0" anchor="ctr"/>
          <a:lstStyle/>
          <a:p>
            <a:pPr marL="0" indent="0">
              <a:buNone/>
            </a:pPr>
            <a:r>
              <a:rPr lang="en-US" sz="1100" dirty="0">
                <a:solidFill>
                  <a:srgbClr val="5F6B76"/>
                </a:solidFill>
              </a:rPr>
              <a:t>Population kept expanding, but internet/mobile access was already near saturation. Execution now matters more than access.</a:t>
            </a:r>
            <a:endParaRPr lang="en-US" sz="1100" dirty="0"/>
          </a:p>
        </p:txBody>
      </p:sp>
      <p:sp>
        <p:nvSpPr>
          <p:cNvPr id="21" name="Shape 19"/>
          <p:cNvSpPr/>
          <p:nvPr/>
        </p:nvSpPr>
        <p:spPr>
          <a:xfrm>
            <a:off x="1188720" y="4480560"/>
            <a:ext cx="9601200" cy="0"/>
          </a:xfrm>
          <a:prstGeom prst="line">
            <a:avLst/>
          </a:prstGeom>
          <a:noFill/>
          <a:ln w="25400">
            <a:solidFill>
              <a:srgbClr val="B8C3CD"/>
            </a:solidFill>
            <a:prstDash val="solid"/>
          </a:ln>
        </p:spPr>
        <p:txBody>
          <a:bodyPr/>
          <a:lstStyle/>
          <a:p>
            <a:endParaRPr lang="LID4096"/>
          </a:p>
        </p:txBody>
      </p:sp>
      <p:sp>
        <p:nvSpPr>
          <p:cNvPr id="22" name="Shape 20"/>
          <p:cNvSpPr/>
          <p:nvPr/>
        </p:nvSpPr>
        <p:spPr>
          <a:xfrm>
            <a:off x="1106424" y="4398264"/>
            <a:ext cx="164592" cy="164592"/>
          </a:xfrm>
          <a:prstGeom prst="ellipse">
            <a:avLst/>
          </a:prstGeom>
          <a:solidFill>
            <a:srgbClr val="2B6F9F"/>
          </a:solidFill>
          <a:ln w="12700">
            <a:solidFill>
              <a:srgbClr val="2B6F9F"/>
            </a:solidFill>
            <a:prstDash val="solid"/>
          </a:ln>
        </p:spPr>
        <p:txBody>
          <a:bodyPr/>
          <a:lstStyle/>
          <a:p>
            <a:endParaRPr lang="LID4096"/>
          </a:p>
        </p:txBody>
      </p:sp>
      <p:sp>
        <p:nvSpPr>
          <p:cNvPr id="23" name="Text 21"/>
          <p:cNvSpPr/>
          <p:nvPr/>
        </p:nvSpPr>
        <p:spPr>
          <a:xfrm>
            <a:off x="868680" y="4690872"/>
            <a:ext cx="640080" cy="182880"/>
          </a:xfrm>
          <a:prstGeom prst="rect">
            <a:avLst/>
          </a:prstGeom>
          <a:noFill/>
          <a:ln/>
        </p:spPr>
        <p:txBody>
          <a:bodyPr wrap="square" lIns="0" tIns="0" rIns="0" bIns="0" rtlCol="0" anchor="ctr"/>
          <a:lstStyle/>
          <a:p>
            <a:pPr marL="0" indent="0" algn="ctr">
              <a:buNone/>
            </a:pPr>
            <a:r>
              <a:rPr lang="en-US" sz="1000" b="1" dirty="0">
                <a:solidFill>
                  <a:srgbClr val="1F2937"/>
                </a:solidFill>
              </a:rPr>
              <a:t>2017</a:t>
            </a:r>
            <a:endParaRPr lang="en-US" sz="1000" dirty="0"/>
          </a:p>
        </p:txBody>
      </p:sp>
      <p:sp>
        <p:nvSpPr>
          <p:cNvPr id="24" name="Text 22"/>
          <p:cNvSpPr/>
          <p:nvPr/>
        </p:nvSpPr>
        <p:spPr>
          <a:xfrm>
            <a:off x="411480" y="4983480"/>
            <a:ext cx="1554480" cy="384048"/>
          </a:xfrm>
          <a:prstGeom prst="rect">
            <a:avLst/>
          </a:prstGeom>
          <a:noFill/>
          <a:ln/>
        </p:spPr>
        <p:txBody>
          <a:bodyPr wrap="square" lIns="0" tIns="0" rIns="0" bIns="0" rtlCol="0" anchor="ctr"/>
          <a:lstStyle/>
          <a:p>
            <a:pPr marL="0" indent="0" algn="ctr">
              <a:buNone/>
            </a:pPr>
            <a:r>
              <a:rPr lang="en-US" sz="880" dirty="0">
                <a:solidFill>
                  <a:srgbClr val="5F6B76"/>
                </a:solidFill>
              </a:rPr>
              <a:t>Baseline</a:t>
            </a:r>
            <a:endParaRPr lang="en-US" sz="880" dirty="0"/>
          </a:p>
        </p:txBody>
      </p:sp>
      <p:sp>
        <p:nvSpPr>
          <p:cNvPr id="25" name="Shape 23"/>
          <p:cNvSpPr/>
          <p:nvPr/>
        </p:nvSpPr>
        <p:spPr>
          <a:xfrm>
            <a:off x="3758184" y="4398264"/>
            <a:ext cx="164592" cy="164592"/>
          </a:xfrm>
          <a:prstGeom prst="ellipse">
            <a:avLst/>
          </a:prstGeom>
          <a:solidFill>
            <a:srgbClr val="D59E2A"/>
          </a:solidFill>
          <a:ln w="12700">
            <a:solidFill>
              <a:srgbClr val="D59E2A"/>
            </a:solidFill>
            <a:prstDash val="solid"/>
          </a:ln>
        </p:spPr>
        <p:txBody>
          <a:bodyPr/>
          <a:lstStyle/>
          <a:p>
            <a:endParaRPr lang="LID4096"/>
          </a:p>
        </p:txBody>
      </p:sp>
      <p:sp>
        <p:nvSpPr>
          <p:cNvPr id="26" name="Text 24"/>
          <p:cNvSpPr/>
          <p:nvPr/>
        </p:nvSpPr>
        <p:spPr>
          <a:xfrm>
            <a:off x="3520440" y="4690872"/>
            <a:ext cx="640080" cy="182880"/>
          </a:xfrm>
          <a:prstGeom prst="rect">
            <a:avLst/>
          </a:prstGeom>
          <a:noFill/>
          <a:ln/>
        </p:spPr>
        <p:txBody>
          <a:bodyPr wrap="square" lIns="0" tIns="0" rIns="0" bIns="0" rtlCol="0" anchor="ctr"/>
          <a:lstStyle/>
          <a:p>
            <a:pPr marL="0" indent="0" algn="ctr">
              <a:buNone/>
            </a:pPr>
            <a:r>
              <a:rPr lang="en-US" sz="1000" b="1" dirty="0">
                <a:solidFill>
                  <a:srgbClr val="1F2937"/>
                </a:solidFill>
              </a:rPr>
              <a:t>2020</a:t>
            </a:r>
            <a:endParaRPr lang="en-US" sz="1000" dirty="0"/>
          </a:p>
        </p:txBody>
      </p:sp>
      <p:sp>
        <p:nvSpPr>
          <p:cNvPr id="27" name="Text 25"/>
          <p:cNvSpPr/>
          <p:nvPr/>
        </p:nvSpPr>
        <p:spPr>
          <a:xfrm>
            <a:off x="3063240" y="4983480"/>
            <a:ext cx="1554480" cy="384048"/>
          </a:xfrm>
          <a:prstGeom prst="rect">
            <a:avLst/>
          </a:prstGeom>
          <a:noFill/>
          <a:ln/>
        </p:spPr>
        <p:txBody>
          <a:bodyPr wrap="square" lIns="0" tIns="0" rIns="0" bIns="0" rtlCol="0" anchor="ctr"/>
          <a:lstStyle/>
          <a:p>
            <a:pPr marL="0" indent="0" algn="ctr">
              <a:buNone/>
            </a:pPr>
            <a:r>
              <a:rPr lang="en-US" sz="880" dirty="0">
                <a:solidFill>
                  <a:srgbClr val="5F6B76"/>
                </a:solidFill>
              </a:rPr>
              <a:t>Digital acceleration</a:t>
            </a:r>
            <a:endParaRPr lang="en-US" sz="880" dirty="0"/>
          </a:p>
        </p:txBody>
      </p:sp>
      <p:sp>
        <p:nvSpPr>
          <p:cNvPr id="28" name="Shape 26"/>
          <p:cNvSpPr/>
          <p:nvPr/>
        </p:nvSpPr>
        <p:spPr>
          <a:xfrm>
            <a:off x="6409944" y="4398264"/>
            <a:ext cx="164592" cy="164592"/>
          </a:xfrm>
          <a:prstGeom prst="ellipse">
            <a:avLst/>
          </a:prstGeom>
          <a:solidFill>
            <a:srgbClr val="C94A4A"/>
          </a:solidFill>
          <a:ln w="12700">
            <a:solidFill>
              <a:srgbClr val="C94A4A"/>
            </a:solidFill>
            <a:prstDash val="solid"/>
          </a:ln>
        </p:spPr>
        <p:txBody>
          <a:bodyPr/>
          <a:lstStyle/>
          <a:p>
            <a:endParaRPr lang="LID4096"/>
          </a:p>
        </p:txBody>
      </p:sp>
      <p:sp>
        <p:nvSpPr>
          <p:cNvPr id="29" name="Text 27"/>
          <p:cNvSpPr/>
          <p:nvPr/>
        </p:nvSpPr>
        <p:spPr>
          <a:xfrm>
            <a:off x="6172200" y="4690872"/>
            <a:ext cx="640080" cy="182880"/>
          </a:xfrm>
          <a:prstGeom prst="rect">
            <a:avLst/>
          </a:prstGeom>
          <a:noFill/>
          <a:ln/>
        </p:spPr>
        <p:txBody>
          <a:bodyPr wrap="square" lIns="0" tIns="0" rIns="0" bIns="0" rtlCol="0" anchor="ctr"/>
          <a:lstStyle/>
          <a:p>
            <a:pPr marL="0" indent="0" algn="ctr">
              <a:buNone/>
            </a:pPr>
            <a:r>
              <a:rPr lang="en-US" sz="1000" b="1" dirty="0">
                <a:solidFill>
                  <a:srgbClr val="1F2937"/>
                </a:solidFill>
              </a:rPr>
              <a:t>2022</a:t>
            </a:r>
            <a:endParaRPr lang="en-US" sz="1000" dirty="0"/>
          </a:p>
        </p:txBody>
      </p:sp>
      <p:sp>
        <p:nvSpPr>
          <p:cNvPr id="30" name="Text 28"/>
          <p:cNvSpPr/>
          <p:nvPr/>
        </p:nvSpPr>
        <p:spPr>
          <a:xfrm>
            <a:off x="5715000" y="4983480"/>
            <a:ext cx="1554480" cy="384048"/>
          </a:xfrm>
          <a:prstGeom prst="rect">
            <a:avLst/>
          </a:prstGeom>
          <a:noFill/>
          <a:ln/>
        </p:spPr>
        <p:txBody>
          <a:bodyPr wrap="square" lIns="0" tIns="0" rIns="0" bIns="0" rtlCol="0" anchor="ctr"/>
          <a:lstStyle/>
          <a:p>
            <a:pPr marL="0" indent="0" algn="ctr">
              <a:buNone/>
            </a:pPr>
            <a:r>
              <a:rPr lang="en-US" sz="880" dirty="0">
                <a:solidFill>
                  <a:srgbClr val="5F6B76"/>
                </a:solidFill>
              </a:rPr>
              <a:t>Inflation / normalization</a:t>
            </a:r>
            <a:endParaRPr lang="en-US" sz="880" dirty="0"/>
          </a:p>
        </p:txBody>
      </p:sp>
      <p:sp>
        <p:nvSpPr>
          <p:cNvPr id="31" name="Shape 29"/>
          <p:cNvSpPr/>
          <p:nvPr/>
        </p:nvSpPr>
        <p:spPr>
          <a:xfrm>
            <a:off x="9381744" y="4398264"/>
            <a:ext cx="164592" cy="164592"/>
          </a:xfrm>
          <a:prstGeom prst="ellipse">
            <a:avLst/>
          </a:prstGeom>
          <a:solidFill>
            <a:srgbClr val="0B7A75"/>
          </a:solidFill>
          <a:ln w="12700">
            <a:solidFill>
              <a:srgbClr val="0B7A75"/>
            </a:solidFill>
            <a:prstDash val="solid"/>
          </a:ln>
        </p:spPr>
        <p:txBody>
          <a:bodyPr/>
          <a:lstStyle/>
          <a:p>
            <a:endParaRPr lang="LID4096"/>
          </a:p>
        </p:txBody>
      </p:sp>
      <p:sp>
        <p:nvSpPr>
          <p:cNvPr id="32" name="Text 30"/>
          <p:cNvSpPr/>
          <p:nvPr/>
        </p:nvSpPr>
        <p:spPr>
          <a:xfrm>
            <a:off x="9144000" y="4690872"/>
            <a:ext cx="640080" cy="182880"/>
          </a:xfrm>
          <a:prstGeom prst="rect">
            <a:avLst/>
          </a:prstGeom>
          <a:noFill/>
          <a:ln/>
        </p:spPr>
        <p:txBody>
          <a:bodyPr wrap="square" lIns="0" tIns="0" rIns="0" bIns="0" rtlCol="0" anchor="ctr"/>
          <a:lstStyle/>
          <a:p>
            <a:pPr marL="0" indent="0" algn="ctr">
              <a:buNone/>
            </a:pPr>
            <a:r>
              <a:rPr lang="en-US" sz="1000" b="1" dirty="0">
                <a:solidFill>
                  <a:srgbClr val="1F2937"/>
                </a:solidFill>
              </a:rPr>
              <a:t>2025</a:t>
            </a:r>
            <a:endParaRPr lang="en-US" sz="1000" dirty="0"/>
          </a:p>
        </p:txBody>
      </p:sp>
      <p:sp>
        <p:nvSpPr>
          <p:cNvPr id="33" name="Text 31"/>
          <p:cNvSpPr/>
          <p:nvPr/>
        </p:nvSpPr>
        <p:spPr>
          <a:xfrm>
            <a:off x="8686800" y="4983480"/>
            <a:ext cx="1554480" cy="384048"/>
          </a:xfrm>
          <a:prstGeom prst="rect">
            <a:avLst/>
          </a:prstGeom>
          <a:noFill/>
          <a:ln/>
        </p:spPr>
        <p:txBody>
          <a:bodyPr wrap="square" lIns="0" tIns="0" rIns="0" bIns="0" rtlCol="0" anchor="ctr"/>
          <a:lstStyle/>
          <a:p>
            <a:pPr marL="0" indent="0" algn="ctr">
              <a:buNone/>
            </a:pPr>
            <a:r>
              <a:rPr lang="en-US" sz="880" dirty="0">
                <a:solidFill>
                  <a:srgbClr val="5F6B76"/>
                </a:solidFill>
              </a:rPr>
              <a:t>Mature phase</a:t>
            </a:r>
            <a:endParaRPr lang="en-US" sz="880" dirty="0"/>
          </a:p>
        </p:txBody>
      </p:sp>
      <p:sp>
        <p:nvSpPr>
          <p:cNvPr id="34" name="Shape 32"/>
          <p:cNvSpPr/>
          <p:nvPr/>
        </p:nvSpPr>
        <p:spPr>
          <a:xfrm>
            <a:off x="960120" y="5660135"/>
            <a:ext cx="10241280" cy="693899"/>
          </a:xfrm>
          <a:prstGeom prst="roundRect">
            <a:avLst>
              <a:gd name="adj" fmla="val 9677"/>
            </a:avLst>
          </a:prstGeom>
          <a:solidFill>
            <a:srgbClr val="FFFFFF"/>
          </a:solidFill>
          <a:ln w="12700">
            <a:solidFill>
              <a:srgbClr val="D9E1E8"/>
            </a:solidFill>
            <a:prstDash val="solid"/>
          </a:ln>
        </p:spPr>
        <p:txBody>
          <a:bodyPr/>
          <a:lstStyle/>
          <a:p>
            <a:endParaRPr lang="LID4096"/>
          </a:p>
        </p:txBody>
      </p:sp>
      <p:sp>
        <p:nvSpPr>
          <p:cNvPr id="35" name="Shape 33"/>
          <p:cNvSpPr/>
          <p:nvPr/>
        </p:nvSpPr>
        <p:spPr>
          <a:xfrm>
            <a:off x="1124712" y="5724144"/>
            <a:ext cx="292608" cy="292608"/>
          </a:xfrm>
          <a:prstGeom prst="roundRect">
            <a:avLst>
              <a:gd name="adj" fmla="val 25000"/>
            </a:avLst>
          </a:prstGeom>
          <a:solidFill>
            <a:srgbClr val="123B5D"/>
          </a:solidFill>
          <a:ln w="12700">
            <a:solidFill>
              <a:srgbClr val="123B5D"/>
            </a:solidFill>
            <a:prstDash val="solid"/>
          </a:ln>
        </p:spPr>
        <p:txBody>
          <a:bodyPr/>
          <a:lstStyle/>
          <a:p>
            <a:endParaRPr lang="LID4096"/>
          </a:p>
        </p:txBody>
      </p:sp>
      <p:sp>
        <p:nvSpPr>
          <p:cNvPr id="36" name="Text 34"/>
          <p:cNvSpPr/>
          <p:nvPr/>
        </p:nvSpPr>
        <p:spPr>
          <a:xfrm>
            <a:off x="1193292" y="5756148"/>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37" name="Text 35"/>
          <p:cNvSpPr/>
          <p:nvPr/>
        </p:nvSpPr>
        <p:spPr>
          <a:xfrm>
            <a:off x="1527048" y="5705856"/>
            <a:ext cx="9509760" cy="274320"/>
          </a:xfrm>
          <a:prstGeom prst="rect">
            <a:avLst/>
          </a:prstGeom>
          <a:noFill/>
          <a:ln/>
        </p:spPr>
        <p:txBody>
          <a:bodyPr wrap="square" lIns="0" tIns="0" rIns="0" bIns="0" rtlCol="0" anchor="ctr"/>
          <a:lstStyle/>
          <a:p>
            <a:pPr marL="0" indent="0">
              <a:buNone/>
            </a:pPr>
            <a:r>
              <a:rPr lang="en-US" sz="1200" b="1" dirty="0">
                <a:solidFill>
                  <a:srgbClr val="1F2937"/>
                </a:solidFill>
              </a:rPr>
              <a:t>What decision-makers should understand</a:t>
            </a:r>
            <a:endParaRPr lang="en-US" sz="1200" dirty="0"/>
          </a:p>
        </p:txBody>
      </p:sp>
      <p:sp>
        <p:nvSpPr>
          <p:cNvPr id="38" name="Text 36"/>
          <p:cNvSpPr/>
          <p:nvPr/>
        </p:nvSpPr>
        <p:spPr>
          <a:xfrm>
            <a:off x="1143000" y="6089904"/>
            <a:ext cx="9875520" cy="0"/>
          </a:xfrm>
          <a:prstGeom prst="rect">
            <a:avLst/>
          </a:prstGeom>
          <a:noFill/>
          <a:ln/>
        </p:spPr>
        <p:txBody>
          <a:bodyPr wrap="square" lIns="0" tIns="0" rIns="0" bIns="0" rtlCol="0" anchor="t"/>
          <a:lstStyle/>
          <a:p>
            <a:pPr marL="0" indent="0">
              <a:buNone/>
            </a:pPr>
            <a:r>
              <a:rPr lang="en-US" sz="920" dirty="0">
                <a:solidFill>
                  <a:srgbClr val="5F6B76"/>
                </a:solidFill>
              </a:rPr>
              <a:t>Do not use pandemic growth as the planning baseline. The sector remains structurally important, but future growth must be earned through value, experience and operational execution.</a:t>
            </a:r>
            <a:endParaRPr lang="en-US" sz="920" dirty="0"/>
          </a:p>
        </p:txBody>
      </p:sp>
      <p:sp>
        <p:nvSpPr>
          <p:cNvPr id="39"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Data and analytical design</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Strong conclusions require frequency-aware analysis and explicit treatment of shocks</a:t>
            </a:r>
            <a:endParaRPr lang="en-US" sz="1050" dirty="0"/>
          </a:p>
        </p:txBody>
      </p:sp>
      <p:sp>
        <p:nvSpPr>
          <p:cNvPr id="4" name="Shape 2"/>
          <p:cNvSpPr/>
          <p:nvPr/>
        </p:nvSpPr>
        <p:spPr>
          <a:xfrm>
            <a:off x="9829800" y="347472"/>
            <a:ext cx="1847088" cy="310896"/>
          </a:xfrm>
          <a:prstGeom prst="roundRect">
            <a:avLst>
              <a:gd name="adj" fmla="val 17647"/>
            </a:avLst>
          </a:prstGeom>
          <a:solidFill>
            <a:srgbClr val="2B6F9F"/>
          </a:solidFill>
          <a:ln w="12700">
            <a:solidFill>
              <a:srgbClr val="2B6F9F"/>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METHOD</a:t>
            </a:r>
            <a:endParaRPr lang="en-US" sz="800" dirty="0"/>
          </a:p>
        </p:txBody>
      </p:sp>
      <p:sp>
        <p:nvSpPr>
          <p:cNvPr id="6" name="Shape 4"/>
          <p:cNvSpPr/>
          <p:nvPr/>
        </p:nvSpPr>
        <p:spPr>
          <a:xfrm>
            <a:off x="594360" y="1417320"/>
            <a:ext cx="3063240" cy="2331720"/>
          </a:xfrm>
          <a:prstGeom prst="roundRect">
            <a:avLst>
              <a:gd name="adj" fmla="val 3137"/>
            </a:avLst>
          </a:prstGeom>
          <a:solidFill>
            <a:srgbClr val="FFFFFF"/>
          </a:solidFill>
          <a:ln w="12700">
            <a:solidFill>
              <a:srgbClr val="D9E1E8"/>
            </a:solidFill>
            <a:prstDash val="solid"/>
          </a:ln>
        </p:spPr>
        <p:txBody>
          <a:bodyPr/>
          <a:lstStyle/>
          <a:p>
            <a:endParaRPr lang="LID4096"/>
          </a:p>
        </p:txBody>
      </p:sp>
      <p:sp>
        <p:nvSpPr>
          <p:cNvPr id="7" name="Shape 5"/>
          <p:cNvSpPr/>
          <p:nvPr/>
        </p:nvSpPr>
        <p:spPr>
          <a:xfrm>
            <a:off x="594360" y="1417320"/>
            <a:ext cx="3063240" cy="438912"/>
          </a:xfrm>
          <a:prstGeom prst="rect">
            <a:avLst/>
          </a:prstGeom>
          <a:solidFill>
            <a:srgbClr val="2B6F9F"/>
          </a:solidFill>
          <a:ln w="12700">
            <a:solidFill>
              <a:srgbClr val="2B6F9F"/>
            </a:solidFill>
            <a:prstDash val="solid"/>
          </a:ln>
        </p:spPr>
        <p:txBody>
          <a:bodyPr/>
          <a:lstStyle/>
          <a:p>
            <a:endParaRPr lang="LID4096"/>
          </a:p>
        </p:txBody>
      </p:sp>
      <p:sp>
        <p:nvSpPr>
          <p:cNvPr id="8" name="Text 6"/>
          <p:cNvSpPr/>
          <p:nvPr/>
        </p:nvSpPr>
        <p:spPr>
          <a:xfrm>
            <a:off x="758952" y="1554480"/>
            <a:ext cx="1828800" cy="164592"/>
          </a:xfrm>
          <a:prstGeom prst="rect">
            <a:avLst/>
          </a:prstGeom>
          <a:noFill/>
          <a:ln/>
        </p:spPr>
        <p:txBody>
          <a:bodyPr wrap="square" lIns="0" tIns="0" rIns="0" bIns="0" rtlCol="0" anchor="ctr"/>
          <a:lstStyle/>
          <a:p>
            <a:pPr marL="0" indent="0">
              <a:buNone/>
            </a:pPr>
            <a:r>
              <a:rPr lang="en-US" sz="1000" b="1" dirty="0">
                <a:solidFill>
                  <a:srgbClr val="FFFFFF"/>
                </a:solidFill>
              </a:rPr>
              <a:t>ECONOMIC</a:t>
            </a:r>
            <a:endParaRPr lang="en-US" sz="1000" dirty="0"/>
          </a:p>
        </p:txBody>
      </p:sp>
      <p:sp>
        <p:nvSpPr>
          <p:cNvPr id="9" name="Text 7"/>
          <p:cNvSpPr/>
          <p:nvPr/>
        </p:nvSpPr>
        <p:spPr>
          <a:xfrm>
            <a:off x="2651760" y="1545336"/>
            <a:ext cx="777240" cy="182880"/>
          </a:xfrm>
          <a:prstGeom prst="rect">
            <a:avLst/>
          </a:prstGeom>
          <a:noFill/>
          <a:ln/>
        </p:spPr>
        <p:txBody>
          <a:bodyPr wrap="square" lIns="0" tIns="0" rIns="0" bIns="0" rtlCol="0" anchor="ctr"/>
          <a:lstStyle/>
          <a:p>
            <a:pPr marL="0" indent="0" algn="r">
              <a:buNone/>
            </a:pPr>
            <a:r>
              <a:rPr lang="en-US" sz="850" b="1" dirty="0">
                <a:solidFill>
                  <a:srgbClr val="FFFFFF"/>
                </a:solidFill>
              </a:rPr>
              <a:t>Monthly</a:t>
            </a:r>
            <a:endParaRPr lang="en-US" sz="850" dirty="0"/>
          </a:p>
        </p:txBody>
      </p:sp>
      <p:sp>
        <p:nvSpPr>
          <p:cNvPr id="10" name="Text 8"/>
          <p:cNvSpPr/>
          <p:nvPr/>
        </p:nvSpPr>
        <p:spPr>
          <a:xfrm>
            <a:off x="850392" y="2084832"/>
            <a:ext cx="2468880" cy="237744"/>
          </a:xfrm>
          <a:prstGeom prst="rect">
            <a:avLst/>
          </a:prstGeom>
          <a:noFill/>
          <a:ln/>
        </p:spPr>
        <p:txBody>
          <a:bodyPr wrap="square" lIns="0" tIns="0" rIns="0" bIns="0" rtlCol="0" anchor="ctr"/>
          <a:lstStyle/>
          <a:p>
            <a:pPr marL="0" indent="0">
              <a:buNone/>
            </a:pPr>
            <a:r>
              <a:rPr lang="en-US" sz="1030" dirty="0">
                <a:solidFill>
                  <a:srgbClr val="1F2937"/>
                </a:solidFill>
              </a:rPr>
              <a:t>• CPI inflation</a:t>
            </a:r>
            <a:endParaRPr lang="en-US" sz="1030" dirty="0"/>
          </a:p>
        </p:txBody>
      </p:sp>
      <p:sp>
        <p:nvSpPr>
          <p:cNvPr id="11" name="Text 9"/>
          <p:cNvSpPr/>
          <p:nvPr/>
        </p:nvSpPr>
        <p:spPr>
          <a:xfrm>
            <a:off x="850392" y="2478024"/>
            <a:ext cx="2468880" cy="237744"/>
          </a:xfrm>
          <a:prstGeom prst="rect">
            <a:avLst/>
          </a:prstGeom>
          <a:noFill/>
          <a:ln/>
        </p:spPr>
        <p:txBody>
          <a:bodyPr wrap="square" lIns="0" tIns="0" rIns="0" bIns="0" rtlCol="0" anchor="ctr"/>
          <a:lstStyle/>
          <a:p>
            <a:pPr marL="0" indent="0">
              <a:buNone/>
            </a:pPr>
            <a:r>
              <a:rPr lang="en-US" sz="1030" dirty="0">
                <a:solidFill>
                  <a:srgbClr val="1F2937"/>
                </a:solidFill>
              </a:rPr>
              <a:t>• Consumer confidence</a:t>
            </a:r>
            <a:endParaRPr lang="en-US" sz="1030" dirty="0"/>
          </a:p>
        </p:txBody>
      </p:sp>
      <p:sp>
        <p:nvSpPr>
          <p:cNvPr id="12" name="Text 10"/>
          <p:cNvSpPr/>
          <p:nvPr/>
        </p:nvSpPr>
        <p:spPr>
          <a:xfrm>
            <a:off x="850392" y="2871216"/>
            <a:ext cx="2468880" cy="237744"/>
          </a:xfrm>
          <a:prstGeom prst="rect">
            <a:avLst/>
          </a:prstGeom>
          <a:noFill/>
          <a:ln/>
        </p:spPr>
        <p:txBody>
          <a:bodyPr wrap="square" lIns="0" tIns="0" rIns="0" bIns="0" rtlCol="0" anchor="ctr"/>
          <a:lstStyle/>
          <a:p>
            <a:pPr marL="0" indent="0">
              <a:buNone/>
            </a:pPr>
            <a:r>
              <a:rPr lang="en-US" sz="1030" dirty="0">
                <a:solidFill>
                  <a:srgbClr val="1F2937"/>
                </a:solidFill>
              </a:rPr>
              <a:t>• HFCE</a:t>
            </a:r>
            <a:endParaRPr lang="en-US" sz="1030" dirty="0"/>
          </a:p>
        </p:txBody>
      </p:sp>
      <p:sp>
        <p:nvSpPr>
          <p:cNvPr id="13" name="Text 11"/>
          <p:cNvSpPr/>
          <p:nvPr/>
        </p:nvSpPr>
        <p:spPr>
          <a:xfrm>
            <a:off x="850392" y="3264408"/>
            <a:ext cx="2468880" cy="237744"/>
          </a:xfrm>
          <a:prstGeom prst="rect">
            <a:avLst/>
          </a:prstGeom>
          <a:noFill/>
          <a:ln/>
        </p:spPr>
        <p:txBody>
          <a:bodyPr wrap="square" lIns="0" tIns="0" rIns="0" bIns="0" rtlCol="0" anchor="ctr"/>
          <a:lstStyle/>
          <a:p>
            <a:pPr marL="0" indent="0">
              <a:buNone/>
            </a:pPr>
            <a:r>
              <a:rPr lang="en-US" sz="1030" dirty="0">
                <a:solidFill>
                  <a:srgbClr val="1F2937"/>
                </a:solidFill>
              </a:rPr>
              <a:t>• E-commerce sales</a:t>
            </a:r>
            <a:endParaRPr lang="en-US" sz="1030" dirty="0"/>
          </a:p>
        </p:txBody>
      </p:sp>
      <p:sp>
        <p:nvSpPr>
          <p:cNvPr id="14" name="Shape 12"/>
          <p:cNvSpPr/>
          <p:nvPr/>
        </p:nvSpPr>
        <p:spPr>
          <a:xfrm>
            <a:off x="4096512" y="1417320"/>
            <a:ext cx="3063240" cy="2331720"/>
          </a:xfrm>
          <a:prstGeom prst="roundRect">
            <a:avLst>
              <a:gd name="adj" fmla="val 3137"/>
            </a:avLst>
          </a:prstGeom>
          <a:solidFill>
            <a:srgbClr val="FFFFFF"/>
          </a:solidFill>
          <a:ln w="12700">
            <a:solidFill>
              <a:srgbClr val="D9E1E8"/>
            </a:solidFill>
            <a:prstDash val="solid"/>
          </a:ln>
        </p:spPr>
        <p:txBody>
          <a:bodyPr/>
          <a:lstStyle/>
          <a:p>
            <a:endParaRPr lang="LID4096"/>
          </a:p>
        </p:txBody>
      </p:sp>
      <p:sp>
        <p:nvSpPr>
          <p:cNvPr id="15" name="Shape 13"/>
          <p:cNvSpPr/>
          <p:nvPr/>
        </p:nvSpPr>
        <p:spPr>
          <a:xfrm>
            <a:off x="4096512" y="1417320"/>
            <a:ext cx="3063240" cy="438912"/>
          </a:xfrm>
          <a:prstGeom prst="rect">
            <a:avLst/>
          </a:prstGeom>
          <a:solidFill>
            <a:srgbClr val="0B7A75"/>
          </a:solidFill>
          <a:ln w="12700">
            <a:solidFill>
              <a:srgbClr val="0B7A75"/>
            </a:solidFill>
            <a:prstDash val="solid"/>
          </a:ln>
        </p:spPr>
        <p:txBody>
          <a:bodyPr/>
          <a:lstStyle/>
          <a:p>
            <a:endParaRPr lang="LID4096"/>
          </a:p>
        </p:txBody>
      </p:sp>
      <p:sp>
        <p:nvSpPr>
          <p:cNvPr id="16" name="Text 14"/>
          <p:cNvSpPr/>
          <p:nvPr/>
        </p:nvSpPr>
        <p:spPr>
          <a:xfrm>
            <a:off x="4261104" y="1554480"/>
            <a:ext cx="1828800" cy="164592"/>
          </a:xfrm>
          <a:prstGeom prst="rect">
            <a:avLst/>
          </a:prstGeom>
          <a:noFill/>
          <a:ln/>
        </p:spPr>
        <p:txBody>
          <a:bodyPr wrap="square" lIns="0" tIns="0" rIns="0" bIns="0" rtlCol="0" anchor="ctr"/>
          <a:lstStyle/>
          <a:p>
            <a:pPr marL="0" indent="0">
              <a:buNone/>
            </a:pPr>
            <a:r>
              <a:rPr lang="en-US" sz="1000" b="1" dirty="0">
                <a:solidFill>
                  <a:srgbClr val="FFFFFF"/>
                </a:solidFill>
              </a:rPr>
              <a:t>SOCIAL</a:t>
            </a:r>
            <a:endParaRPr lang="en-US" sz="1000" dirty="0"/>
          </a:p>
        </p:txBody>
      </p:sp>
      <p:sp>
        <p:nvSpPr>
          <p:cNvPr id="17" name="Text 15"/>
          <p:cNvSpPr/>
          <p:nvPr/>
        </p:nvSpPr>
        <p:spPr>
          <a:xfrm>
            <a:off x="6153912" y="1545336"/>
            <a:ext cx="777240" cy="182880"/>
          </a:xfrm>
          <a:prstGeom prst="rect">
            <a:avLst/>
          </a:prstGeom>
          <a:noFill/>
          <a:ln/>
        </p:spPr>
        <p:txBody>
          <a:bodyPr wrap="square" lIns="0" tIns="0" rIns="0" bIns="0" rtlCol="0" anchor="ctr"/>
          <a:lstStyle/>
          <a:p>
            <a:pPr marL="0" indent="0" algn="r">
              <a:buNone/>
            </a:pPr>
            <a:r>
              <a:rPr lang="en-US" sz="850" b="1" dirty="0">
                <a:solidFill>
                  <a:srgbClr val="FFFFFF"/>
                </a:solidFill>
              </a:rPr>
              <a:t>Annual</a:t>
            </a:r>
            <a:endParaRPr lang="en-US" sz="850" dirty="0"/>
          </a:p>
        </p:txBody>
      </p:sp>
      <p:sp>
        <p:nvSpPr>
          <p:cNvPr id="18" name="Text 16"/>
          <p:cNvSpPr/>
          <p:nvPr/>
        </p:nvSpPr>
        <p:spPr>
          <a:xfrm>
            <a:off x="4352544" y="2084832"/>
            <a:ext cx="2468880" cy="237744"/>
          </a:xfrm>
          <a:prstGeom prst="rect">
            <a:avLst/>
          </a:prstGeom>
          <a:noFill/>
          <a:ln/>
        </p:spPr>
        <p:txBody>
          <a:bodyPr wrap="square" lIns="0" tIns="0" rIns="0" bIns="0" rtlCol="0" anchor="ctr"/>
          <a:lstStyle/>
          <a:p>
            <a:pPr marL="0" indent="0">
              <a:buNone/>
            </a:pPr>
            <a:r>
              <a:rPr lang="en-US" sz="1030" dirty="0">
                <a:solidFill>
                  <a:srgbClr val="1F2937"/>
                </a:solidFill>
              </a:rPr>
              <a:t>• Total population</a:t>
            </a:r>
            <a:endParaRPr lang="en-US" sz="1030" dirty="0"/>
          </a:p>
        </p:txBody>
      </p:sp>
      <p:sp>
        <p:nvSpPr>
          <p:cNvPr id="19" name="Text 17"/>
          <p:cNvSpPr/>
          <p:nvPr/>
        </p:nvSpPr>
        <p:spPr>
          <a:xfrm>
            <a:off x="4352544" y="2478024"/>
            <a:ext cx="2468880" cy="237744"/>
          </a:xfrm>
          <a:prstGeom prst="rect">
            <a:avLst/>
          </a:prstGeom>
          <a:noFill/>
          <a:ln/>
        </p:spPr>
        <p:txBody>
          <a:bodyPr wrap="square" lIns="0" tIns="0" rIns="0" bIns="0" rtlCol="0" anchor="ctr"/>
          <a:lstStyle/>
          <a:p>
            <a:pPr marL="0" indent="0">
              <a:buNone/>
            </a:pPr>
            <a:r>
              <a:rPr lang="en-US" sz="1030" dirty="0">
                <a:solidFill>
                  <a:srgbClr val="1F2937"/>
                </a:solidFill>
              </a:rPr>
              <a:t>• Urban population</a:t>
            </a:r>
            <a:endParaRPr lang="en-US" sz="1030" dirty="0"/>
          </a:p>
        </p:txBody>
      </p:sp>
      <p:sp>
        <p:nvSpPr>
          <p:cNvPr id="20" name="Text 18"/>
          <p:cNvSpPr/>
          <p:nvPr/>
        </p:nvSpPr>
        <p:spPr>
          <a:xfrm>
            <a:off x="4352544" y="2871216"/>
            <a:ext cx="2468880" cy="237744"/>
          </a:xfrm>
          <a:prstGeom prst="rect">
            <a:avLst/>
          </a:prstGeom>
          <a:noFill/>
          <a:ln/>
        </p:spPr>
        <p:txBody>
          <a:bodyPr wrap="square" lIns="0" tIns="0" rIns="0" bIns="0" rtlCol="0" anchor="ctr"/>
          <a:lstStyle/>
          <a:p>
            <a:pPr marL="0" indent="0">
              <a:buNone/>
            </a:pPr>
            <a:r>
              <a:rPr lang="en-US" sz="1030" dirty="0">
                <a:solidFill>
                  <a:srgbClr val="1F2937"/>
                </a:solidFill>
              </a:rPr>
              <a:t>• Urban share</a:t>
            </a:r>
            <a:endParaRPr lang="en-US" sz="1030" dirty="0"/>
          </a:p>
        </p:txBody>
      </p:sp>
      <p:sp>
        <p:nvSpPr>
          <p:cNvPr id="21" name="Shape 19"/>
          <p:cNvSpPr/>
          <p:nvPr/>
        </p:nvSpPr>
        <p:spPr>
          <a:xfrm>
            <a:off x="7598664" y="1417320"/>
            <a:ext cx="3063240" cy="2331720"/>
          </a:xfrm>
          <a:prstGeom prst="roundRect">
            <a:avLst>
              <a:gd name="adj" fmla="val 3137"/>
            </a:avLst>
          </a:prstGeom>
          <a:solidFill>
            <a:srgbClr val="FFFFFF"/>
          </a:solidFill>
          <a:ln w="12700">
            <a:solidFill>
              <a:srgbClr val="D9E1E8"/>
            </a:solidFill>
            <a:prstDash val="solid"/>
          </a:ln>
        </p:spPr>
        <p:txBody>
          <a:bodyPr/>
          <a:lstStyle/>
          <a:p>
            <a:endParaRPr lang="LID4096"/>
          </a:p>
        </p:txBody>
      </p:sp>
      <p:sp>
        <p:nvSpPr>
          <p:cNvPr id="22" name="Shape 20"/>
          <p:cNvSpPr/>
          <p:nvPr/>
        </p:nvSpPr>
        <p:spPr>
          <a:xfrm>
            <a:off x="7598664" y="1417320"/>
            <a:ext cx="3063240" cy="438912"/>
          </a:xfrm>
          <a:prstGeom prst="rect">
            <a:avLst/>
          </a:prstGeom>
          <a:solidFill>
            <a:srgbClr val="6554C0"/>
          </a:solidFill>
          <a:ln w="12700">
            <a:solidFill>
              <a:srgbClr val="6554C0"/>
            </a:solidFill>
            <a:prstDash val="solid"/>
          </a:ln>
        </p:spPr>
        <p:txBody>
          <a:bodyPr/>
          <a:lstStyle/>
          <a:p>
            <a:endParaRPr lang="LID4096"/>
          </a:p>
        </p:txBody>
      </p:sp>
      <p:sp>
        <p:nvSpPr>
          <p:cNvPr id="23" name="Text 21"/>
          <p:cNvSpPr/>
          <p:nvPr/>
        </p:nvSpPr>
        <p:spPr>
          <a:xfrm>
            <a:off x="7763256" y="1554480"/>
            <a:ext cx="1828800" cy="164592"/>
          </a:xfrm>
          <a:prstGeom prst="rect">
            <a:avLst/>
          </a:prstGeom>
          <a:noFill/>
          <a:ln/>
        </p:spPr>
        <p:txBody>
          <a:bodyPr wrap="square" lIns="0" tIns="0" rIns="0" bIns="0" rtlCol="0" anchor="ctr"/>
          <a:lstStyle/>
          <a:p>
            <a:pPr marL="0" indent="0">
              <a:buNone/>
            </a:pPr>
            <a:r>
              <a:rPr lang="en-US" sz="1000" b="1" dirty="0">
                <a:solidFill>
                  <a:srgbClr val="FFFFFF"/>
                </a:solidFill>
              </a:rPr>
              <a:t>TECHNOLOGICAL</a:t>
            </a:r>
            <a:endParaRPr lang="en-US" sz="1000" dirty="0"/>
          </a:p>
        </p:txBody>
      </p:sp>
      <p:sp>
        <p:nvSpPr>
          <p:cNvPr id="24" name="Text 22"/>
          <p:cNvSpPr/>
          <p:nvPr/>
        </p:nvSpPr>
        <p:spPr>
          <a:xfrm>
            <a:off x="9656064" y="1545336"/>
            <a:ext cx="777240" cy="182880"/>
          </a:xfrm>
          <a:prstGeom prst="rect">
            <a:avLst/>
          </a:prstGeom>
          <a:noFill/>
          <a:ln/>
        </p:spPr>
        <p:txBody>
          <a:bodyPr wrap="square" lIns="0" tIns="0" rIns="0" bIns="0" rtlCol="0" anchor="ctr"/>
          <a:lstStyle/>
          <a:p>
            <a:pPr marL="0" indent="0" algn="r">
              <a:buNone/>
            </a:pPr>
            <a:r>
              <a:rPr lang="en-US" sz="850" b="1" dirty="0">
                <a:solidFill>
                  <a:srgbClr val="FFFFFF"/>
                </a:solidFill>
              </a:rPr>
              <a:t>Annual</a:t>
            </a:r>
            <a:endParaRPr lang="en-US" sz="850" dirty="0"/>
          </a:p>
        </p:txBody>
      </p:sp>
      <p:sp>
        <p:nvSpPr>
          <p:cNvPr id="25" name="Text 23"/>
          <p:cNvSpPr/>
          <p:nvPr/>
        </p:nvSpPr>
        <p:spPr>
          <a:xfrm>
            <a:off x="7854696" y="2084832"/>
            <a:ext cx="2468880" cy="237744"/>
          </a:xfrm>
          <a:prstGeom prst="rect">
            <a:avLst/>
          </a:prstGeom>
          <a:noFill/>
          <a:ln/>
        </p:spPr>
        <p:txBody>
          <a:bodyPr wrap="square" lIns="0" tIns="0" rIns="0" bIns="0" rtlCol="0" anchor="ctr"/>
          <a:lstStyle/>
          <a:p>
            <a:pPr marL="0" indent="0">
              <a:buNone/>
            </a:pPr>
            <a:r>
              <a:rPr lang="en-US" sz="1030" dirty="0">
                <a:solidFill>
                  <a:srgbClr val="1F2937"/>
                </a:solidFill>
              </a:rPr>
              <a:t>• Internet users</a:t>
            </a:r>
            <a:endParaRPr lang="en-US" sz="1030" dirty="0"/>
          </a:p>
        </p:txBody>
      </p:sp>
      <p:sp>
        <p:nvSpPr>
          <p:cNvPr id="26" name="Text 24"/>
          <p:cNvSpPr/>
          <p:nvPr/>
        </p:nvSpPr>
        <p:spPr>
          <a:xfrm>
            <a:off x="7854696" y="2478024"/>
            <a:ext cx="2468880" cy="237744"/>
          </a:xfrm>
          <a:prstGeom prst="rect">
            <a:avLst/>
          </a:prstGeom>
          <a:noFill/>
          <a:ln/>
        </p:spPr>
        <p:txBody>
          <a:bodyPr wrap="square" lIns="0" tIns="0" rIns="0" bIns="0" rtlCol="0" anchor="ctr"/>
          <a:lstStyle/>
          <a:p>
            <a:pPr marL="0" indent="0">
              <a:buNone/>
            </a:pPr>
            <a:r>
              <a:rPr lang="en-US" sz="1030" dirty="0">
                <a:solidFill>
                  <a:srgbClr val="1F2937"/>
                </a:solidFill>
              </a:rPr>
              <a:t>• Mobile subscriptions</a:t>
            </a:r>
            <a:endParaRPr lang="en-US" sz="1030" dirty="0"/>
          </a:p>
        </p:txBody>
      </p:sp>
      <p:sp>
        <p:nvSpPr>
          <p:cNvPr id="27" name="Text 25"/>
          <p:cNvSpPr/>
          <p:nvPr/>
        </p:nvSpPr>
        <p:spPr>
          <a:xfrm>
            <a:off x="7854696" y="2871216"/>
            <a:ext cx="2468880" cy="237744"/>
          </a:xfrm>
          <a:prstGeom prst="rect">
            <a:avLst/>
          </a:prstGeom>
          <a:noFill/>
          <a:ln/>
        </p:spPr>
        <p:txBody>
          <a:bodyPr wrap="square" lIns="0" tIns="0" rIns="0" bIns="0" rtlCol="0" anchor="ctr"/>
          <a:lstStyle/>
          <a:p>
            <a:pPr marL="0" indent="0">
              <a:buNone/>
            </a:pPr>
            <a:r>
              <a:rPr lang="en-US" sz="1030" dirty="0">
                <a:solidFill>
                  <a:srgbClr val="1F2937"/>
                </a:solidFill>
              </a:rPr>
              <a:t>• Digital maturity</a:t>
            </a:r>
            <a:endParaRPr lang="en-US" sz="1030" dirty="0"/>
          </a:p>
        </p:txBody>
      </p:sp>
      <p:sp>
        <p:nvSpPr>
          <p:cNvPr id="28" name="Text 26"/>
          <p:cNvSpPr/>
          <p:nvPr/>
        </p:nvSpPr>
        <p:spPr>
          <a:xfrm>
            <a:off x="658368" y="4160520"/>
            <a:ext cx="2194560" cy="256032"/>
          </a:xfrm>
          <a:prstGeom prst="rect">
            <a:avLst/>
          </a:prstGeom>
          <a:noFill/>
          <a:ln/>
        </p:spPr>
        <p:txBody>
          <a:bodyPr wrap="square" lIns="0" tIns="0" rIns="0" bIns="0" rtlCol="0" anchor="ctr"/>
          <a:lstStyle/>
          <a:p>
            <a:pPr marL="0" indent="0">
              <a:buNone/>
            </a:pPr>
            <a:r>
              <a:rPr lang="en-US" sz="1400" b="1" dirty="0">
                <a:solidFill>
                  <a:srgbClr val="1F2937"/>
                </a:solidFill>
              </a:rPr>
              <a:t>Analytical safeguards</a:t>
            </a:r>
            <a:endParaRPr lang="en-US" sz="1400" dirty="0"/>
          </a:p>
        </p:txBody>
      </p:sp>
      <p:sp>
        <p:nvSpPr>
          <p:cNvPr id="29" name="Shape 27"/>
          <p:cNvSpPr/>
          <p:nvPr/>
        </p:nvSpPr>
        <p:spPr>
          <a:xfrm>
            <a:off x="658368" y="4572000"/>
            <a:ext cx="384048" cy="384048"/>
          </a:xfrm>
          <a:prstGeom prst="ellipse">
            <a:avLst/>
          </a:prstGeom>
          <a:solidFill>
            <a:srgbClr val="123B5D"/>
          </a:solidFill>
          <a:ln w="12700">
            <a:solidFill>
              <a:srgbClr val="123B5D"/>
            </a:solidFill>
            <a:prstDash val="solid"/>
          </a:ln>
        </p:spPr>
        <p:txBody>
          <a:bodyPr/>
          <a:lstStyle/>
          <a:p>
            <a:endParaRPr lang="LID4096"/>
          </a:p>
        </p:txBody>
      </p:sp>
      <p:sp>
        <p:nvSpPr>
          <p:cNvPr id="30" name="Text 28"/>
          <p:cNvSpPr/>
          <p:nvPr/>
        </p:nvSpPr>
        <p:spPr>
          <a:xfrm>
            <a:off x="658368" y="4663440"/>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31" name="Text 29"/>
          <p:cNvSpPr/>
          <p:nvPr/>
        </p:nvSpPr>
        <p:spPr>
          <a:xfrm>
            <a:off x="1161288" y="4562856"/>
            <a:ext cx="1417320" cy="201168"/>
          </a:xfrm>
          <a:prstGeom prst="rect">
            <a:avLst/>
          </a:prstGeom>
          <a:noFill/>
          <a:ln/>
        </p:spPr>
        <p:txBody>
          <a:bodyPr wrap="square" lIns="0" tIns="0" rIns="0" bIns="0" rtlCol="0" anchor="ctr"/>
          <a:lstStyle/>
          <a:p>
            <a:pPr marL="0" indent="0">
              <a:buNone/>
            </a:pPr>
            <a:r>
              <a:rPr lang="en-US" sz="1050" b="1" dirty="0">
                <a:solidFill>
                  <a:srgbClr val="1F2937"/>
                </a:solidFill>
              </a:rPr>
              <a:t>Mixed frequency</a:t>
            </a:r>
            <a:endParaRPr lang="en-US" sz="1050" dirty="0"/>
          </a:p>
        </p:txBody>
      </p:sp>
      <p:sp>
        <p:nvSpPr>
          <p:cNvPr id="32" name="Text 30"/>
          <p:cNvSpPr/>
          <p:nvPr/>
        </p:nvSpPr>
        <p:spPr>
          <a:xfrm>
            <a:off x="2532888" y="4553712"/>
            <a:ext cx="3200400" cy="512064"/>
          </a:xfrm>
          <a:prstGeom prst="rect">
            <a:avLst/>
          </a:prstGeom>
          <a:noFill/>
          <a:ln/>
        </p:spPr>
        <p:txBody>
          <a:bodyPr wrap="square" lIns="0" tIns="0" rIns="0" bIns="0" rtlCol="0" anchor="ctr"/>
          <a:lstStyle/>
          <a:p>
            <a:pPr marL="0" indent="0">
              <a:buNone/>
            </a:pPr>
            <a:r>
              <a:rPr lang="en-US" sz="860" dirty="0">
                <a:solidFill>
                  <a:srgbClr val="5F6B76"/>
                </a:solidFill>
              </a:rPr>
              <a:t>Annual Social/Technology indicators were collapsed back to one observation per year for statistical interpretation.</a:t>
            </a:r>
            <a:endParaRPr lang="en-US" sz="860" dirty="0"/>
          </a:p>
        </p:txBody>
      </p:sp>
      <p:sp>
        <p:nvSpPr>
          <p:cNvPr id="33" name="Shape 31"/>
          <p:cNvSpPr/>
          <p:nvPr/>
        </p:nvSpPr>
        <p:spPr>
          <a:xfrm>
            <a:off x="6190488" y="4572000"/>
            <a:ext cx="384048" cy="384048"/>
          </a:xfrm>
          <a:prstGeom prst="ellipse">
            <a:avLst/>
          </a:prstGeom>
          <a:solidFill>
            <a:srgbClr val="123B5D"/>
          </a:solidFill>
          <a:ln w="12700">
            <a:solidFill>
              <a:srgbClr val="123B5D"/>
            </a:solidFill>
            <a:prstDash val="solid"/>
          </a:ln>
        </p:spPr>
        <p:txBody>
          <a:bodyPr/>
          <a:lstStyle/>
          <a:p>
            <a:endParaRPr lang="LID4096"/>
          </a:p>
        </p:txBody>
      </p:sp>
      <p:sp>
        <p:nvSpPr>
          <p:cNvPr id="34" name="Text 32"/>
          <p:cNvSpPr/>
          <p:nvPr/>
        </p:nvSpPr>
        <p:spPr>
          <a:xfrm>
            <a:off x="6190488" y="4663440"/>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35" name="Text 33"/>
          <p:cNvSpPr/>
          <p:nvPr/>
        </p:nvSpPr>
        <p:spPr>
          <a:xfrm>
            <a:off x="6693408" y="4562856"/>
            <a:ext cx="1417320" cy="201168"/>
          </a:xfrm>
          <a:prstGeom prst="rect">
            <a:avLst/>
          </a:prstGeom>
          <a:noFill/>
          <a:ln/>
        </p:spPr>
        <p:txBody>
          <a:bodyPr wrap="square" lIns="0" tIns="0" rIns="0" bIns="0" rtlCol="0" anchor="ctr"/>
          <a:lstStyle/>
          <a:p>
            <a:pPr marL="0" indent="0">
              <a:buNone/>
            </a:pPr>
            <a:r>
              <a:rPr lang="en-US" sz="1050" b="1" dirty="0">
                <a:solidFill>
                  <a:srgbClr val="1F2937"/>
                </a:solidFill>
              </a:rPr>
              <a:t>Outliers</a:t>
            </a:r>
            <a:endParaRPr lang="en-US" sz="1050" dirty="0"/>
          </a:p>
        </p:txBody>
      </p:sp>
      <p:sp>
        <p:nvSpPr>
          <p:cNvPr id="36" name="Text 34"/>
          <p:cNvSpPr/>
          <p:nvPr/>
        </p:nvSpPr>
        <p:spPr>
          <a:xfrm>
            <a:off x="8065008" y="4553712"/>
            <a:ext cx="3200400" cy="512064"/>
          </a:xfrm>
          <a:prstGeom prst="rect">
            <a:avLst/>
          </a:prstGeom>
          <a:noFill/>
          <a:ln/>
        </p:spPr>
        <p:txBody>
          <a:bodyPr wrap="square" lIns="0" tIns="0" rIns="0" bIns="0" rtlCol="0" anchor="ctr"/>
          <a:lstStyle/>
          <a:p>
            <a:pPr marL="0" indent="0">
              <a:buNone/>
            </a:pPr>
            <a:r>
              <a:rPr lang="en-US" sz="860" dirty="0">
                <a:solidFill>
                  <a:srgbClr val="5F6B76"/>
                </a:solidFill>
              </a:rPr>
              <a:t>Pandemic and inflation extremes were retained as real environmental shocks rather than deleted mechanically.</a:t>
            </a:r>
            <a:endParaRPr lang="en-US" sz="860" dirty="0"/>
          </a:p>
        </p:txBody>
      </p:sp>
      <p:sp>
        <p:nvSpPr>
          <p:cNvPr id="37" name="Shape 35"/>
          <p:cNvSpPr/>
          <p:nvPr/>
        </p:nvSpPr>
        <p:spPr>
          <a:xfrm>
            <a:off x="658368" y="5321808"/>
            <a:ext cx="384048" cy="384048"/>
          </a:xfrm>
          <a:prstGeom prst="ellipse">
            <a:avLst/>
          </a:prstGeom>
          <a:solidFill>
            <a:srgbClr val="123B5D"/>
          </a:solidFill>
          <a:ln w="12700">
            <a:solidFill>
              <a:srgbClr val="123B5D"/>
            </a:solidFill>
            <a:prstDash val="solid"/>
          </a:ln>
        </p:spPr>
        <p:txBody>
          <a:bodyPr/>
          <a:lstStyle/>
          <a:p>
            <a:endParaRPr lang="LID4096"/>
          </a:p>
        </p:txBody>
      </p:sp>
      <p:sp>
        <p:nvSpPr>
          <p:cNvPr id="38" name="Text 36"/>
          <p:cNvSpPr/>
          <p:nvPr/>
        </p:nvSpPr>
        <p:spPr>
          <a:xfrm>
            <a:off x="658368" y="5413248"/>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39" name="Text 37"/>
          <p:cNvSpPr/>
          <p:nvPr/>
        </p:nvSpPr>
        <p:spPr>
          <a:xfrm>
            <a:off x="1161288" y="5312664"/>
            <a:ext cx="1417320" cy="201168"/>
          </a:xfrm>
          <a:prstGeom prst="rect">
            <a:avLst/>
          </a:prstGeom>
          <a:noFill/>
          <a:ln/>
        </p:spPr>
        <p:txBody>
          <a:bodyPr wrap="square" lIns="0" tIns="0" rIns="0" bIns="0" rtlCol="0" anchor="ctr"/>
          <a:lstStyle/>
          <a:p>
            <a:pPr marL="0" indent="0">
              <a:buNone/>
            </a:pPr>
            <a:r>
              <a:rPr lang="en-US" sz="1050" b="1" dirty="0">
                <a:solidFill>
                  <a:srgbClr val="1F2937"/>
                </a:solidFill>
              </a:rPr>
              <a:t>Common trends</a:t>
            </a:r>
            <a:endParaRPr lang="en-US" sz="1050" dirty="0"/>
          </a:p>
        </p:txBody>
      </p:sp>
      <p:sp>
        <p:nvSpPr>
          <p:cNvPr id="40" name="Text 38"/>
          <p:cNvSpPr/>
          <p:nvPr/>
        </p:nvSpPr>
        <p:spPr>
          <a:xfrm>
            <a:off x="2532888" y="5303520"/>
            <a:ext cx="3200400" cy="512064"/>
          </a:xfrm>
          <a:prstGeom prst="rect">
            <a:avLst/>
          </a:prstGeom>
          <a:noFill/>
          <a:ln/>
        </p:spPr>
        <p:txBody>
          <a:bodyPr wrap="square" lIns="0" tIns="0" rIns="0" bIns="0" rtlCol="0" anchor="ctr"/>
          <a:lstStyle/>
          <a:p>
            <a:pPr marL="0" indent="0">
              <a:buNone/>
            </a:pPr>
            <a:r>
              <a:rPr lang="en-US" sz="860" dirty="0">
                <a:solidFill>
                  <a:srgbClr val="5F6B76"/>
                </a:solidFill>
              </a:rPr>
              <a:t>Growth rates were emphasized to avoid misleading correlations among variables that simply trend upward over time.</a:t>
            </a:r>
            <a:endParaRPr lang="en-US" sz="860" dirty="0"/>
          </a:p>
        </p:txBody>
      </p:sp>
      <p:sp>
        <p:nvSpPr>
          <p:cNvPr id="41" name="Shape 39"/>
          <p:cNvSpPr/>
          <p:nvPr/>
        </p:nvSpPr>
        <p:spPr>
          <a:xfrm>
            <a:off x="6190488" y="5321808"/>
            <a:ext cx="384048" cy="384048"/>
          </a:xfrm>
          <a:prstGeom prst="ellipse">
            <a:avLst/>
          </a:prstGeom>
          <a:solidFill>
            <a:srgbClr val="123B5D"/>
          </a:solidFill>
          <a:ln w="12700">
            <a:solidFill>
              <a:srgbClr val="123B5D"/>
            </a:solidFill>
            <a:prstDash val="solid"/>
          </a:ln>
        </p:spPr>
        <p:txBody>
          <a:bodyPr/>
          <a:lstStyle/>
          <a:p>
            <a:endParaRPr lang="LID4096"/>
          </a:p>
        </p:txBody>
      </p:sp>
      <p:sp>
        <p:nvSpPr>
          <p:cNvPr id="42" name="Text 40"/>
          <p:cNvSpPr/>
          <p:nvPr/>
        </p:nvSpPr>
        <p:spPr>
          <a:xfrm>
            <a:off x="6190488" y="5413248"/>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43" name="Text 41"/>
          <p:cNvSpPr/>
          <p:nvPr/>
        </p:nvSpPr>
        <p:spPr>
          <a:xfrm>
            <a:off x="6693408" y="5312664"/>
            <a:ext cx="1417320" cy="201168"/>
          </a:xfrm>
          <a:prstGeom prst="rect">
            <a:avLst/>
          </a:prstGeom>
          <a:noFill/>
          <a:ln/>
        </p:spPr>
        <p:txBody>
          <a:bodyPr wrap="square" lIns="0" tIns="0" rIns="0" bIns="0" rtlCol="0" anchor="ctr"/>
          <a:lstStyle/>
          <a:p>
            <a:pPr marL="0" indent="0">
              <a:buNone/>
            </a:pPr>
            <a:r>
              <a:rPr lang="en-US" sz="1050" b="1" dirty="0">
                <a:solidFill>
                  <a:srgbClr val="1F2937"/>
                </a:solidFill>
              </a:rPr>
              <a:t>Inference</a:t>
            </a:r>
            <a:endParaRPr lang="en-US" sz="1050" dirty="0"/>
          </a:p>
        </p:txBody>
      </p:sp>
      <p:sp>
        <p:nvSpPr>
          <p:cNvPr id="44" name="Text 42"/>
          <p:cNvSpPr/>
          <p:nvPr/>
        </p:nvSpPr>
        <p:spPr>
          <a:xfrm>
            <a:off x="8065008" y="5303520"/>
            <a:ext cx="3200400" cy="512064"/>
          </a:xfrm>
          <a:prstGeom prst="rect">
            <a:avLst/>
          </a:prstGeom>
          <a:noFill/>
          <a:ln/>
        </p:spPr>
        <p:txBody>
          <a:bodyPr wrap="square" lIns="0" tIns="0" rIns="0" bIns="0" rtlCol="0" anchor="ctr"/>
          <a:lstStyle/>
          <a:p>
            <a:pPr marL="0" indent="0">
              <a:buNone/>
            </a:pPr>
            <a:r>
              <a:rPr lang="en-US" sz="860" dirty="0">
                <a:solidFill>
                  <a:srgbClr val="5F6B76"/>
                </a:solidFill>
              </a:rPr>
              <a:t>Spearman, non-parametric tests and HAC/Newey–West regression were used when assumptions required more robust treatment.</a:t>
            </a:r>
            <a:endParaRPr lang="en-US" sz="860" dirty="0"/>
          </a:p>
        </p:txBody>
      </p:sp>
      <p:sp>
        <p:nvSpPr>
          <p:cNvPr id="45" name="Text 43"/>
          <p:cNvSpPr/>
          <p:nvPr/>
        </p:nvSpPr>
        <p:spPr>
          <a:xfrm>
            <a:off x="566928" y="6291072"/>
            <a:ext cx="10881360" cy="164592"/>
          </a:xfrm>
          <a:prstGeom prst="rect">
            <a:avLst/>
          </a:prstGeom>
          <a:noFill/>
          <a:ln/>
        </p:spPr>
        <p:txBody>
          <a:bodyPr wrap="square" lIns="0" tIns="0" rIns="0" bIns="0" rtlCol="0" anchor="ctr"/>
          <a:lstStyle/>
          <a:p>
            <a:pPr marL="0" indent="0">
              <a:buNone/>
            </a:pPr>
            <a:r>
              <a:rPr lang="en-US" sz="650" i="1" dirty="0">
                <a:solidFill>
                  <a:srgbClr val="87919B"/>
                </a:solidFill>
              </a:rPr>
              <a:t>Sources: Statistics Canada; Bank of Canada; OECD; World Bank / ITU; monthly HFCE series documented in Part 1.</a:t>
            </a:r>
            <a:endParaRPr lang="en-US" sz="650" dirty="0"/>
          </a:p>
        </p:txBody>
      </p:sp>
      <p:sp>
        <p:nvSpPr>
          <p:cNvPr id="46"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Canadian e-commerce expanded structurally — but not smoothly</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Annual sales nearly quadrupled, while growth moved through very different regimes</a:t>
            </a:r>
            <a:endParaRPr lang="en-US" sz="1050" dirty="0"/>
          </a:p>
        </p:txBody>
      </p:sp>
      <p:sp>
        <p:nvSpPr>
          <p:cNvPr id="4" name="Shape 2"/>
          <p:cNvSpPr/>
          <p:nvPr/>
        </p:nvSpPr>
        <p:spPr>
          <a:xfrm>
            <a:off x="9829800" y="347472"/>
            <a:ext cx="1847088" cy="310896"/>
          </a:xfrm>
          <a:prstGeom prst="roundRect">
            <a:avLst>
              <a:gd name="adj" fmla="val 17647"/>
            </a:avLst>
          </a:prstGeom>
          <a:solidFill>
            <a:srgbClr val="2B6F9F"/>
          </a:solidFill>
          <a:ln w="12700">
            <a:solidFill>
              <a:srgbClr val="2B6F9F"/>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SECTOR TREND</a:t>
            </a:r>
            <a:endParaRPr lang="en-US" sz="800" dirty="0"/>
          </a:p>
        </p:txBody>
      </p:sp>
      <p:graphicFrame>
        <p:nvGraphicFramePr>
          <p:cNvPr id="6" name="Chart 0"/>
          <p:cNvGraphicFramePr/>
          <p:nvPr/>
        </p:nvGraphicFramePr>
        <p:xfrm>
          <a:off x="640080" y="1325880"/>
          <a:ext cx="649224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1147780" y="1481328"/>
            <a:ext cx="3108960" cy="274320"/>
          </a:xfrm>
          <a:prstGeom prst="rect">
            <a:avLst/>
          </a:prstGeom>
          <a:noFill/>
          <a:ln/>
        </p:spPr>
        <p:txBody>
          <a:bodyPr wrap="square" lIns="0" tIns="0" rIns="0" bIns="0" rtlCol="0" anchor="ctr"/>
          <a:lstStyle/>
          <a:p>
            <a:pPr marL="0" indent="0">
              <a:buNone/>
            </a:pPr>
            <a:r>
              <a:rPr lang="en-US" sz="1200" b="1" dirty="0">
                <a:solidFill>
                  <a:srgbClr val="1F2937"/>
                </a:solidFill>
              </a:rPr>
              <a:t>Annual e-commerce sales (CAD billions)</a:t>
            </a:r>
            <a:endParaRPr lang="en-US" sz="1200" dirty="0"/>
          </a:p>
        </p:txBody>
      </p:sp>
      <p:sp>
        <p:nvSpPr>
          <p:cNvPr id="8" name="Shape 5"/>
          <p:cNvSpPr/>
          <p:nvPr/>
        </p:nvSpPr>
        <p:spPr>
          <a:xfrm>
            <a:off x="7479792" y="1353312"/>
            <a:ext cx="1920240" cy="1097280"/>
          </a:xfrm>
          <a:prstGeom prst="roundRect">
            <a:avLst>
              <a:gd name="adj" fmla="val 666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9" name="Shape 6"/>
          <p:cNvSpPr/>
          <p:nvPr/>
        </p:nvSpPr>
        <p:spPr>
          <a:xfrm>
            <a:off x="7479792" y="1353312"/>
            <a:ext cx="73152" cy="1097280"/>
          </a:xfrm>
          <a:prstGeom prst="rect">
            <a:avLst/>
          </a:prstGeom>
          <a:solidFill>
            <a:srgbClr val="2B6F9F"/>
          </a:solidFill>
          <a:ln w="12700">
            <a:solidFill>
              <a:srgbClr val="2B6F9F"/>
            </a:solidFill>
            <a:prstDash val="solid"/>
          </a:ln>
        </p:spPr>
        <p:txBody>
          <a:bodyPr/>
          <a:lstStyle/>
          <a:p>
            <a:endParaRPr lang="LID4096"/>
          </a:p>
        </p:txBody>
      </p:sp>
      <p:sp>
        <p:nvSpPr>
          <p:cNvPr id="10" name="Text 7"/>
          <p:cNvSpPr/>
          <p:nvPr/>
        </p:nvSpPr>
        <p:spPr>
          <a:xfrm>
            <a:off x="7699248" y="1554480"/>
            <a:ext cx="1600200" cy="384048"/>
          </a:xfrm>
          <a:prstGeom prst="rect">
            <a:avLst/>
          </a:prstGeom>
          <a:noFill/>
          <a:ln/>
        </p:spPr>
        <p:txBody>
          <a:bodyPr wrap="square" lIns="0" tIns="0" rIns="0" bIns="0" rtlCol="0" anchor="ctr"/>
          <a:lstStyle/>
          <a:p>
            <a:pPr marL="0" indent="0">
              <a:buNone/>
            </a:pPr>
            <a:r>
              <a:rPr lang="en-US" sz="2200" b="1" dirty="0">
                <a:solidFill>
                  <a:srgbClr val="1F2937"/>
                </a:solidFill>
              </a:rPr>
              <a:t>$15.76B</a:t>
            </a:r>
            <a:endParaRPr lang="en-US" sz="2200" dirty="0"/>
          </a:p>
        </p:txBody>
      </p:sp>
      <p:sp>
        <p:nvSpPr>
          <p:cNvPr id="11" name="Text 8"/>
          <p:cNvSpPr/>
          <p:nvPr/>
        </p:nvSpPr>
        <p:spPr>
          <a:xfrm>
            <a:off x="7699248" y="1975104"/>
            <a:ext cx="1600200" cy="292608"/>
          </a:xfrm>
          <a:prstGeom prst="rect">
            <a:avLst/>
          </a:prstGeom>
          <a:noFill/>
          <a:ln/>
        </p:spPr>
        <p:txBody>
          <a:bodyPr wrap="square" lIns="0" tIns="0" rIns="0" bIns="0" rtlCol="0" anchor="ctr"/>
          <a:lstStyle/>
          <a:p>
            <a:pPr marL="0" indent="0">
              <a:buNone/>
            </a:pPr>
            <a:r>
              <a:rPr lang="en-US" sz="950" dirty="0">
                <a:solidFill>
                  <a:srgbClr val="5F6B76"/>
                </a:solidFill>
              </a:rPr>
              <a:t>2017 sales</a:t>
            </a:r>
            <a:endParaRPr lang="en-US" sz="950" dirty="0"/>
          </a:p>
        </p:txBody>
      </p:sp>
      <p:sp>
        <p:nvSpPr>
          <p:cNvPr id="12" name="Shape 9"/>
          <p:cNvSpPr/>
          <p:nvPr/>
        </p:nvSpPr>
        <p:spPr>
          <a:xfrm>
            <a:off x="9582912" y="1353312"/>
            <a:ext cx="1920240" cy="1097280"/>
          </a:xfrm>
          <a:prstGeom prst="roundRect">
            <a:avLst>
              <a:gd name="adj" fmla="val 666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13" name="Shape 10"/>
          <p:cNvSpPr/>
          <p:nvPr/>
        </p:nvSpPr>
        <p:spPr>
          <a:xfrm>
            <a:off x="9582912" y="1353312"/>
            <a:ext cx="73152" cy="1097280"/>
          </a:xfrm>
          <a:prstGeom prst="rect">
            <a:avLst/>
          </a:prstGeom>
          <a:solidFill>
            <a:srgbClr val="0B7A75"/>
          </a:solidFill>
          <a:ln w="12700">
            <a:solidFill>
              <a:srgbClr val="0B7A75"/>
            </a:solidFill>
            <a:prstDash val="solid"/>
          </a:ln>
        </p:spPr>
        <p:txBody>
          <a:bodyPr/>
          <a:lstStyle/>
          <a:p>
            <a:endParaRPr lang="LID4096"/>
          </a:p>
        </p:txBody>
      </p:sp>
      <p:sp>
        <p:nvSpPr>
          <p:cNvPr id="14" name="Text 11"/>
          <p:cNvSpPr/>
          <p:nvPr/>
        </p:nvSpPr>
        <p:spPr>
          <a:xfrm>
            <a:off x="9802368" y="1554480"/>
            <a:ext cx="1600200" cy="384048"/>
          </a:xfrm>
          <a:prstGeom prst="rect">
            <a:avLst/>
          </a:prstGeom>
          <a:noFill/>
          <a:ln/>
        </p:spPr>
        <p:txBody>
          <a:bodyPr wrap="square" lIns="0" tIns="0" rIns="0" bIns="0" rtlCol="0" anchor="ctr"/>
          <a:lstStyle/>
          <a:p>
            <a:pPr marL="0" indent="0">
              <a:buNone/>
            </a:pPr>
            <a:r>
              <a:rPr lang="en-US" sz="2200" b="1" dirty="0">
                <a:solidFill>
                  <a:srgbClr val="1F2937"/>
                </a:solidFill>
              </a:rPr>
              <a:t>$59.24B</a:t>
            </a:r>
            <a:endParaRPr lang="en-US" sz="2200" dirty="0"/>
          </a:p>
        </p:txBody>
      </p:sp>
      <p:sp>
        <p:nvSpPr>
          <p:cNvPr id="15" name="Text 12"/>
          <p:cNvSpPr/>
          <p:nvPr/>
        </p:nvSpPr>
        <p:spPr>
          <a:xfrm>
            <a:off x="9802368" y="1975104"/>
            <a:ext cx="1600200" cy="292608"/>
          </a:xfrm>
          <a:prstGeom prst="rect">
            <a:avLst/>
          </a:prstGeom>
          <a:noFill/>
          <a:ln/>
        </p:spPr>
        <p:txBody>
          <a:bodyPr wrap="square" lIns="0" tIns="0" rIns="0" bIns="0" rtlCol="0" anchor="ctr"/>
          <a:lstStyle/>
          <a:p>
            <a:pPr marL="0" indent="0">
              <a:buNone/>
            </a:pPr>
            <a:r>
              <a:rPr lang="en-US" sz="950" dirty="0">
                <a:solidFill>
                  <a:srgbClr val="5F6B76"/>
                </a:solidFill>
              </a:rPr>
              <a:t>2025 sales</a:t>
            </a:r>
            <a:endParaRPr lang="en-US" sz="950" dirty="0"/>
          </a:p>
        </p:txBody>
      </p:sp>
      <p:sp>
        <p:nvSpPr>
          <p:cNvPr id="16" name="Shape 13"/>
          <p:cNvSpPr/>
          <p:nvPr/>
        </p:nvSpPr>
        <p:spPr>
          <a:xfrm>
            <a:off x="7479792" y="2670048"/>
            <a:ext cx="1920240" cy="1097280"/>
          </a:xfrm>
          <a:prstGeom prst="roundRect">
            <a:avLst>
              <a:gd name="adj" fmla="val 666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17" name="Shape 14"/>
          <p:cNvSpPr/>
          <p:nvPr/>
        </p:nvSpPr>
        <p:spPr>
          <a:xfrm>
            <a:off x="7479792" y="2670048"/>
            <a:ext cx="73152" cy="1097280"/>
          </a:xfrm>
          <a:prstGeom prst="rect">
            <a:avLst/>
          </a:prstGeom>
          <a:solidFill>
            <a:srgbClr val="6554C0"/>
          </a:solidFill>
          <a:ln w="12700">
            <a:solidFill>
              <a:srgbClr val="6554C0"/>
            </a:solidFill>
            <a:prstDash val="solid"/>
          </a:ln>
        </p:spPr>
        <p:txBody>
          <a:bodyPr/>
          <a:lstStyle/>
          <a:p>
            <a:endParaRPr lang="LID4096"/>
          </a:p>
        </p:txBody>
      </p:sp>
      <p:sp>
        <p:nvSpPr>
          <p:cNvPr id="18" name="Text 15"/>
          <p:cNvSpPr/>
          <p:nvPr/>
        </p:nvSpPr>
        <p:spPr>
          <a:xfrm>
            <a:off x="7699248" y="2871216"/>
            <a:ext cx="1600200" cy="384048"/>
          </a:xfrm>
          <a:prstGeom prst="rect">
            <a:avLst/>
          </a:prstGeom>
          <a:noFill/>
          <a:ln/>
        </p:spPr>
        <p:txBody>
          <a:bodyPr wrap="square" lIns="0" tIns="0" rIns="0" bIns="0" rtlCol="0" anchor="ctr"/>
          <a:lstStyle/>
          <a:p>
            <a:pPr marL="0" indent="0">
              <a:buNone/>
            </a:pPr>
            <a:r>
              <a:rPr lang="en-US" sz="2200" b="1" dirty="0">
                <a:solidFill>
                  <a:srgbClr val="1F2937"/>
                </a:solidFill>
              </a:rPr>
              <a:t>+276%</a:t>
            </a:r>
            <a:endParaRPr lang="en-US" sz="2200" dirty="0"/>
          </a:p>
        </p:txBody>
      </p:sp>
      <p:sp>
        <p:nvSpPr>
          <p:cNvPr id="19" name="Text 16"/>
          <p:cNvSpPr/>
          <p:nvPr/>
        </p:nvSpPr>
        <p:spPr>
          <a:xfrm>
            <a:off x="7699248" y="3291840"/>
            <a:ext cx="1600200" cy="292608"/>
          </a:xfrm>
          <a:prstGeom prst="rect">
            <a:avLst/>
          </a:prstGeom>
          <a:noFill/>
          <a:ln/>
        </p:spPr>
        <p:txBody>
          <a:bodyPr wrap="square" lIns="0" tIns="0" rIns="0" bIns="0" rtlCol="0" anchor="ctr"/>
          <a:lstStyle/>
          <a:p>
            <a:pPr marL="0" indent="0">
              <a:buNone/>
            </a:pPr>
            <a:r>
              <a:rPr lang="en-US" sz="950" dirty="0">
                <a:solidFill>
                  <a:srgbClr val="5F6B76"/>
                </a:solidFill>
              </a:rPr>
              <a:t>Overall increase</a:t>
            </a:r>
            <a:endParaRPr lang="en-US" sz="950" dirty="0"/>
          </a:p>
        </p:txBody>
      </p:sp>
      <p:sp>
        <p:nvSpPr>
          <p:cNvPr id="20" name="Shape 17"/>
          <p:cNvSpPr/>
          <p:nvPr/>
        </p:nvSpPr>
        <p:spPr>
          <a:xfrm>
            <a:off x="9582912" y="2670048"/>
            <a:ext cx="1920240" cy="1097280"/>
          </a:xfrm>
          <a:prstGeom prst="roundRect">
            <a:avLst>
              <a:gd name="adj" fmla="val 666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21" name="Shape 18"/>
          <p:cNvSpPr/>
          <p:nvPr/>
        </p:nvSpPr>
        <p:spPr>
          <a:xfrm>
            <a:off x="9582912" y="2670048"/>
            <a:ext cx="73152" cy="1097280"/>
          </a:xfrm>
          <a:prstGeom prst="rect">
            <a:avLst/>
          </a:prstGeom>
          <a:solidFill>
            <a:srgbClr val="D59E2A"/>
          </a:solidFill>
          <a:ln w="12700">
            <a:solidFill>
              <a:srgbClr val="D59E2A"/>
            </a:solidFill>
            <a:prstDash val="solid"/>
          </a:ln>
        </p:spPr>
        <p:txBody>
          <a:bodyPr/>
          <a:lstStyle/>
          <a:p>
            <a:endParaRPr lang="LID4096"/>
          </a:p>
        </p:txBody>
      </p:sp>
      <p:sp>
        <p:nvSpPr>
          <p:cNvPr id="22" name="Text 19"/>
          <p:cNvSpPr/>
          <p:nvPr/>
        </p:nvSpPr>
        <p:spPr>
          <a:xfrm>
            <a:off x="9802368" y="2871216"/>
            <a:ext cx="1600200" cy="384048"/>
          </a:xfrm>
          <a:prstGeom prst="rect">
            <a:avLst/>
          </a:prstGeom>
          <a:noFill/>
          <a:ln/>
        </p:spPr>
        <p:txBody>
          <a:bodyPr wrap="square" lIns="0" tIns="0" rIns="0" bIns="0" rtlCol="0" anchor="ctr"/>
          <a:lstStyle/>
          <a:p>
            <a:pPr marL="0" indent="0">
              <a:buNone/>
            </a:pPr>
            <a:r>
              <a:rPr lang="en-US" sz="2200" b="1" dirty="0">
                <a:solidFill>
                  <a:srgbClr val="1F2937"/>
                </a:solidFill>
              </a:rPr>
              <a:t>18.0%</a:t>
            </a:r>
            <a:endParaRPr lang="en-US" sz="2200" dirty="0"/>
          </a:p>
        </p:txBody>
      </p:sp>
      <p:sp>
        <p:nvSpPr>
          <p:cNvPr id="23" name="Text 20"/>
          <p:cNvSpPr/>
          <p:nvPr/>
        </p:nvSpPr>
        <p:spPr>
          <a:xfrm>
            <a:off x="9802368" y="3291840"/>
            <a:ext cx="1600200" cy="292608"/>
          </a:xfrm>
          <a:prstGeom prst="rect">
            <a:avLst/>
          </a:prstGeom>
          <a:noFill/>
          <a:ln/>
        </p:spPr>
        <p:txBody>
          <a:bodyPr wrap="square" lIns="0" tIns="0" rIns="0" bIns="0" rtlCol="0" anchor="ctr"/>
          <a:lstStyle/>
          <a:p>
            <a:pPr marL="0" indent="0">
              <a:buNone/>
            </a:pPr>
            <a:r>
              <a:rPr lang="en-US" sz="950" dirty="0">
                <a:solidFill>
                  <a:srgbClr val="5F6B76"/>
                </a:solidFill>
              </a:rPr>
              <a:t>CAGR</a:t>
            </a:r>
            <a:endParaRPr lang="en-US" sz="950" dirty="0"/>
          </a:p>
        </p:txBody>
      </p:sp>
      <p:sp>
        <p:nvSpPr>
          <p:cNvPr id="24" name="Shape 21"/>
          <p:cNvSpPr/>
          <p:nvPr/>
        </p:nvSpPr>
        <p:spPr>
          <a:xfrm>
            <a:off x="7479792" y="4069080"/>
            <a:ext cx="4023360" cy="1618488"/>
          </a:xfrm>
          <a:prstGeom prst="roundRect">
            <a:avLst>
              <a:gd name="adj" fmla="val 3390"/>
            </a:avLst>
          </a:prstGeom>
          <a:solidFill>
            <a:srgbClr val="FFFFFF"/>
          </a:solidFill>
          <a:ln w="12700">
            <a:solidFill>
              <a:srgbClr val="D9E1E8"/>
            </a:solidFill>
            <a:prstDash val="solid"/>
          </a:ln>
        </p:spPr>
        <p:txBody>
          <a:bodyPr/>
          <a:lstStyle/>
          <a:p>
            <a:endParaRPr lang="LID4096"/>
          </a:p>
        </p:txBody>
      </p:sp>
      <p:sp>
        <p:nvSpPr>
          <p:cNvPr id="25" name="Text 22"/>
          <p:cNvSpPr/>
          <p:nvPr/>
        </p:nvSpPr>
        <p:spPr>
          <a:xfrm>
            <a:off x="7699248" y="4279392"/>
            <a:ext cx="1463040" cy="228600"/>
          </a:xfrm>
          <a:prstGeom prst="rect">
            <a:avLst/>
          </a:prstGeom>
          <a:noFill/>
          <a:ln/>
        </p:spPr>
        <p:txBody>
          <a:bodyPr wrap="square" lIns="0" tIns="0" rIns="0" bIns="0" rtlCol="0" anchor="ctr"/>
          <a:lstStyle/>
          <a:p>
            <a:pPr marL="0" indent="0">
              <a:buNone/>
            </a:pPr>
            <a:r>
              <a:rPr lang="en-US" sz="1200" b="1" dirty="0">
                <a:solidFill>
                  <a:srgbClr val="1F2937"/>
                </a:solidFill>
              </a:rPr>
              <a:t>Turning points</a:t>
            </a:r>
            <a:endParaRPr lang="en-US" sz="1200" dirty="0"/>
          </a:p>
        </p:txBody>
      </p:sp>
      <p:sp>
        <p:nvSpPr>
          <p:cNvPr id="26" name="Text 23"/>
          <p:cNvSpPr/>
          <p:nvPr/>
        </p:nvSpPr>
        <p:spPr>
          <a:xfrm>
            <a:off x="7699248" y="4608576"/>
            <a:ext cx="3429000" cy="850392"/>
          </a:xfrm>
          <a:prstGeom prst="rect">
            <a:avLst/>
          </a:prstGeom>
          <a:noFill/>
          <a:ln/>
        </p:spPr>
        <p:txBody>
          <a:bodyPr wrap="square" lIns="0" tIns="0" rIns="0" bIns="0" rtlCol="0" anchor="ctr"/>
          <a:lstStyle/>
          <a:p>
            <a:pPr marL="0" indent="0">
              <a:buNone/>
            </a:pPr>
            <a:r>
              <a:rPr lang="en-US" sz="1020" dirty="0">
                <a:solidFill>
                  <a:srgbClr val="5F6B76"/>
                </a:solidFill>
              </a:rPr>
              <a:t>2020   +75.0%  pandemic acceleration</a:t>
            </a:r>
            <a:endParaRPr lang="en-US" sz="1020" dirty="0"/>
          </a:p>
          <a:p>
            <a:pPr marL="0" indent="0">
              <a:buNone/>
            </a:pPr>
            <a:r>
              <a:rPr lang="en-US" sz="1020" dirty="0">
                <a:solidFill>
                  <a:srgbClr val="5F6B76"/>
                </a:solidFill>
              </a:rPr>
              <a:t>2022     −8.6%  normalization / inflation pressure</a:t>
            </a:r>
            <a:endParaRPr lang="en-US" sz="1020" dirty="0"/>
          </a:p>
          <a:p>
            <a:pPr marL="0" indent="0">
              <a:buNone/>
            </a:pPr>
            <a:r>
              <a:rPr lang="en-US" sz="1020" dirty="0">
                <a:solidFill>
                  <a:srgbClr val="5F6B76"/>
                </a:solidFill>
              </a:rPr>
              <a:t>2024   +27.7%  strong recovery</a:t>
            </a:r>
            <a:endParaRPr lang="en-US" sz="1020" dirty="0"/>
          </a:p>
          <a:p>
            <a:pPr marL="0" indent="0">
              <a:buNone/>
            </a:pPr>
            <a:r>
              <a:rPr lang="en-US" sz="1020" dirty="0">
                <a:solidFill>
                  <a:srgbClr val="5F6B76"/>
                </a:solidFill>
              </a:rPr>
              <a:t>2025     +2.9%  slower mature-phase growth</a:t>
            </a:r>
            <a:endParaRPr lang="en-US" sz="1020" dirty="0"/>
          </a:p>
        </p:txBody>
      </p:sp>
      <p:sp>
        <p:nvSpPr>
          <p:cNvPr id="27" name="Text 24"/>
          <p:cNvSpPr/>
          <p:nvPr/>
        </p:nvSpPr>
        <p:spPr>
          <a:xfrm>
            <a:off x="566928" y="6291072"/>
            <a:ext cx="10881360" cy="164592"/>
          </a:xfrm>
          <a:prstGeom prst="rect">
            <a:avLst/>
          </a:prstGeom>
          <a:noFill/>
          <a:ln/>
        </p:spPr>
        <p:txBody>
          <a:bodyPr wrap="square" lIns="0" tIns="0" rIns="0" bIns="0" rtlCol="0" anchor="ctr"/>
          <a:lstStyle/>
          <a:p>
            <a:pPr marL="0" indent="0">
              <a:buNone/>
            </a:pPr>
            <a:r>
              <a:rPr lang="en-US" sz="650" i="1" dirty="0">
                <a:solidFill>
                  <a:srgbClr val="87919B"/>
                </a:solidFill>
              </a:rPr>
              <a:t>Source: Part 2 analysis of Statistics Canada monthly retail e-commerce sales.</a:t>
            </a:r>
            <a:endParaRPr lang="en-US" sz="650" dirty="0"/>
          </a:p>
        </p:txBody>
      </p:sp>
      <p:sp>
        <p:nvSpPr>
          <p:cNvPr id="28"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The weakest growth regime was 2022–2023</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Period comparison separates extraordinary pandemic growth from normalized post-pandemic performance</a:t>
            </a:r>
            <a:endParaRPr lang="en-US" sz="1050" dirty="0"/>
          </a:p>
        </p:txBody>
      </p:sp>
      <p:sp>
        <p:nvSpPr>
          <p:cNvPr id="4" name="Shape 2"/>
          <p:cNvSpPr/>
          <p:nvPr/>
        </p:nvSpPr>
        <p:spPr>
          <a:xfrm>
            <a:off x="9829800" y="347472"/>
            <a:ext cx="1847088" cy="310896"/>
          </a:xfrm>
          <a:prstGeom prst="roundRect">
            <a:avLst>
              <a:gd name="adj" fmla="val 17647"/>
            </a:avLst>
          </a:prstGeom>
          <a:solidFill>
            <a:srgbClr val="D59E2A"/>
          </a:solidFill>
          <a:ln w="12700">
            <a:solidFill>
              <a:srgbClr val="D59E2A"/>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REGIME ANALYSIS</a:t>
            </a:r>
            <a:endParaRPr lang="en-US" sz="800" dirty="0"/>
          </a:p>
        </p:txBody>
      </p:sp>
      <p:graphicFrame>
        <p:nvGraphicFramePr>
          <p:cNvPr id="6" name="Chart 0"/>
          <p:cNvGraphicFramePr/>
          <p:nvPr/>
        </p:nvGraphicFramePr>
        <p:xfrm>
          <a:off x="685800" y="1417320"/>
          <a:ext cx="681228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1115568" y="1564871"/>
            <a:ext cx="4389120" cy="274320"/>
          </a:xfrm>
          <a:prstGeom prst="rect">
            <a:avLst/>
          </a:prstGeom>
          <a:noFill/>
          <a:ln/>
        </p:spPr>
        <p:txBody>
          <a:bodyPr wrap="square" lIns="0" tIns="0" rIns="0" bIns="0" rtlCol="0" anchor="ctr"/>
          <a:lstStyle/>
          <a:p>
            <a:pPr marL="0" indent="0">
              <a:buNone/>
            </a:pPr>
            <a:r>
              <a:rPr lang="en-US" sz="1200" b="1" dirty="0">
                <a:solidFill>
                  <a:srgbClr val="1F2937"/>
                </a:solidFill>
              </a:rPr>
              <a:t>Average e-commerce YoY growth by analytical period</a:t>
            </a:r>
            <a:endParaRPr lang="en-US" sz="1200" dirty="0"/>
          </a:p>
        </p:txBody>
      </p:sp>
      <p:sp>
        <p:nvSpPr>
          <p:cNvPr id="8" name="Shape 5"/>
          <p:cNvSpPr/>
          <p:nvPr/>
        </p:nvSpPr>
        <p:spPr>
          <a:xfrm>
            <a:off x="7818120" y="1417320"/>
            <a:ext cx="3520440" cy="1097280"/>
          </a:xfrm>
          <a:prstGeom prst="roundRect">
            <a:avLst>
              <a:gd name="adj" fmla="val 5000"/>
            </a:avLst>
          </a:prstGeom>
          <a:solidFill>
            <a:srgbClr val="FFFFFF"/>
          </a:solidFill>
          <a:ln w="12700">
            <a:solidFill>
              <a:srgbClr val="D9E1E8"/>
            </a:solidFill>
            <a:prstDash val="solid"/>
          </a:ln>
        </p:spPr>
        <p:txBody>
          <a:bodyPr/>
          <a:lstStyle/>
          <a:p>
            <a:endParaRPr lang="LID4096"/>
          </a:p>
        </p:txBody>
      </p:sp>
      <p:sp>
        <p:nvSpPr>
          <p:cNvPr id="9" name="Shape 6"/>
          <p:cNvSpPr/>
          <p:nvPr/>
        </p:nvSpPr>
        <p:spPr>
          <a:xfrm>
            <a:off x="7982712" y="1581912"/>
            <a:ext cx="292608" cy="292608"/>
          </a:xfrm>
          <a:prstGeom prst="roundRect">
            <a:avLst>
              <a:gd name="adj" fmla="val 25000"/>
            </a:avLst>
          </a:prstGeom>
          <a:solidFill>
            <a:srgbClr val="D59E2A"/>
          </a:solidFill>
          <a:ln w="12700">
            <a:solidFill>
              <a:srgbClr val="D59E2A"/>
            </a:solidFill>
            <a:prstDash val="solid"/>
          </a:ln>
        </p:spPr>
        <p:txBody>
          <a:bodyPr/>
          <a:lstStyle/>
          <a:p>
            <a:endParaRPr lang="LID4096"/>
          </a:p>
        </p:txBody>
      </p:sp>
      <p:sp>
        <p:nvSpPr>
          <p:cNvPr id="10" name="Text 7"/>
          <p:cNvSpPr/>
          <p:nvPr/>
        </p:nvSpPr>
        <p:spPr>
          <a:xfrm>
            <a:off x="8051292" y="1613916"/>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11" name="Text 8"/>
          <p:cNvSpPr/>
          <p:nvPr/>
        </p:nvSpPr>
        <p:spPr>
          <a:xfrm>
            <a:off x="8385048" y="1563624"/>
            <a:ext cx="2788920" cy="274320"/>
          </a:xfrm>
          <a:prstGeom prst="rect">
            <a:avLst/>
          </a:prstGeom>
          <a:noFill/>
          <a:ln/>
        </p:spPr>
        <p:txBody>
          <a:bodyPr wrap="square" lIns="0" tIns="0" rIns="0" bIns="0" rtlCol="0" anchor="ctr"/>
          <a:lstStyle/>
          <a:p>
            <a:pPr marL="0" indent="0">
              <a:buNone/>
            </a:pPr>
            <a:r>
              <a:rPr lang="en-US" sz="1200" b="1" dirty="0">
                <a:solidFill>
                  <a:srgbClr val="1F2937"/>
                </a:solidFill>
              </a:rPr>
              <a:t>Pandemic acceleration</a:t>
            </a:r>
            <a:endParaRPr lang="en-US" sz="1200" dirty="0"/>
          </a:p>
        </p:txBody>
      </p:sp>
      <p:sp>
        <p:nvSpPr>
          <p:cNvPr id="12" name="Text 9"/>
          <p:cNvSpPr/>
          <p:nvPr/>
        </p:nvSpPr>
        <p:spPr>
          <a:xfrm>
            <a:off x="8001000" y="1947672"/>
            <a:ext cx="3154680" cy="438912"/>
          </a:xfrm>
          <a:prstGeom prst="rect">
            <a:avLst/>
          </a:prstGeom>
          <a:noFill/>
          <a:ln/>
        </p:spPr>
        <p:txBody>
          <a:bodyPr wrap="square" lIns="0" tIns="0" rIns="0" bIns="0" rtlCol="0" anchor="t"/>
          <a:lstStyle/>
          <a:p>
            <a:pPr marL="0" indent="0">
              <a:buNone/>
            </a:pPr>
            <a:r>
              <a:rPr lang="en-US" sz="920" dirty="0">
                <a:solidFill>
                  <a:srgbClr val="5F6B76"/>
                </a:solidFill>
              </a:rPr>
              <a:t>Average YoY growth ≈ 49.9%. This is an exceptional shock regime, not a sustainable baseline.</a:t>
            </a:r>
            <a:endParaRPr lang="en-US" sz="920" dirty="0"/>
          </a:p>
        </p:txBody>
      </p:sp>
      <p:sp>
        <p:nvSpPr>
          <p:cNvPr id="13" name="Shape 10"/>
          <p:cNvSpPr/>
          <p:nvPr/>
        </p:nvSpPr>
        <p:spPr>
          <a:xfrm>
            <a:off x="7818120" y="2697480"/>
            <a:ext cx="3520440" cy="1097280"/>
          </a:xfrm>
          <a:prstGeom prst="roundRect">
            <a:avLst>
              <a:gd name="adj" fmla="val 5000"/>
            </a:avLst>
          </a:prstGeom>
          <a:solidFill>
            <a:srgbClr val="FFFFFF"/>
          </a:solidFill>
          <a:ln w="12700">
            <a:solidFill>
              <a:srgbClr val="D9E1E8"/>
            </a:solidFill>
            <a:prstDash val="solid"/>
          </a:ln>
        </p:spPr>
        <p:txBody>
          <a:bodyPr/>
          <a:lstStyle/>
          <a:p>
            <a:endParaRPr lang="LID4096"/>
          </a:p>
        </p:txBody>
      </p:sp>
      <p:sp>
        <p:nvSpPr>
          <p:cNvPr id="14" name="Shape 11"/>
          <p:cNvSpPr/>
          <p:nvPr/>
        </p:nvSpPr>
        <p:spPr>
          <a:xfrm>
            <a:off x="7982712" y="2862072"/>
            <a:ext cx="292608" cy="292608"/>
          </a:xfrm>
          <a:prstGeom prst="roundRect">
            <a:avLst>
              <a:gd name="adj" fmla="val 25000"/>
            </a:avLst>
          </a:prstGeom>
          <a:solidFill>
            <a:srgbClr val="C94A4A"/>
          </a:solidFill>
          <a:ln w="12700">
            <a:solidFill>
              <a:srgbClr val="C94A4A"/>
            </a:solidFill>
            <a:prstDash val="solid"/>
          </a:ln>
        </p:spPr>
        <p:txBody>
          <a:bodyPr/>
          <a:lstStyle/>
          <a:p>
            <a:endParaRPr lang="LID4096"/>
          </a:p>
        </p:txBody>
      </p:sp>
      <p:sp>
        <p:nvSpPr>
          <p:cNvPr id="15" name="Text 12"/>
          <p:cNvSpPr/>
          <p:nvPr/>
        </p:nvSpPr>
        <p:spPr>
          <a:xfrm>
            <a:off x="8051292" y="2894076"/>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16" name="Text 13"/>
          <p:cNvSpPr/>
          <p:nvPr/>
        </p:nvSpPr>
        <p:spPr>
          <a:xfrm>
            <a:off x="8385048" y="2843784"/>
            <a:ext cx="2788920" cy="274320"/>
          </a:xfrm>
          <a:prstGeom prst="rect">
            <a:avLst/>
          </a:prstGeom>
          <a:noFill/>
          <a:ln/>
        </p:spPr>
        <p:txBody>
          <a:bodyPr wrap="square" lIns="0" tIns="0" rIns="0" bIns="0" rtlCol="0" anchor="ctr"/>
          <a:lstStyle/>
          <a:p>
            <a:pPr marL="0" indent="0">
              <a:buNone/>
            </a:pPr>
            <a:r>
              <a:rPr lang="en-US" sz="1200" b="1" dirty="0">
                <a:solidFill>
                  <a:srgbClr val="1F2937"/>
                </a:solidFill>
              </a:rPr>
              <a:t>Inflation &amp; normalization</a:t>
            </a:r>
            <a:endParaRPr lang="en-US" sz="1200" dirty="0"/>
          </a:p>
        </p:txBody>
      </p:sp>
      <p:sp>
        <p:nvSpPr>
          <p:cNvPr id="17" name="Text 14"/>
          <p:cNvSpPr/>
          <p:nvPr/>
        </p:nvSpPr>
        <p:spPr>
          <a:xfrm>
            <a:off x="8001000" y="3227832"/>
            <a:ext cx="3154680" cy="438912"/>
          </a:xfrm>
          <a:prstGeom prst="rect">
            <a:avLst/>
          </a:prstGeom>
          <a:noFill/>
          <a:ln/>
        </p:spPr>
        <p:txBody>
          <a:bodyPr wrap="square" lIns="0" tIns="0" rIns="0" bIns="0" rtlCol="0" anchor="t"/>
          <a:lstStyle/>
          <a:p>
            <a:pPr marL="0" indent="0">
              <a:buNone/>
            </a:pPr>
            <a:r>
              <a:rPr lang="en-US" sz="920" dirty="0">
                <a:solidFill>
                  <a:srgbClr val="5F6B76"/>
                </a:solidFill>
              </a:rPr>
              <a:t>Average YoY growth ≈ −0.4%. This was the weakest regime despite a much larger absolute market.</a:t>
            </a:r>
            <a:endParaRPr lang="en-US" sz="920" dirty="0"/>
          </a:p>
        </p:txBody>
      </p:sp>
      <p:sp>
        <p:nvSpPr>
          <p:cNvPr id="18" name="Shape 15"/>
          <p:cNvSpPr/>
          <p:nvPr/>
        </p:nvSpPr>
        <p:spPr>
          <a:xfrm>
            <a:off x="7818120" y="3977640"/>
            <a:ext cx="3520440" cy="1097280"/>
          </a:xfrm>
          <a:prstGeom prst="roundRect">
            <a:avLst>
              <a:gd name="adj" fmla="val 5000"/>
            </a:avLst>
          </a:prstGeom>
          <a:solidFill>
            <a:srgbClr val="FFFFFF"/>
          </a:solidFill>
          <a:ln w="12700">
            <a:solidFill>
              <a:srgbClr val="D9E1E8"/>
            </a:solidFill>
            <a:prstDash val="solid"/>
          </a:ln>
        </p:spPr>
        <p:txBody>
          <a:bodyPr/>
          <a:lstStyle/>
          <a:p>
            <a:endParaRPr lang="LID4096"/>
          </a:p>
        </p:txBody>
      </p:sp>
      <p:sp>
        <p:nvSpPr>
          <p:cNvPr id="19" name="Shape 16"/>
          <p:cNvSpPr/>
          <p:nvPr/>
        </p:nvSpPr>
        <p:spPr>
          <a:xfrm>
            <a:off x="7982712" y="4142232"/>
            <a:ext cx="292608" cy="292608"/>
          </a:xfrm>
          <a:prstGeom prst="roundRect">
            <a:avLst>
              <a:gd name="adj" fmla="val 25000"/>
            </a:avLst>
          </a:prstGeom>
          <a:solidFill>
            <a:srgbClr val="0B7A75"/>
          </a:solidFill>
          <a:ln w="12700">
            <a:solidFill>
              <a:srgbClr val="0B7A75"/>
            </a:solidFill>
            <a:prstDash val="solid"/>
          </a:ln>
        </p:spPr>
        <p:txBody>
          <a:bodyPr/>
          <a:lstStyle/>
          <a:p>
            <a:endParaRPr lang="LID4096"/>
          </a:p>
        </p:txBody>
      </p:sp>
      <p:sp>
        <p:nvSpPr>
          <p:cNvPr id="20" name="Text 17"/>
          <p:cNvSpPr/>
          <p:nvPr/>
        </p:nvSpPr>
        <p:spPr>
          <a:xfrm>
            <a:off x="8051292" y="4174236"/>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21" name="Text 18"/>
          <p:cNvSpPr/>
          <p:nvPr/>
        </p:nvSpPr>
        <p:spPr>
          <a:xfrm>
            <a:off x="8385048" y="4123944"/>
            <a:ext cx="2788920" cy="274320"/>
          </a:xfrm>
          <a:prstGeom prst="rect">
            <a:avLst/>
          </a:prstGeom>
          <a:noFill/>
          <a:ln/>
        </p:spPr>
        <p:txBody>
          <a:bodyPr wrap="square" lIns="0" tIns="0" rIns="0" bIns="0" rtlCol="0" anchor="ctr"/>
          <a:lstStyle/>
          <a:p>
            <a:pPr marL="0" indent="0">
              <a:buNone/>
            </a:pPr>
            <a:r>
              <a:rPr lang="en-US" sz="1200" b="1" dirty="0">
                <a:solidFill>
                  <a:srgbClr val="1F2937"/>
                </a:solidFill>
              </a:rPr>
              <a:t>Recent environment</a:t>
            </a:r>
            <a:endParaRPr lang="en-US" sz="1200" dirty="0"/>
          </a:p>
        </p:txBody>
      </p:sp>
      <p:sp>
        <p:nvSpPr>
          <p:cNvPr id="22" name="Text 19"/>
          <p:cNvSpPr/>
          <p:nvPr/>
        </p:nvSpPr>
        <p:spPr>
          <a:xfrm>
            <a:off x="8001000" y="4507992"/>
            <a:ext cx="3154680" cy="438912"/>
          </a:xfrm>
          <a:prstGeom prst="rect">
            <a:avLst/>
          </a:prstGeom>
          <a:noFill/>
          <a:ln/>
        </p:spPr>
        <p:txBody>
          <a:bodyPr wrap="square" lIns="0" tIns="0" rIns="0" bIns="0" rtlCol="0" anchor="t"/>
          <a:lstStyle/>
          <a:p>
            <a:pPr marL="0" indent="0">
              <a:buNone/>
            </a:pPr>
            <a:r>
              <a:rPr lang="en-US" sz="920" dirty="0">
                <a:solidFill>
                  <a:srgbClr val="5F6B76"/>
                </a:solidFill>
              </a:rPr>
              <a:t>Average YoY growth recovered to ≈ 15.4%, close to normalized pre-pandemic conditions.</a:t>
            </a:r>
            <a:endParaRPr lang="en-US" sz="920" dirty="0"/>
          </a:p>
        </p:txBody>
      </p:sp>
      <p:sp>
        <p:nvSpPr>
          <p:cNvPr id="23" name="Shape 20"/>
          <p:cNvSpPr/>
          <p:nvPr/>
        </p:nvSpPr>
        <p:spPr>
          <a:xfrm>
            <a:off x="7818120" y="5321808"/>
            <a:ext cx="3520440" cy="493776"/>
          </a:xfrm>
          <a:prstGeom prst="roundRect">
            <a:avLst>
              <a:gd name="adj" fmla="val 9259"/>
            </a:avLst>
          </a:prstGeom>
          <a:solidFill>
            <a:srgbClr val="EAF2F8"/>
          </a:solidFill>
          <a:ln w="12700">
            <a:solidFill>
              <a:srgbClr val="B9D5E8"/>
            </a:solidFill>
            <a:prstDash val="solid"/>
          </a:ln>
        </p:spPr>
        <p:txBody>
          <a:bodyPr/>
          <a:lstStyle/>
          <a:p>
            <a:endParaRPr lang="LID4096"/>
          </a:p>
        </p:txBody>
      </p:sp>
      <p:sp>
        <p:nvSpPr>
          <p:cNvPr id="24" name="Text 21"/>
          <p:cNvSpPr/>
          <p:nvPr/>
        </p:nvSpPr>
        <p:spPr>
          <a:xfrm>
            <a:off x="8001000" y="5468112"/>
            <a:ext cx="3154680" cy="182880"/>
          </a:xfrm>
          <a:prstGeom prst="rect">
            <a:avLst/>
          </a:prstGeom>
          <a:noFill/>
          <a:ln/>
        </p:spPr>
        <p:txBody>
          <a:bodyPr wrap="square" lIns="0" tIns="0" rIns="0" bIns="0" rtlCol="0" anchor="ctr"/>
          <a:lstStyle/>
          <a:p>
            <a:pPr marL="0" indent="0" algn="ctr">
              <a:buNone/>
            </a:pPr>
            <a:r>
              <a:rPr lang="en-US" sz="1020" b="1" dirty="0">
                <a:solidFill>
                  <a:srgbClr val="123B5D"/>
                </a:solidFill>
              </a:rPr>
              <a:t>Kruskal–Wallis: H ≈ 29.50, p &lt; .001</a:t>
            </a:r>
            <a:endParaRPr lang="en-US" sz="1020" dirty="0"/>
          </a:p>
        </p:txBody>
      </p:sp>
      <p:sp>
        <p:nvSpPr>
          <p:cNvPr id="25" name="Text 22"/>
          <p:cNvSpPr/>
          <p:nvPr/>
        </p:nvSpPr>
        <p:spPr>
          <a:xfrm>
            <a:off x="566928" y="6291072"/>
            <a:ext cx="10881360" cy="164592"/>
          </a:xfrm>
          <a:prstGeom prst="rect">
            <a:avLst/>
          </a:prstGeom>
          <a:noFill/>
          <a:ln/>
        </p:spPr>
        <p:txBody>
          <a:bodyPr wrap="square" lIns="0" tIns="0" rIns="0" bIns="0" rtlCol="0" anchor="ctr"/>
          <a:lstStyle/>
          <a:p>
            <a:pPr marL="0" indent="0">
              <a:buNone/>
            </a:pPr>
            <a:r>
              <a:rPr lang="en-US" sz="650" i="1" dirty="0">
                <a:solidFill>
                  <a:srgbClr val="87919B"/>
                </a:solidFill>
              </a:rPr>
              <a:t>Non-parametric period comparison used because growth was non-normal and variances differed across periods.</a:t>
            </a:r>
            <a:endParaRPr lang="en-US" sz="650" dirty="0"/>
          </a:p>
        </p:txBody>
      </p:sp>
      <p:sp>
        <p:nvSpPr>
          <p:cNvPr id="26"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Inflation is the clearest short-run economic risk signal</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The relationship is strong in the full sample, but the multivariable model prevents overclaiming</a:t>
            </a:r>
            <a:endParaRPr lang="en-US" sz="1050" dirty="0"/>
          </a:p>
        </p:txBody>
      </p:sp>
      <p:sp>
        <p:nvSpPr>
          <p:cNvPr id="4" name="Shape 2"/>
          <p:cNvSpPr/>
          <p:nvPr/>
        </p:nvSpPr>
        <p:spPr>
          <a:xfrm>
            <a:off x="9829800" y="347472"/>
            <a:ext cx="1847088" cy="310896"/>
          </a:xfrm>
          <a:prstGeom prst="roundRect">
            <a:avLst>
              <a:gd name="adj" fmla="val 17647"/>
            </a:avLst>
          </a:prstGeom>
          <a:solidFill>
            <a:srgbClr val="2B6F9F"/>
          </a:solidFill>
          <a:ln w="12700">
            <a:solidFill>
              <a:srgbClr val="2B6F9F"/>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ECONOMIC</a:t>
            </a:r>
            <a:endParaRPr lang="en-US" sz="800" dirty="0"/>
          </a:p>
        </p:txBody>
      </p:sp>
      <p:graphicFrame>
        <p:nvGraphicFramePr>
          <p:cNvPr id="6" name="Chart 0"/>
          <p:cNvGraphicFramePr/>
          <p:nvPr/>
        </p:nvGraphicFramePr>
        <p:xfrm>
          <a:off x="594360" y="1325880"/>
          <a:ext cx="731520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3945636" y="1449324"/>
            <a:ext cx="3840480" cy="274320"/>
          </a:xfrm>
          <a:prstGeom prst="rect">
            <a:avLst/>
          </a:prstGeom>
          <a:noFill/>
          <a:ln/>
        </p:spPr>
        <p:txBody>
          <a:bodyPr wrap="square" lIns="0" tIns="0" rIns="0" bIns="0" rtlCol="0" anchor="ctr"/>
          <a:lstStyle/>
          <a:p>
            <a:pPr marL="0" indent="0">
              <a:buNone/>
            </a:pPr>
            <a:r>
              <a:rPr lang="en-US" sz="1200" b="1" dirty="0">
                <a:solidFill>
                  <a:srgbClr val="1F2937"/>
                </a:solidFill>
              </a:rPr>
              <a:t>E-commerce YoY growth vs CPI YoY inflation</a:t>
            </a:r>
            <a:endParaRPr lang="en-US" sz="1200" dirty="0"/>
          </a:p>
        </p:txBody>
      </p:sp>
      <p:sp>
        <p:nvSpPr>
          <p:cNvPr id="8" name="Shape 5"/>
          <p:cNvSpPr/>
          <p:nvPr/>
        </p:nvSpPr>
        <p:spPr>
          <a:xfrm>
            <a:off x="8183880" y="1417320"/>
            <a:ext cx="2971800" cy="1143000"/>
          </a:xfrm>
          <a:prstGeom prst="roundRect">
            <a:avLst>
              <a:gd name="adj" fmla="val 6400"/>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9" name="Shape 6"/>
          <p:cNvSpPr/>
          <p:nvPr/>
        </p:nvSpPr>
        <p:spPr>
          <a:xfrm>
            <a:off x="8183880" y="1417320"/>
            <a:ext cx="73152" cy="1143000"/>
          </a:xfrm>
          <a:prstGeom prst="rect">
            <a:avLst/>
          </a:prstGeom>
          <a:solidFill>
            <a:srgbClr val="C94A4A"/>
          </a:solidFill>
          <a:ln w="12700">
            <a:solidFill>
              <a:srgbClr val="C94A4A"/>
            </a:solidFill>
            <a:prstDash val="solid"/>
          </a:ln>
        </p:spPr>
        <p:txBody>
          <a:bodyPr/>
          <a:lstStyle/>
          <a:p>
            <a:endParaRPr lang="LID4096"/>
          </a:p>
        </p:txBody>
      </p:sp>
      <p:sp>
        <p:nvSpPr>
          <p:cNvPr id="10" name="Text 7"/>
          <p:cNvSpPr/>
          <p:nvPr/>
        </p:nvSpPr>
        <p:spPr>
          <a:xfrm>
            <a:off x="8403336" y="1618488"/>
            <a:ext cx="2651760" cy="384048"/>
          </a:xfrm>
          <a:prstGeom prst="rect">
            <a:avLst/>
          </a:prstGeom>
          <a:noFill/>
          <a:ln/>
        </p:spPr>
        <p:txBody>
          <a:bodyPr wrap="square" lIns="0" tIns="0" rIns="0" bIns="0" rtlCol="0" anchor="ctr"/>
          <a:lstStyle/>
          <a:p>
            <a:pPr marL="0" indent="0">
              <a:buNone/>
            </a:pPr>
            <a:r>
              <a:rPr lang="en-US" sz="2200" b="1" dirty="0">
                <a:solidFill>
                  <a:srgbClr val="1F2937"/>
                </a:solidFill>
              </a:rPr>
              <a:t>ρ = −0.705</a:t>
            </a:r>
            <a:endParaRPr lang="en-US" sz="2200" dirty="0"/>
          </a:p>
        </p:txBody>
      </p:sp>
      <p:sp>
        <p:nvSpPr>
          <p:cNvPr id="11" name="Text 8"/>
          <p:cNvSpPr/>
          <p:nvPr/>
        </p:nvSpPr>
        <p:spPr>
          <a:xfrm>
            <a:off x="8403336" y="2039112"/>
            <a:ext cx="2651760" cy="292608"/>
          </a:xfrm>
          <a:prstGeom prst="rect">
            <a:avLst/>
          </a:prstGeom>
          <a:noFill/>
          <a:ln/>
        </p:spPr>
        <p:txBody>
          <a:bodyPr wrap="square" lIns="0" tIns="0" rIns="0" bIns="0" rtlCol="0" anchor="ctr"/>
          <a:lstStyle/>
          <a:p>
            <a:pPr marL="0" indent="0">
              <a:buNone/>
            </a:pPr>
            <a:r>
              <a:rPr lang="en-US" sz="950" dirty="0">
                <a:solidFill>
                  <a:srgbClr val="5F6B76"/>
                </a:solidFill>
              </a:rPr>
              <a:t>Spearman correlation</a:t>
            </a:r>
            <a:endParaRPr lang="en-US" sz="950" dirty="0"/>
          </a:p>
        </p:txBody>
      </p:sp>
      <p:sp>
        <p:nvSpPr>
          <p:cNvPr id="12" name="Text 9"/>
          <p:cNvSpPr/>
          <p:nvPr/>
        </p:nvSpPr>
        <p:spPr>
          <a:xfrm>
            <a:off x="8403336" y="2258568"/>
            <a:ext cx="2651760" cy="164592"/>
          </a:xfrm>
          <a:prstGeom prst="rect">
            <a:avLst/>
          </a:prstGeom>
          <a:noFill/>
          <a:ln/>
        </p:spPr>
        <p:txBody>
          <a:bodyPr wrap="square" lIns="0" tIns="0" rIns="0" bIns="0" rtlCol="0" anchor="ctr"/>
          <a:lstStyle/>
          <a:p>
            <a:pPr marL="0" indent="0">
              <a:buNone/>
            </a:pPr>
            <a:r>
              <a:rPr lang="en-US" sz="750" i="1" dirty="0">
                <a:solidFill>
                  <a:srgbClr val="7A8793"/>
                </a:solidFill>
              </a:rPr>
              <a:t>p &lt; .001</a:t>
            </a:r>
            <a:endParaRPr lang="en-US" sz="750" dirty="0"/>
          </a:p>
        </p:txBody>
      </p:sp>
      <p:sp>
        <p:nvSpPr>
          <p:cNvPr id="13" name="Shape 10"/>
          <p:cNvSpPr/>
          <p:nvPr/>
        </p:nvSpPr>
        <p:spPr>
          <a:xfrm>
            <a:off x="8183880" y="2788920"/>
            <a:ext cx="2971800" cy="1060704"/>
          </a:xfrm>
          <a:prstGeom prst="roundRect">
            <a:avLst>
              <a:gd name="adj" fmla="val 5172"/>
            </a:avLst>
          </a:prstGeom>
          <a:solidFill>
            <a:srgbClr val="FFFFFF"/>
          </a:solidFill>
          <a:ln w="12700">
            <a:solidFill>
              <a:srgbClr val="D9E1E8"/>
            </a:solidFill>
            <a:prstDash val="solid"/>
          </a:ln>
        </p:spPr>
        <p:txBody>
          <a:bodyPr/>
          <a:lstStyle/>
          <a:p>
            <a:endParaRPr lang="LID4096"/>
          </a:p>
        </p:txBody>
      </p:sp>
      <p:sp>
        <p:nvSpPr>
          <p:cNvPr id="14" name="Shape 11"/>
          <p:cNvSpPr/>
          <p:nvPr/>
        </p:nvSpPr>
        <p:spPr>
          <a:xfrm>
            <a:off x="8348472" y="2953512"/>
            <a:ext cx="292608" cy="292608"/>
          </a:xfrm>
          <a:prstGeom prst="roundRect">
            <a:avLst>
              <a:gd name="adj" fmla="val 25000"/>
            </a:avLst>
          </a:prstGeom>
          <a:solidFill>
            <a:srgbClr val="C94A4A"/>
          </a:solidFill>
          <a:ln w="12700">
            <a:solidFill>
              <a:srgbClr val="C94A4A"/>
            </a:solidFill>
            <a:prstDash val="solid"/>
          </a:ln>
        </p:spPr>
        <p:txBody>
          <a:bodyPr/>
          <a:lstStyle/>
          <a:p>
            <a:endParaRPr lang="LID4096"/>
          </a:p>
        </p:txBody>
      </p:sp>
      <p:sp>
        <p:nvSpPr>
          <p:cNvPr id="15" name="Text 12"/>
          <p:cNvSpPr/>
          <p:nvPr/>
        </p:nvSpPr>
        <p:spPr>
          <a:xfrm>
            <a:off x="8417052" y="2985516"/>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16" name="Text 13"/>
          <p:cNvSpPr/>
          <p:nvPr/>
        </p:nvSpPr>
        <p:spPr>
          <a:xfrm>
            <a:off x="8750808" y="2935224"/>
            <a:ext cx="2240280" cy="274320"/>
          </a:xfrm>
          <a:prstGeom prst="rect">
            <a:avLst/>
          </a:prstGeom>
          <a:noFill/>
          <a:ln/>
        </p:spPr>
        <p:txBody>
          <a:bodyPr wrap="square" lIns="0" tIns="0" rIns="0" bIns="0" rtlCol="0" anchor="ctr"/>
          <a:lstStyle/>
          <a:p>
            <a:pPr marL="0" indent="0">
              <a:buNone/>
            </a:pPr>
            <a:r>
              <a:rPr lang="en-US" sz="1200" b="1" dirty="0">
                <a:solidFill>
                  <a:srgbClr val="1F2937"/>
                </a:solidFill>
              </a:rPr>
              <a:t>Interpretation</a:t>
            </a:r>
            <a:endParaRPr lang="en-US" sz="1200" dirty="0"/>
          </a:p>
        </p:txBody>
      </p:sp>
      <p:sp>
        <p:nvSpPr>
          <p:cNvPr id="17" name="Text 14"/>
          <p:cNvSpPr/>
          <p:nvPr/>
        </p:nvSpPr>
        <p:spPr>
          <a:xfrm>
            <a:off x="8366760" y="3319272"/>
            <a:ext cx="2606040" cy="402336"/>
          </a:xfrm>
          <a:prstGeom prst="rect">
            <a:avLst/>
          </a:prstGeom>
          <a:noFill/>
          <a:ln/>
        </p:spPr>
        <p:txBody>
          <a:bodyPr wrap="square" lIns="0" tIns="0" rIns="0" bIns="0" rtlCol="0" anchor="t"/>
          <a:lstStyle/>
          <a:p>
            <a:pPr marL="0" indent="0">
              <a:buNone/>
            </a:pPr>
            <a:r>
              <a:rPr lang="en-US" sz="920" dirty="0">
                <a:solidFill>
                  <a:srgbClr val="5F6B76"/>
                </a:solidFill>
              </a:rPr>
              <a:t>High inflation coincided with weaker e-commerce growth, making purchasing-power pressure a useful external risk indicator.</a:t>
            </a:r>
            <a:endParaRPr lang="en-US" sz="920" dirty="0"/>
          </a:p>
        </p:txBody>
      </p:sp>
      <p:sp>
        <p:nvSpPr>
          <p:cNvPr id="18" name="Shape 15"/>
          <p:cNvSpPr/>
          <p:nvPr/>
        </p:nvSpPr>
        <p:spPr>
          <a:xfrm>
            <a:off x="8183880" y="4069080"/>
            <a:ext cx="2971800" cy="1060704"/>
          </a:xfrm>
          <a:prstGeom prst="roundRect">
            <a:avLst>
              <a:gd name="adj" fmla="val 5172"/>
            </a:avLst>
          </a:prstGeom>
          <a:solidFill>
            <a:srgbClr val="FFFFFF"/>
          </a:solidFill>
          <a:ln w="12700">
            <a:solidFill>
              <a:srgbClr val="D9E1E8"/>
            </a:solidFill>
            <a:prstDash val="solid"/>
          </a:ln>
        </p:spPr>
        <p:txBody>
          <a:bodyPr/>
          <a:lstStyle/>
          <a:p>
            <a:endParaRPr lang="LID4096"/>
          </a:p>
        </p:txBody>
      </p:sp>
      <p:sp>
        <p:nvSpPr>
          <p:cNvPr id="19" name="Shape 16"/>
          <p:cNvSpPr/>
          <p:nvPr/>
        </p:nvSpPr>
        <p:spPr>
          <a:xfrm>
            <a:off x="8348472" y="4233672"/>
            <a:ext cx="292608" cy="292608"/>
          </a:xfrm>
          <a:prstGeom prst="roundRect">
            <a:avLst>
              <a:gd name="adj" fmla="val 25000"/>
            </a:avLst>
          </a:prstGeom>
          <a:solidFill>
            <a:srgbClr val="2B6F9F"/>
          </a:solidFill>
          <a:ln w="12700">
            <a:solidFill>
              <a:srgbClr val="2B6F9F"/>
            </a:solidFill>
            <a:prstDash val="solid"/>
          </a:ln>
        </p:spPr>
        <p:txBody>
          <a:bodyPr/>
          <a:lstStyle/>
          <a:p>
            <a:endParaRPr lang="LID4096"/>
          </a:p>
        </p:txBody>
      </p:sp>
      <p:sp>
        <p:nvSpPr>
          <p:cNvPr id="20" name="Text 17"/>
          <p:cNvSpPr/>
          <p:nvPr/>
        </p:nvSpPr>
        <p:spPr>
          <a:xfrm>
            <a:off x="8417052" y="4265676"/>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21" name="Text 18"/>
          <p:cNvSpPr/>
          <p:nvPr/>
        </p:nvSpPr>
        <p:spPr>
          <a:xfrm>
            <a:off x="8750808" y="4215384"/>
            <a:ext cx="2240280" cy="274320"/>
          </a:xfrm>
          <a:prstGeom prst="rect">
            <a:avLst/>
          </a:prstGeom>
          <a:noFill/>
          <a:ln/>
        </p:spPr>
        <p:txBody>
          <a:bodyPr wrap="square" lIns="0" tIns="0" rIns="0" bIns="0" rtlCol="0" anchor="ctr"/>
          <a:lstStyle/>
          <a:p>
            <a:pPr marL="0" indent="0">
              <a:buNone/>
            </a:pPr>
            <a:r>
              <a:rPr lang="en-US" sz="1200" b="1" dirty="0">
                <a:solidFill>
                  <a:srgbClr val="1F2937"/>
                </a:solidFill>
              </a:rPr>
              <a:t>Important caution</a:t>
            </a:r>
            <a:endParaRPr lang="en-US" sz="1200" dirty="0"/>
          </a:p>
        </p:txBody>
      </p:sp>
      <p:sp>
        <p:nvSpPr>
          <p:cNvPr id="22" name="Text 19"/>
          <p:cNvSpPr/>
          <p:nvPr/>
        </p:nvSpPr>
        <p:spPr>
          <a:xfrm>
            <a:off x="8366760" y="4599432"/>
            <a:ext cx="2606040" cy="402336"/>
          </a:xfrm>
          <a:prstGeom prst="rect">
            <a:avLst/>
          </a:prstGeom>
          <a:noFill/>
          <a:ln/>
        </p:spPr>
        <p:txBody>
          <a:bodyPr wrap="square" lIns="0" tIns="0" rIns="0" bIns="0" rtlCol="0" anchor="t"/>
          <a:lstStyle/>
          <a:p>
            <a:pPr marL="0" indent="0">
              <a:buNone/>
            </a:pPr>
            <a:r>
              <a:rPr lang="en-US" sz="920" dirty="0">
                <a:solidFill>
                  <a:srgbClr val="5F6B76"/>
                </a:solidFill>
              </a:rPr>
              <a:t>Inflation is not independently significant after lagged growth, HFCE growth and the pandemic regime are controlled together.</a:t>
            </a:r>
            <a:endParaRPr lang="en-US" sz="920" dirty="0"/>
          </a:p>
        </p:txBody>
      </p:sp>
      <p:sp>
        <p:nvSpPr>
          <p:cNvPr id="23" name="Text 20"/>
          <p:cNvSpPr/>
          <p:nvPr/>
        </p:nvSpPr>
        <p:spPr>
          <a:xfrm>
            <a:off x="566928" y="6291072"/>
            <a:ext cx="10881360" cy="164592"/>
          </a:xfrm>
          <a:prstGeom prst="rect">
            <a:avLst/>
          </a:prstGeom>
          <a:noFill/>
          <a:ln/>
        </p:spPr>
        <p:txBody>
          <a:bodyPr wrap="square" lIns="0" tIns="0" rIns="0" bIns="0" rtlCol="0" anchor="ctr"/>
          <a:lstStyle/>
          <a:p>
            <a:pPr marL="0" indent="0">
              <a:buNone/>
            </a:pPr>
            <a:r>
              <a:rPr lang="en-US" sz="650" i="1" dirty="0">
                <a:solidFill>
                  <a:srgbClr val="87919B"/>
                </a:solidFill>
              </a:rPr>
              <a:t>Economic relationship analysis uses year-over-year growth to reduce common-trend distortion.</a:t>
            </a:r>
            <a:endParaRPr lang="en-US" sz="650" dirty="0"/>
          </a:p>
        </p:txBody>
      </p:sp>
      <p:sp>
        <p:nvSpPr>
          <p:cNvPr id="25"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What remains after controlling for several economic forces?</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The supporting regression reinforces persistence and regime effects</a:t>
            </a:r>
            <a:endParaRPr lang="en-US" sz="1050" dirty="0"/>
          </a:p>
        </p:txBody>
      </p:sp>
      <p:sp>
        <p:nvSpPr>
          <p:cNvPr id="4" name="Shape 2"/>
          <p:cNvSpPr/>
          <p:nvPr/>
        </p:nvSpPr>
        <p:spPr>
          <a:xfrm>
            <a:off x="9829800" y="347472"/>
            <a:ext cx="1847088" cy="310896"/>
          </a:xfrm>
          <a:prstGeom prst="roundRect">
            <a:avLst>
              <a:gd name="adj" fmla="val 17647"/>
            </a:avLst>
          </a:prstGeom>
          <a:solidFill>
            <a:srgbClr val="123B5D"/>
          </a:solidFill>
          <a:ln w="12700">
            <a:solidFill>
              <a:srgbClr val="123B5D"/>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MODEL EVIDENCE</a:t>
            </a:r>
            <a:endParaRPr lang="en-US" sz="800" dirty="0"/>
          </a:p>
        </p:txBody>
      </p:sp>
      <p:sp>
        <p:nvSpPr>
          <p:cNvPr id="6" name="Shape 4"/>
          <p:cNvSpPr/>
          <p:nvPr/>
        </p:nvSpPr>
        <p:spPr>
          <a:xfrm>
            <a:off x="658368" y="1417320"/>
            <a:ext cx="7498080" cy="667512"/>
          </a:xfrm>
          <a:prstGeom prst="roundRect">
            <a:avLst>
              <a:gd name="adj" fmla="val 6849"/>
            </a:avLst>
          </a:prstGeom>
          <a:solidFill>
            <a:srgbClr val="FFFFFF"/>
          </a:solidFill>
          <a:ln w="12700">
            <a:solidFill>
              <a:srgbClr val="D9E1E8"/>
            </a:solidFill>
            <a:prstDash val="solid"/>
          </a:ln>
        </p:spPr>
        <p:txBody>
          <a:bodyPr/>
          <a:lstStyle/>
          <a:p>
            <a:endParaRPr lang="LID4096"/>
          </a:p>
        </p:txBody>
      </p:sp>
      <p:sp>
        <p:nvSpPr>
          <p:cNvPr id="7" name="Text 5"/>
          <p:cNvSpPr/>
          <p:nvPr/>
        </p:nvSpPr>
        <p:spPr>
          <a:xfrm>
            <a:off x="868680" y="1536192"/>
            <a:ext cx="2331720" cy="219456"/>
          </a:xfrm>
          <a:prstGeom prst="rect">
            <a:avLst/>
          </a:prstGeom>
          <a:noFill/>
          <a:ln/>
        </p:spPr>
        <p:txBody>
          <a:bodyPr wrap="square" lIns="0" tIns="0" rIns="0" bIns="0" rtlCol="0" anchor="ctr"/>
          <a:lstStyle/>
          <a:p>
            <a:pPr marL="0" indent="0">
              <a:buNone/>
            </a:pPr>
            <a:r>
              <a:rPr lang="en-US" sz="1110" b="1" dirty="0">
                <a:solidFill>
                  <a:srgbClr val="1F2937"/>
                </a:solidFill>
              </a:rPr>
              <a:t>Lagged e-commerce growth</a:t>
            </a:r>
            <a:endParaRPr lang="en-US" sz="1110" dirty="0"/>
          </a:p>
        </p:txBody>
      </p:sp>
      <p:sp>
        <p:nvSpPr>
          <p:cNvPr id="8" name="Text 6"/>
          <p:cNvSpPr/>
          <p:nvPr/>
        </p:nvSpPr>
        <p:spPr>
          <a:xfrm>
            <a:off x="868680" y="1783080"/>
            <a:ext cx="3749040" cy="173736"/>
          </a:xfrm>
          <a:prstGeom prst="rect">
            <a:avLst/>
          </a:prstGeom>
          <a:noFill/>
          <a:ln/>
        </p:spPr>
        <p:txBody>
          <a:bodyPr wrap="square" lIns="0" tIns="0" rIns="0" bIns="0" rtlCol="0" anchor="ctr"/>
          <a:lstStyle/>
          <a:p>
            <a:pPr marL="0" indent="0">
              <a:buNone/>
            </a:pPr>
            <a:r>
              <a:rPr lang="en-US" sz="860" dirty="0">
                <a:solidFill>
                  <a:srgbClr val="5F6B76"/>
                </a:solidFill>
              </a:rPr>
              <a:t>Short-run growth is persistent.</a:t>
            </a:r>
            <a:endParaRPr lang="en-US" sz="860" dirty="0"/>
          </a:p>
        </p:txBody>
      </p:sp>
      <p:sp>
        <p:nvSpPr>
          <p:cNvPr id="9" name="Text 7"/>
          <p:cNvSpPr/>
          <p:nvPr/>
        </p:nvSpPr>
        <p:spPr>
          <a:xfrm>
            <a:off x="4709160" y="1581912"/>
            <a:ext cx="731520" cy="201168"/>
          </a:xfrm>
          <a:prstGeom prst="rect">
            <a:avLst/>
          </a:prstGeom>
          <a:noFill/>
          <a:ln/>
        </p:spPr>
        <p:txBody>
          <a:bodyPr wrap="square" lIns="0" tIns="0" rIns="0" bIns="0" rtlCol="0" anchor="ctr"/>
          <a:lstStyle/>
          <a:p>
            <a:pPr marL="0" indent="0" algn="ctr">
              <a:buNone/>
            </a:pPr>
            <a:r>
              <a:rPr lang="en-US" sz="1050" b="1" dirty="0">
                <a:solidFill>
                  <a:srgbClr val="1F2937"/>
                </a:solidFill>
              </a:rPr>
              <a:t>+0.558</a:t>
            </a:r>
            <a:endParaRPr lang="en-US" sz="1050" dirty="0"/>
          </a:p>
        </p:txBody>
      </p:sp>
      <p:sp>
        <p:nvSpPr>
          <p:cNvPr id="10" name="Text 8"/>
          <p:cNvSpPr/>
          <p:nvPr/>
        </p:nvSpPr>
        <p:spPr>
          <a:xfrm>
            <a:off x="5532120" y="1581912"/>
            <a:ext cx="731520" cy="201168"/>
          </a:xfrm>
          <a:prstGeom prst="rect">
            <a:avLst/>
          </a:prstGeom>
          <a:noFill/>
          <a:ln/>
        </p:spPr>
        <p:txBody>
          <a:bodyPr wrap="square" lIns="0" tIns="0" rIns="0" bIns="0" rtlCol="0" anchor="ctr"/>
          <a:lstStyle/>
          <a:p>
            <a:pPr marL="0" indent="0" algn="ctr">
              <a:buNone/>
            </a:pPr>
            <a:r>
              <a:rPr lang="en-US" sz="940" dirty="0">
                <a:solidFill>
                  <a:srgbClr val="5F6B76"/>
                </a:solidFill>
              </a:rPr>
              <a:t>p &lt; .001</a:t>
            </a:r>
            <a:endParaRPr lang="en-US" sz="940" dirty="0"/>
          </a:p>
        </p:txBody>
      </p:sp>
      <p:sp>
        <p:nvSpPr>
          <p:cNvPr id="11" name="Shape 9"/>
          <p:cNvSpPr/>
          <p:nvPr/>
        </p:nvSpPr>
        <p:spPr>
          <a:xfrm>
            <a:off x="6446520" y="1554480"/>
            <a:ext cx="1417320" cy="329184"/>
          </a:xfrm>
          <a:prstGeom prst="roundRect">
            <a:avLst>
              <a:gd name="adj" fmla="val 13889"/>
            </a:avLst>
          </a:prstGeom>
          <a:solidFill>
            <a:srgbClr val="EAF6EE"/>
          </a:solidFill>
          <a:ln w="12700">
            <a:solidFill>
              <a:srgbClr val="B9DEC6"/>
            </a:solidFill>
            <a:prstDash val="solid"/>
          </a:ln>
        </p:spPr>
        <p:txBody>
          <a:bodyPr/>
          <a:lstStyle/>
          <a:p>
            <a:endParaRPr lang="LID4096"/>
          </a:p>
        </p:txBody>
      </p:sp>
      <p:sp>
        <p:nvSpPr>
          <p:cNvPr id="12" name="Text 10"/>
          <p:cNvSpPr/>
          <p:nvPr/>
        </p:nvSpPr>
        <p:spPr>
          <a:xfrm>
            <a:off x="6556248" y="1650492"/>
            <a:ext cx="1188720" cy="100584"/>
          </a:xfrm>
          <a:prstGeom prst="rect">
            <a:avLst/>
          </a:prstGeom>
          <a:noFill/>
          <a:ln/>
        </p:spPr>
        <p:txBody>
          <a:bodyPr wrap="square" lIns="0" tIns="0" rIns="0" bIns="0" rtlCol="0" anchor="ctr"/>
          <a:lstStyle/>
          <a:p>
            <a:pPr marL="0" indent="0" algn="ctr">
              <a:buNone/>
            </a:pPr>
            <a:r>
              <a:rPr lang="en-US" sz="690" b="1" dirty="0">
                <a:solidFill>
                  <a:srgbClr val="2F855A"/>
                </a:solidFill>
              </a:rPr>
              <a:t>SIGNIFICANT</a:t>
            </a:r>
            <a:endParaRPr lang="en-US" sz="690" dirty="0"/>
          </a:p>
        </p:txBody>
      </p:sp>
      <p:sp>
        <p:nvSpPr>
          <p:cNvPr id="13" name="Shape 11"/>
          <p:cNvSpPr/>
          <p:nvPr/>
        </p:nvSpPr>
        <p:spPr>
          <a:xfrm>
            <a:off x="658368" y="2258568"/>
            <a:ext cx="7498080" cy="667512"/>
          </a:xfrm>
          <a:prstGeom prst="roundRect">
            <a:avLst>
              <a:gd name="adj" fmla="val 6849"/>
            </a:avLst>
          </a:prstGeom>
          <a:solidFill>
            <a:srgbClr val="FFFFFF"/>
          </a:solidFill>
          <a:ln w="12700">
            <a:solidFill>
              <a:srgbClr val="D9E1E8"/>
            </a:solidFill>
            <a:prstDash val="solid"/>
          </a:ln>
        </p:spPr>
        <p:txBody>
          <a:bodyPr/>
          <a:lstStyle/>
          <a:p>
            <a:endParaRPr lang="LID4096"/>
          </a:p>
        </p:txBody>
      </p:sp>
      <p:sp>
        <p:nvSpPr>
          <p:cNvPr id="14" name="Text 12"/>
          <p:cNvSpPr/>
          <p:nvPr/>
        </p:nvSpPr>
        <p:spPr>
          <a:xfrm>
            <a:off x="868680" y="2377440"/>
            <a:ext cx="2331720" cy="219456"/>
          </a:xfrm>
          <a:prstGeom prst="rect">
            <a:avLst/>
          </a:prstGeom>
          <a:noFill/>
          <a:ln/>
        </p:spPr>
        <p:txBody>
          <a:bodyPr wrap="square" lIns="0" tIns="0" rIns="0" bIns="0" rtlCol="0" anchor="ctr"/>
          <a:lstStyle/>
          <a:p>
            <a:pPr marL="0" indent="0">
              <a:buNone/>
            </a:pPr>
            <a:r>
              <a:rPr lang="en-US" sz="1110" b="1" dirty="0">
                <a:solidFill>
                  <a:srgbClr val="1F2937"/>
                </a:solidFill>
              </a:rPr>
              <a:t>HFCE YoY growth</a:t>
            </a:r>
            <a:endParaRPr lang="en-US" sz="1110" dirty="0"/>
          </a:p>
        </p:txBody>
      </p:sp>
      <p:sp>
        <p:nvSpPr>
          <p:cNvPr id="15" name="Text 13"/>
          <p:cNvSpPr/>
          <p:nvPr/>
        </p:nvSpPr>
        <p:spPr>
          <a:xfrm>
            <a:off x="868680" y="2624328"/>
            <a:ext cx="3749040" cy="173736"/>
          </a:xfrm>
          <a:prstGeom prst="rect">
            <a:avLst/>
          </a:prstGeom>
          <a:noFill/>
          <a:ln/>
        </p:spPr>
        <p:txBody>
          <a:bodyPr wrap="square" lIns="0" tIns="0" rIns="0" bIns="0" rtlCol="0" anchor="ctr"/>
          <a:lstStyle/>
          <a:p>
            <a:pPr marL="0" indent="0">
              <a:buNone/>
            </a:pPr>
            <a:r>
              <a:rPr lang="en-US" sz="860" dirty="0">
                <a:solidFill>
                  <a:srgbClr val="5F6B76"/>
                </a:solidFill>
              </a:rPr>
              <a:t>Channel substitution / regime effects remain important.</a:t>
            </a:r>
            <a:endParaRPr lang="en-US" sz="860" dirty="0"/>
          </a:p>
        </p:txBody>
      </p:sp>
      <p:sp>
        <p:nvSpPr>
          <p:cNvPr id="16" name="Text 14"/>
          <p:cNvSpPr/>
          <p:nvPr/>
        </p:nvSpPr>
        <p:spPr>
          <a:xfrm>
            <a:off x="4709160" y="2423160"/>
            <a:ext cx="731520" cy="201168"/>
          </a:xfrm>
          <a:prstGeom prst="rect">
            <a:avLst/>
          </a:prstGeom>
          <a:noFill/>
          <a:ln/>
        </p:spPr>
        <p:txBody>
          <a:bodyPr wrap="square" lIns="0" tIns="0" rIns="0" bIns="0" rtlCol="0" anchor="ctr"/>
          <a:lstStyle/>
          <a:p>
            <a:pPr marL="0" indent="0" algn="ctr">
              <a:buNone/>
            </a:pPr>
            <a:r>
              <a:rPr lang="en-US" sz="1050" b="1" dirty="0">
                <a:solidFill>
                  <a:srgbClr val="1F2937"/>
                </a:solidFill>
              </a:rPr>
              <a:t>−2.291</a:t>
            </a:r>
            <a:endParaRPr lang="en-US" sz="1050" dirty="0"/>
          </a:p>
        </p:txBody>
      </p:sp>
      <p:sp>
        <p:nvSpPr>
          <p:cNvPr id="17" name="Text 15"/>
          <p:cNvSpPr/>
          <p:nvPr/>
        </p:nvSpPr>
        <p:spPr>
          <a:xfrm>
            <a:off x="5532120" y="2423160"/>
            <a:ext cx="731520" cy="201168"/>
          </a:xfrm>
          <a:prstGeom prst="rect">
            <a:avLst/>
          </a:prstGeom>
          <a:noFill/>
          <a:ln/>
        </p:spPr>
        <p:txBody>
          <a:bodyPr wrap="square" lIns="0" tIns="0" rIns="0" bIns="0" rtlCol="0" anchor="ctr"/>
          <a:lstStyle/>
          <a:p>
            <a:pPr marL="0" indent="0" algn="ctr">
              <a:buNone/>
            </a:pPr>
            <a:r>
              <a:rPr lang="en-US" sz="940" dirty="0">
                <a:solidFill>
                  <a:srgbClr val="5F6B76"/>
                </a:solidFill>
              </a:rPr>
              <a:t>p &lt; .001</a:t>
            </a:r>
            <a:endParaRPr lang="en-US" sz="940" dirty="0"/>
          </a:p>
        </p:txBody>
      </p:sp>
      <p:sp>
        <p:nvSpPr>
          <p:cNvPr id="18" name="Shape 16"/>
          <p:cNvSpPr/>
          <p:nvPr/>
        </p:nvSpPr>
        <p:spPr>
          <a:xfrm>
            <a:off x="6446520" y="2395728"/>
            <a:ext cx="1417320" cy="329184"/>
          </a:xfrm>
          <a:prstGeom prst="roundRect">
            <a:avLst>
              <a:gd name="adj" fmla="val 13889"/>
            </a:avLst>
          </a:prstGeom>
          <a:solidFill>
            <a:srgbClr val="EAF6EE"/>
          </a:solidFill>
          <a:ln w="12700">
            <a:solidFill>
              <a:srgbClr val="B9DEC6"/>
            </a:solidFill>
            <a:prstDash val="solid"/>
          </a:ln>
        </p:spPr>
        <p:txBody>
          <a:bodyPr/>
          <a:lstStyle/>
          <a:p>
            <a:endParaRPr lang="LID4096"/>
          </a:p>
        </p:txBody>
      </p:sp>
      <p:sp>
        <p:nvSpPr>
          <p:cNvPr id="19" name="Text 17"/>
          <p:cNvSpPr/>
          <p:nvPr/>
        </p:nvSpPr>
        <p:spPr>
          <a:xfrm>
            <a:off x="6556248" y="2491740"/>
            <a:ext cx="1188720" cy="100584"/>
          </a:xfrm>
          <a:prstGeom prst="rect">
            <a:avLst/>
          </a:prstGeom>
          <a:noFill/>
          <a:ln/>
        </p:spPr>
        <p:txBody>
          <a:bodyPr wrap="square" lIns="0" tIns="0" rIns="0" bIns="0" rtlCol="0" anchor="ctr"/>
          <a:lstStyle/>
          <a:p>
            <a:pPr marL="0" indent="0" algn="ctr">
              <a:buNone/>
            </a:pPr>
            <a:r>
              <a:rPr lang="en-US" sz="690" b="1" dirty="0">
                <a:solidFill>
                  <a:srgbClr val="2F855A"/>
                </a:solidFill>
              </a:rPr>
              <a:t>SIGNIFICANT</a:t>
            </a:r>
            <a:endParaRPr lang="en-US" sz="690" dirty="0"/>
          </a:p>
        </p:txBody>
      </p:sp>
      <p:sp>
        <p:nvSpPr>
          <p:cNvPr id="20" name="Shape 18"/>
          <p:cNvSpPr/>
          <p:nvPr/>
        </p:nvSpPr>
        <p:spPr>
          <a:xfrm>
            <a:off x="658368" y="3099816"/>
            <a:ext cx="7498080" cy="667512"/>
          </a:xfrm>
          <a:prstGeom prst="roundRect">
            <a:avLst>
              <a:gd name="adj" fmla="val 6849"/>
            </a:avLst>
          </a:prstGeom>
          <a:solidFill>
            <a:srgbClr val="FFFFFF"/>
          </a:solidFill>
          <a:ln w="12700">
            <a:solidFill>
              <a:srgbClr val="D9E1E8"/>
            </a:solidFill>
            <a:prstDash val="solid"/>
          </a:ln>
        </p:spPr>
        <p:txBody>
          <a:bodyPr/>
          <a:lstStyle/>
          <a:p>
            <a:endParaRPr lang="LID4096"/>
          </a:p>
        </p:txBody>
      </p:sp>
      <p:sp>
        <p:nvSpPr>
          <p:cNvPr id="21" name="Text 19"/>
          <p:cNvSpPr/>
          <p:nvPr/>
        </p:nvSpPr>
        <p:spPr>
          <a:xfrm>
            <a:off x="868680" y="3218688"/>
            <a:ext cx="2331720" cy="219456"/>
          </a:xfrm>
          <a:prstGeom prst="rect">
            <a:avLst/>
          </a:prstGeom>
          <a:noFill/>
          <a:ln/>
        </p:spPr>
        <p:txBody>
          <a:bodyPr wrap="square" lIns="0" tIns="0" rIns="0" bIns="0" rtlCol="0" anchor="ctr"/>
          <a:lstStyle/>
          <a:p>
            <a:pPr marL="0" indent="0">
              <a:buNone/>
            </a:pPr>
            <a:r>
              <a:rPr lang="en-US" sz="1110" b="1" dirty="0">
                <a:solidFill>
                  <a:srgbClr val="1F2937"/>
                </a:solidFill>
              </a:rPr>
              <a:t>Pandemic dummy</a:t>
            </a:r>
            <a:endParaRPr lang="en-US" sz="1110" dirty="0"/>
          </a:p>
        </p:txBody>
      </p:sp>
      <p:sp>
        <p:nvSpPr>
          <p:cNvPr id="22" name="Text 20"/>
          <p:cNvSpPr/>
          <p:nvPr/>
        </p:nvSpPr>
        <p:spPr>
          <a:xfrm>
            <a:off x="868680" y="3465576"/>
            <a:ext cx="3749040" cy="173736"/>
          </a:xfrm>
          <a:prstGeom prst="rect">
            <a:avLst/>
          </a:prstGeom>
          <a:noFill/>
          <a:ln/>
        </p:spPr>
        <p:txBody>
          <a:bodyPr wrap="square" lIns="0" tIns="0" rIns="0" bIns="0" rtlCol="0" anchor="ctr"/>
          <a:lstStyle/>
          <a:p>
            <a:pPr marL="0" indent="0">
              <a:buNone/>
            </a:pPr>
            <a:r>
              <a:rPr lang="en-US" sz="860" dirty="0">
                <a:solidFill>
                  <a:srgbClr val="5F6B76"/>
                </a:solidFill>
              </a:rPr>
              <a:t>2020–2021 remained an exceptional positive regime.</a:t>
            </a:r>
            <a:endParaRPr lang="en-US" sz="860" dirty="0"/>
          </a:p>
        </p:txBody>
      </p:sp>
      <p:sp>
        <p:nvSpPr>
          <p:cNvPr id="23" name="Text 21"/>
          <p:cNvSpPr/>
          <p:nvPr/>
        </p:nvSpPr>
        <p:spPr>
          <a:xfrm>
            <a:off x="4709160" y="3264408"/>
            <a:ext cx="731520" cy="201168"/>
          </a:xfrm>
          <a:prstGeom prst="rect">
            <a:avLst/>
          </a:prstGeom>
          <a:noFill/>
          <a:ln/>
        </p:spPr>
        <p:txBody>
          <a:bodyPr wrap="square" lIns="0" tIns="0" rIns="0" bIns="0" rtlCol="0" anchor="ctr"/>
          <a:lstStyle/>
          <a:p>
            <a:pPr marL="0" indent="0" algn="ctr">
              <a:buNone/>
            </a:pPr>
            <a:r>
              <a:rPr lang="en-US" sz="1050" b="1" dirty="0">
                <a:solidFill>
                  <a:srgbClr val="1F2937"/>
                </a:solidFill>
              </a:rPr>
              <a:t>+8.690</a:t>
            </a:r>
            <a:endParaRPr lang="en-US" sz="1050" dirty="0"/>
          </a:p>
        </p:txBody>
      </p:sp>
      <p:sp>
        <p:nvSpPr>
          <p:cNvPr id="24" name="Text 22"/>
          <p:cNvSpPr/>
          <p:nvPr/>
        </p:nvSpPr>
        <p:spPr>
          <a:xfrm>
            <a:off x="5532120" y="3264408"/>
            <a:ext cx="731520" cy="201168"/>
          </a:xfrm>
          <a:prstGeom prst="rect">
            <a:avLst/>
          </a:prstGeom>
          <a:noFill/>
          <a:ln/>
        </p:spPr>
        <p:txBody>
          <a:bodyPr wrap="square" lIns="0" tIns="0" rIns="0" bIns="0" rtlCol="0" anchor="ctr"/>
          <a:lstStyle/>
          <a:p>
            <a:pPr marL="0" indent="0" algn="ctr">
              <a:buNone/>
            </a:pPr>
            <a:r>
              <a:rPr lang="en-US" sz="940" dirty="0">
                <a:solidFill>
                  <a:srgbClr val="5F6B76"/>
                </a:solidFill>
              </a:rPr>
              <a:t>p = .017</a:t>
            </a:r>
            <a:endParaRPr lang="en-US" sz="940" dirty="0"/>
          </a:p>
        </p:txBody>
      </p:sp>
      <p:sp>
        <p:nvSpPr>
          <p:cNvPr id="25" name="Shape 23"/>
          <p:cNvSpPr/>
          <p:nvPr/>
        </p:nvSpPr>
        <p:spPr>
          <a:xfrm>
            <a:off x="6446520" y="3236976"/>
            <a:ext cx="1417320" cy="329184"/>
          </a:xfrm>
          <a:prstGeom prst="roundRect">
            <a:avLst>
              <a:gd name="adj" fmla="val 13889"/>
            </a:avLst>
          </a:prstGeom>
          <a:solidFill>
            <a:srgbClr val="EAF6EE"/>
          </a:solidFill>
          <a:ln w="12700">
            <a:solidFill>
              <a:srgbClr val="B9DEC6"/>
            </a:solidFill>
            <a:prstDash val="solid"/>
          </a:ln>
        </p:spPr>
        <p:txBody>
          <a:bodyPr/>
          <a:lstStyle/>
          <a:p>
            <a:endParaRPr lang="LID4096"/>
          </a:p>
        </p:txBody>
      </p:sp>
      <p:sp>
        <p:nvSpPr>
          <p:cNvPr id="26" name="Text 24"/>
          <p:cNvSpPr/>
          <p:nvPr/>
        </p:nvSpPr>
        <p:spPr>
          <a:xfrm>
            <a:off x="6556248" y="3332988"/>
            <a:ext cx="1188720" cy="100584"/>
          </a:xfrm>
          <a:prstGeom prst="rect">
            <a:avLst/>
          </a:prstGeom>
          <a:noFill/>
          <a:ln/>
        </p:spPr>
        <p:txBody>
          <a:bodyPr wrap="square" lIns="0" tIns="0" rIns="0" bIns="0" rtlCol="0" anchor="ctr"/>
          <a:lstStyle/>
          <a:p>
            <a:pPr marL="0" indent="0" algn="ctr">
              <a:buNone/>
            </a:pPr>
            <a:r>
              <a:rPr lang="en-US" sz="690" b="1" dirty="0">
                <a:solidFill>
                  <a:srgbClr val="2F855A"/>
                </a:solidFill>
              </a:rPr>
              <a:t>SIGNIFICANT</a:t>
            </a:r>
            <a:endParaRPr lang="en-US" sz="690" dirty="0"/>
          </a:p>
        </p:txBody>
      </p:sp>
      <p:sp>
        <p:nvSpPr>
          <p:cNvPr id="27" name="Shape 25"/>
          <p:cNvSpPr/>
          <p:nvPr/>
        </p:nvSpPr>
        <p:spPr>
          <a:xfrm>
            <a:off x="658368" y="3941064"/>
            <a:ext cx="7498080" cy="667512"/>
          </a:xfrm>
          <a:prstGeom prst="roundRect">
            <a:avLst>
              <a:gd name="adj" fmla="val 6849"/>
            </a:avLst>
          </a:prstGeom>
          <a:solidFill>
            <a:srgbClr val="FFFFFF"/>
          </a:solidFill>
          <a:ln w="12700">
            <a:solidFill>
              <a:srgbClr val="D9E1E8"/>
            </a:solidFill>
            <a:prstDash val="solid"/>
          </a:ln>
        </p:spPr>
        <p:txBody>
          <a:bodyPr/>
          <a:lstStyle/>
          <a:p>
            <a:endParaRPr lang="LID4096"/>
          </a:p>
        </p:txBody>
      </p:sp>
      <p:sp>
        <p:nvSpPr>
          <p:cNvPr id="28" name="Text 26"/>
          <p:cNvSpPr/>
          <p:nvPr/>
        </p:nvSpPr>
        <p:spPr>
          <a:xfrm>
            <a:off x="868680" y="4059936"/>
            <a:ext cx="2331720" cy="219456"/>
          </a:xfrm>
          <a:prstGeom prst="rect">
            <a:avLst/>
          </a:prstGeom>
          <a:noFill/>
          <a:ln/>
        </p:spPr>
        <p:txBody>
          <a:bodyPr wrap="square" lIns="0" tIns="0" rIns="0" bIns="0" rtlCol="0" anchor="ctr"/>
          <a:lstStyle/>
          <a:p>
            <a:pPr marL="0" indent="0">
              <a:buNone/>
            </a:pPr>
            <a:r>
              <a:rPr lang="en-US" sz="1110" b="1" dirty="0">
                <a:solidFill>
                  <a:srgbClr val="1F2937"/>
                </a:solidFill>
              </a:rPr>
              <a:t>CPI YoY inflation</a:t>
            </a:r>
            <a:endParaRPr lang="en-US" sz="1110" dirty="0"/>
          </a:p>
        </p:txBody>
      </p:sp>
      <p:sp>
        <p:nvSpPr>
          <p:cNvPr id="29" name="Text 27"/>
          <p:cNvSpPr/>
          <p:nvPr/>
        </p:nvSpPr>
        <p:spPr>
          <a:xfrm>
            <a:off x="868680" y="4306824"/>
            <a:ext cx="3749040" cy="173736"/>
          </a:xfrm>
          <a:prstGeom prst="rect">
            <a:avLst/>
          </a:prstGeom>
          <a:noFill/>
          <a:ln/>
        </p:spPr>
        <p:txBody>
          <a:bodyPr wrap="square" lIns="0" tIns="0" rIns="0" bIns="0" rtlCol="0" anchor="ctr"/>
          <a:lstStyle/>
          <a:p>
            <a:pPr marL="0" indent="0">
              <a:buNone/>
            </a:pPr>
            <a:r>
              <a:rPr lang="en-US" sz="860" dirty="0">
                <a:solidFill>
                  <a:srgbClr val="5F6B76"/>
                </a:solidFill>
              </a:rPr>
              <a:t>The bivariate inflation link is not an independent effect.</a:t>
            </a:r>
            <a:endParaRPr lang="en-US" sz="860" dirty="0"/>
          </a:p>
        </p:txBody>
      </p:sp>
      <p:sp>
        <p:nvSpPr>
          <p:cNvPr id="30" name="Text 28"/>
          <p:cNvSpPr/>
          <p:nvPr/>
        </p:nvSpPr>
        <p:spPr>
          <a:xfrm>
            <a:off x="4709160" y="4105656"/>
            <a:ext cx="731520" cy="201168"/>
          </a:xfrm>
          <a:prstGeom prst="rect">
            <a:avLst/>
          </a:prstGeom>
          <a:noFill/>
          <a:ln/>
        </p:spPr>
        <p:txBody>
          <a:bodyPr wrap="square" lIns="0" tIns="0" rIns="0" bIns="0" rtlCol="0" anchor="ctr"/>
          <a:lstStyle/>
          <a:p>
            <a:pPr marL="0" indent="0" algn="ctr">
              <a:buNone/>
            </a:pPr>
            <a:r>
              <a:rPr lang="en-US" sz="1050" b="1" dirty="0">
                <a:solidFill>
                  <a:srgbClr val="1F2937"/>
                </a:solidFill>
              </a:rPr>
              <a:t>+1.393</a:t>
            </a:r>
            <a:endParaRPr lang="en-US" sz="1050" dirty="0"/>
          </a:p>
        </p:txBody>
      </p:sp>
      <p:sp>
        <p:nvSpPr>
          <p:cNvPr id="31" name="Text 29"/>
          <p:cNvSpPr/>
          <p:nvPr/>
        </p:nvSpPr>
        <p:spPr>
          <a:xfrm>
            <a:off x="5532120" y="4105656"/>
            <a:ext cx="731520" cy="201168"/>
          </a:xfrm>
          <a:prstGeom prst="rect">
            <a:avLst/>
          </a:prstGeom>
          <a:noFill/>
          <a:ln/>
        </p:spPr>
        <p:txBody>
          <a:bodyPr wrap="square" lIns="0" tIns="0" rIns="0" bIns="0" rtlCol="0" anchor="ctr"/>
          <a:lstStyle/>
          <a:p>
            <a:pPr marL="0" indent="0" algn="ctr">
              <a:buNone/>
            </a:pPr>
            <a:r>
              <a:rPr lang="en-US" sz="940" dirty="0">
                <a:solidFill>
                  <a:srgbClr val="5F6B76"/>
                </a:solidFill>
              </a:rPr>
              <a:t>p = .326</a:t>
            </a:r>
            <a:endParaRPr lang="en-US" sz="940" dirty="0"/>
          </a:p>
        </p:txBody>
      </p:sp>
      <p:sp>
        <p:nvSpPr>
          <p:cNvPr id="32" name="Shape 30"/>
          <p:cNvSpPr/>
          <p:nvPr/>
        </p:nvSpPr>
        <p:spPr>
          <a:xfrm>
            <a:off x="6446520" y="4078224"/>
            <a:ext cx="1417320" cy="329184"/>
          </a:xfrm>
          <a:prstGeom prst="roundRect">
            <a:avLst>
              <a:gd name="adj" fmla="val 13889"/>
            </a:avLst>
          </a:prstGeom>
          <a:solidFill>
            <a:srgbClr val="FBEAEA"/>
          </a:solidFill>
          <a:ln w="12700">
            <a:solidFill>
              <a:srgbClr val="F0C0C0"/>
            </a:solidFill>
            <a:prstDash val="solid"/>
          </a:ln>
        </p:spPr>
        <p:txBody>
          <a:bodyPr/>
          <a:lstStyle/>
          <a:p>
            <a:endParaRPr lang="LID4096"/>
          </a:p>
        </p:txBody>
      </p:sp>
      <p:sp>
        <p:nvSpPr>
          <p:cNvPr id="33" name="Text 31"/>
          <p:cNvSpPr/>
          <p:nvPr/>
        </p:nvSpPr>
        <p:spPr>
          <a:xfrm>
            <a:off x="6556248" y="4174236"/>
            <a:ext cx="1188720" cy="100584"/>
          </a:xfrm>
          <a:prstGeom prst="rect">
            <a:avLst/>
          </a:prstGeom>
          <a:noFill/>
          <a:ln/>
        </p:spPr>
        <p:txBody>
          <a:bodyPr wrap="square" lIns="0" tIns="0" rIns="0" bIns="0" rtlCol="0" anchor="ctr"/>
          <a:lstStyle/>
          <a:p>
            <a:pPr marL="0" indent="0" algn="ctr">
              <a:buNone/>
            </a:pPr>
            <a:r>
              <a:rPr lang="en-US" sz="690" b="1" dirty="0">
                <a:solidFill>
                  <a:srgbClr val="C94A4A"/>
                </a:solidFill>
              </a:rPr>
              <a:t>NOT SIGNIFICANT</a:t>
            </a:r>
            <a:endParaRPr lang="en-US" sz="690" dirty="0"/>
          </a:p>
        </p:txBody>
      </p:sp>
      <p:sp>
        <p:nvSpPr>
          <p:cNvPr id="34" name="Shape 32"/>
          <p:cNvSpPr/>
          <p:nvPr/>
        </p:nvSpPr>
        <p:spPr>
          <a:xfrm>
            <a:off x="658368" y="4782312"/>
            <a:ext cx="7498080" cy="667512"/>
          </a:xfrm>
          <a:prstGeom prst="roundRect">
            <a:avLst>
              <a:gd name="adj" fmla="val 6849"/>
            </a:avLst>
          </a:prstGeom>
          <a:solidFill>
            <a:srgbClr val="FFFFFF"/>
          </a:solidFill>
          <a:ln w="12700">
            <a:solidFill>
              <a:srgbClr val="D9E1E8"/>
            </a:solidFill>
            <a:prstDash val="solid"/>
          </a:ln>
        </p:spPr>
        <p:txBody>
          <a:bodyPr/>
          <a:lstStyle/>
          <a:p>
            <a:endParaRPr lang="LID4096"/>
          </a:p>
        </p:txBody>
      </p:sp>
      <p:sp>
        <p:nvSpPr>
          <p:cNvPr id="35" name="Text 33"/>
          <p:cNvSpPr/>
          <p:nvPr/>
        </p:nvSpPr>
        <p:spPr>
          <a:xfrm>
            <a:off x="868680" y="4901184"/>
            <a:ext cx="2331720" cy="219456"/>
          </a:xfrm>
          <a:prstGeom prst="rect">
            <a:avLst/>
          </a:prstGeom>
          <a:noFill/>
          <a:ln/>
        </p:spPr>
        <p:txBody>
          <a:bodyPr wrap="square" lIns="0" tIns="0" rIns="0" bIns="0" rtlCol="0" anchor="ctr"/>
          <a:lstStyle/>
          <a:p>
            <a:pPr marL="0" indent="0">
              <a:buNone/>
            </a:pPr>
            <a:r>
              <a:rPr lang="en-US" sz="1110" b="1" dirty="0">
                <a:solidFill>
                  <a:srgbClr val="1F2937"/>
                </a:solidFill>
              </a:rPr>
              <a:t>Consumer confidence</a:t>
            </a:r>
            <a:endParaRPr lang="en-US" sz="1110" dirty="0"/>
          </a:p>
        </p:txBody>
      </p:sp>
      <p:sp>
        <p:nvSpPr>
          <p:cNvPr id="36" name="Text 34"/>
          <p:cNvSpPr/>
          <p:nvPr/>
        </p:nvSpPr>
        <p:spPr>
          <a:xfrm>
            <a:off x="868680" y="5148072"/>
            <a:ext cx="3749040" cy="173736"/>
          </a:xfrm>
          <a:prstGeom prst="rect">
            <a:avLst/>
          </a:prstGeom>
          <a:noFill/>
          <a:ln/>
        </p:spPr>
        <p:txBody>
          <a:bodyPr wrap="square" lIns="0" tIns="0" rIns="0" bIns="0" rtlCol="0" anchor="ctr"/>
          <a:lstStyle/>
          <a:p>
            <a:pPr marL="0" indent="0">
              <a:buNone/>
            </a:pPr>
            <a:r>
              <a:rPr lang="en-US" sz="860" dirty="0">
                <a:solidFill>
                  <a:srgbClr val="5F6B76"/>
                </a:solidFill>
              </a:rPr>
              <a:t>Useful context, but not a stable independent driver.</a:t>
            </a:r>
            <a:endParaRPr lang="en-US" sz="860" dirty="0"/>
          </a:p>
        </p:txBody>
      </p:sp>
      <p:sp>
        <p:nvSpPr>
          <p:cNvPr id="37" name="Text 35"/>
          <p:cNvSpPr/>
          <p:nvPr/>
        </p:nvSpPr>
        <p:spPr>
          <a:xfrm>
            <a:off x="4709160" y="4946904"/>
            <a:ext cx="731520" cy="201168"/>
          </a:xfrm>
          <a:prstGeom prst="rect">
            <a:avLst/>
          </a:prstGeom>
          <a:noFill/>
          <a:ln/>
        </p:spPr>
        <p:txBody>
          <a:bodyPr wrap="square" lIns="0" tIns="0" rIns="0" bIns="0" rtlCol="0" anchor="ctr"/>
          <a:lstStyle/>
          <a:p>
            <a:pPr marL="0" indent="0" algn="ctr">
              <a:buNone/>
            </a:pPr>
            <a:r>
              <a:rPr lang="en-US" sz="1050" b="1" dirty="0">
                <a:solidFill>
                  <a:srgbClr val="1F2937"/>
                </a:solidFill>
              </a:rPr>
              <a:t>+0.447</a:t>
            </a:r>
            <a:endParaRPr lang="en-US" sz="1050" dirty="0"/>
          </a:p>
        </p:txBody>
      </p:sp>
      <p:sp>
        <p:nvSpPr>
          <p:cNvPr id="38" name="Text 36"/>
          <p:cNvSpPr/>
          <p:nvPr/>
        </p:nvSpPr>
        <p:spPr>
          <a:xfrm>
            <a:off x="5532120" y="4946904"/>
            <a:ext cx="731520" cy="201168"/>
          </a:xfrm>
          <a:prstGeom prst="rect">
            <a:avLst/>
          </a:prstGeom>
          <a:noFill/>
          <a:ln/>
        </p:spPr>
        <p:txBody>
          <a:bodyPr wrap="square" lIns="0" tIns="0" rIns="0" bIns="0" rtlCol="0" anchor="ctr"/>
          <a:lstStyle/>
          <a:p>
            <a:pPr marL="0" indent="0" algn="ctr">
              <a:buNone/>
            </a:pPr>
            <a:r>
              <a:rPr lang="en-US" sz="940" dirty="0">
                <a:solidFill>
                  <a:srgbClr val="5F6B76"/>
                </a:solidFill>
              </a:rPr>
              <a:t>p = .710</a:t>
            </a:r>
            <a:endParaRPr lang="en-US" sz="940" dirty="0"/>
          </a:p>
        </p:txBody>
      </p:sp>
      <p:sp>
        <p:nvSpPr>
          <p:cNvPr id="39" name="Shape 37"/>
          <p:cNvSpPr/>
          <p:nvPr/>
        </p:nvSpPr>
        <p:spPr>
          <a:xfrm>
            <a:off x="6446520" y="4919472"/>
            <a:ext cx="1417320" cy="329184"/>
          </a:xfrm>
          <a:prstGeom prst="roundRect">
            <a:avLst>
              <a:gd name="adj" fmla="val 13889"/>
            </a:avLst>
          </a:prstGeom>
          <a:solidFill>
            <a:srgbClr val="FBEAEA"/>
          </a:solidFill>
          <a:ln w="12700">
            <a:solidFill>
              <a:srgbClr val="F0C0C0"/>
            </a:solidFill>
            <a:prstDash val="solid"/>
          </a:ln>
        </p:spPr>
        <p:txBody>
          <a:bodyPr/>
          <a:lstStyle/>
          <a:p>
            <a:endParaRPr lang="LID4096"/>
          </a:p>
        </p:txBody>
      </p:sp>
      <p:sp>
        <p:nvSpPr>
          <p:cNvPr id="40" name="Text 38"/>
          <p:cNvSpPr/>
          <p:nvPr/>
        </p:nvSpPr>
        <p:spPr>
          <a:xfrm>
            <a:off x="6556248" y="5015484"/>
            <a:ext cx="1188720" cy="100584"/>
          </a:xfrm>
          <a:prstGeom prst="rect">
            <a:avLst/>
          </a:prstGeom>
          <a:noFill/>
          <a:ln/>
        </p:spPr>
        <p:txBody>
          <a:bodyPr wrap="square" lIns="0" tIns="0" rIns="0" bIns="0" rtlCol="0" anchor="ctr"/>
          <a:lstStyle/>
          <a:p>
            <a:pPr marL="0" indent="0" algn="ctr">
              <a:buNone/>
            </a:pPr>
            <a:r>
              <a:rPr lang="en-US" sz="690" b="1" dirty="0">
                <a:solidFill>
                  <a:srgbClr val="C94A4A"/>
                </a:solidFill>
              </a:rPr>
              <a:t>NOT SIGNIFICANT</a:t>
            </a:r>
            <a:endParaRPr lang="en-US" sz="690" dirty="0"/>
          </a:p>
        </p:txBody>
      </p:sp>
      <p:sp>
        <p:nvSpPr>
          <p:cNvPr id="41" name="Shape 39"/>
          <p:cNvSpPr/>
          <p:nvPr/>
        </p:nvSpPr>
        <p:spPr>
          <a:xfrm>
            <a:off x="8458200" y="1417320"/>
            <a:ext cx="2834640" cy="1115568"/>
          </a:xfrm>
          <a:prstGeom prst="roundRect">
            <a:avLst>
              <a:gd name="adj" fmla="val 655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42" name="Shape 40"/>
          <p:cNvSpPr/>
          <p:nvPr/>
        </p:nvSpPr>
        <p:spPr>
          <a:xfrm>
            <a:off x="8458200" y="1417320"/>
            <a:ext cx="73152" cy="1115568"/>
          </a:xfrm>
          <a:prstGeom prst="rect">
            <a:avLst/>
          </a:prstGeom>
          <a:solidFill>
            <a:srgbClr val="123B5D"/>
          </a:solidFill>
          <a:ln w="12700">
            <a:solidFill>
              <a:srgbClr val="123B5D"/>
            </a:solidFill>
            <a:prstDash val="solid"/>
          </a:ln>
        </p:spPr>
        <p:txBody>
          <a:bodyPr/>
          <a:lstStyle/>
          <a:p>
            <a:endParaRPr lang="LID4096"/>
          </a:p>
        </p:txBody>
      </p:sp>
      <p:sp>
        <p:nvSpPr>
          <p:cNvPr id="43" name="Text 41"/>
          <p:cNvSpPr/>
          <p:nvPr/>
        </p:nvSpPr>
        <p:spPr>
          <a:xfrm>
            <a:off x="8677656" y="1618488"/>
            <a:ext cx="2514600" cy="384048"/>
          </a:xfrm>
          <a:prstGeom prst="rect">
            <a:avLst/>
          </a:prstGeom>
          <a:noFill/>
          <a:ln/>
        </p:spPr>
        <p:txBody>
          <a:bodyPr wrap="square" lIns="0" tIns="0" rIns="0" bIns="0" rtlCol="0" anchor="ctr"/>
          <a:lstStyle/>
          <a:p>
            <a:pPr marL="0" indent="0">
              <a:buNone/>
            </a:pPr>
            <a:r>
              <a:rPr lang="en-US" sz="2200" b="1" dirty="0">
                <a:solidFill>
                  <a:srgbClr val="1F2937"/>
                </a:solidFill>
              </a:rPr>
              <a:t>R² ≈ 0.879</a:t>
            </a:r>
            <a:endParaRPr lang="en-US" sz="2200" dirty="0"/>
          </a:p>
        </p:txBody>
      </p:sp>
      <p:sp>
        <p:nvSpPr>
          <p:cNvPr id="44" name="Text 42"/>
          <p:cNvSpPr/>
          <p:nvPr/>
        </p:nvSpPr>
        <p:spPr>
          <a:xfrm>
            <a:off x="8677656" y="2039112"/>
            <a:ext cx="2514600" cy="292608"/>
          </a:xfrm>
          <a:prstGeom prst="rect">
            <a:avLst/>
          </a:prstGeom>
          <a:noFill/>
          <a:ln/>
        </p:spPr>
        <p:txBody>
          <a:bodyPr wrap="square" lIns="0" tIns="0" rIns="0" bIns="0" rtlCol="0" anchor="ctr"/>
          <a:lstStyle/>
          <a:p>
            <a:pPr marL="0" indent="0">
              <a:buNone/>
            </a:pPr>
            <a:r>
              <a:rPr lang="en-US" sz="950" dirty="0">
                <a:solidFill>
                  <a:srgbClr val="5F6B76"/>
                </a:solidFill>
              </a:rPr>
              <a:t>Model fit</a:t>
            </a:r>
            <a:endParaRPr lang="en-US" sz="950" dirty="0"/>
          </a:p>
        </p:txBody>
      </p:sp>
      <p:sp>
        <p:nvSpPr>
          <p:cNvPr id="45" name="Text 43"/>
          <p:cNvSpPr/>
          <p:nvPr/>
        </p:nvSpPr>
        <p:spPr>
          <a:xfrm>
            <a:off x="8677656" y="2231136"/>
            <a:ext cx="2514600" cy="164592"/>
          </a:xfrm>
          <a:prstGeom prst="rect">
            <a:avLst/>
          </a:prstGeom>
          <a:noFill/>
          <a:ln/>
        </p:spPr>
        <p:txBody>
          <a:bodyPr wrap="square" lIns="0" tIns="0" rIns="0" bIns="0" rtlCol="0" anchor="ctr"/>
          <a:lstStyle/>
          <a:p>
            <a:pPr marL="0" indent="0">
              <a:buNone/>
            </a:pPr>
            <a:r>
              <a:rPr lang="en-US" sz="750" i="1" dirty="0">
                <a:solidFill>
                  <a:srgbClr val="7A8793"/>
                </a:solidFill>
              </a:rPr>
              <a:t>Supporting explanatory model</a:t>
            </a:r>
            <a:endParaRPr lang="en-US" sz="750" dirty="0"/>
          </a:p>
        </p:txBody>
      </p:sp>
      <p:sp>
        <p:nvSpPr>
          <p:cNvPr id="46" name="Shape 44"/>
          <p:cNvSpPr/>
          <p:nvPr/>
        </p:nvSpPr>
        <p:spPr>
          <a:xfrm>
            <a:off x="8458200" y="2761488"/>
            <a:ext cx="2834640" cy="1325880"/>
          </a:xfrm>
          <a:prstGeom prst="roundRect">
            <a:avLst>
              <a:gd name="adj" fmla="val 4138"/>
            </a:avLst>
          </a:prstGeom>
          <a:solidFill>
            <a:srgbClr val="FFFFFF"/>
          </a:solidFill>
          <a:ln w="12700">
            <a:solidFill>
              <a:srgbClr val="D9E1E8"/>
            </a:solidFill>
            <a:prstDash val="solid"/>
          </a:ln>
        </p:spPr>
        <p:txBody>
          <a:bodyPr/>
          <a:lstStyle/>
          <a:p>
            <a:endParaRPr lang="LID4096"/>
          </a:p>
        </p:txBody>
      </p:sp>
      <p:sp>
        <p:nvSpPr>
          <p:cNvPr id="47" name="Shape 45"/>
          <p:cNvSpPr/>
          <p:nvPr/>
        </p:nvSpPr>
        <p:spPr>
          <a:xfrm>
            <a:off x="8622792" y="2926080"/>
            <a:ext cx="292608" cy="292608"/>
          </a:xfrm>
          <a:prstGeom prst="roundRect">
            <a:avLst>
              <a:gd name="adj" fmla="val 25000"/>
            </a:avLst>
          </a:prstGeom>
          <a:solidFill>
            <a:srgbClr val="6554C0"/>
          </a:solidFill>
          <a:ln w="12700">
            <a:solidFill>
              <a:srgbClr val="6554C0"/>
            </a:solidFill>
            <a:prstDash val="solid"/>
          </a:ln>
        </p:spPr>
        <p:txBody>
          <a:bodyPr/>
          <a:lstStyle/>
          <a:p>
            <a:endParaRPr lang="LID4096"/>
          </a:p>
        </p:txBody>
      </p:sp>
      <p:sp>
        <p:nvSpPr>
          <p:cNvPr id="48" name="Text 46"/>
          <p:cNvSpPr/>
          <p:nvPr/>
        </p:nvSpPr>
        <p:spPr>
          <a:xfrm>
            <a:off x="8691372" y="2958084"/>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49" name="Text 47"/>
          <p:cNvSpPr/>
          <p:nvPr/>
        </p:nvSpPr>
        <p:spPr>
          <a:xfrm>
            <a:off x="9025128" y="2907792"/>
            <a:ext cx="2103120" cy="274320"/>
          </a:xfrm>
          <a:prstGeom prst="rect">
            <a:avLst/>
          </a:prstGeom>
          <a:noFill/>
          <a:ln/>
        </p:spPr>
        <p:txBody>
          <a:bodyPr wrap="square" lIns="0" tIns="0" rIns="0" bIns="0" rtlCol="0" anchor="ctr"/>
          <a:lstStyle/>
          <a:p>
            <a:pPr marL="0" indent="0">
              <a:buNone/>
            </a:pPr>
            <a:r>
              <a:rPr lang="en-US" sz="1200" b="1" dirty="0">
                <a:solidFill>
                  <a:srgbClr val="1F2937"/>
                </a:solidFill>
              </a:rPr>
              <a:t>Robust inference</a:t>
            </a:r>
            <a:endParaRPr lang="en-US" sz="1200" dirty="0"/>
          </a:p>
        </p:txBody>
      </p:sp>
      <p:sp>
        <p:nvSpPr>
          <p:cNvPr id="50" name="Text 48"/>
          <p:cNvSpPr/>
          <p:nvPr/>
        </p:nvSpPr>
        <p:spPr>
          <a:xfrm>
            <a:off x="8641080" y="3291840"/>
            <a:ext cx="2468880" cy="667512"/>
          </a:xfrm>
          <a:prstGeom prst="rect">
            <a:avLst/>
          </a:prstGeom>
          <a:noFill/>
          <a:ln/>
        </p:spPr>
        <p:txBody>
          <a:bodyPr wrap="square" lIns="0" tIns="0" rIns="0" bIns="0" rtlCol="0" anchor="t"/>
          <a:lstStyle/>
          <a:p>
            <a:pPr marL="0" indent="0">
              <a:buNone/>
            </a:pPr>
            <a:r>
              <a:rPr lang="en-US" sz="920" dirty="0">
                <a:solidFill>
                  <a:srgbClr val="5F6B76"/>
                </a:solidFill>
              </a:rPr>
              <a:t>HAC/Newey–West standard errors address heteroskedasticity and serial dependence in the monthly time series.</a:t>
            </a:r>
            <a:endParaRPr lang="en-US" sz="920" dirty="0"/>
          </a:p>
        </p:txBody>
      </p:sp>
      <p:sp>
        <p:nvSpPr>
          <p:cNvPr id="51" name="Shape 49"/>
          <p:cNvSpPr/>
          <p:nvPr/>
        </p:nvSpPr>
        <p:spPr>
          <a:xfrm>
            <a:off x="8458200" y="4343400"/>
            <a:ext cx="2834640" cy="1298448"/>
          </a:xfrm>
          <a:prstGeom prst="roundRect">
            <a:avLst>
              <a:gd name="adj" fmla="val 4225"/>
            </a:avLst>
          </a:prstGeom>
          <a:solidFill>
            <a:srgbClr val="FFFFFF"/>
          </a:solidFill>
          <a:ln w="12700">
            <a:solidFill>
              <a:srgbClr val="D9E1E8"/>
            </a:solidFill>
            <a:prstDash val="solid"/>
          </a:ln>
        </p:spPr>
        <p:txBody>
          <a:bodyPr/>
          <a:lstStyle/>
          <a:p>
            <a:endParaRPr lang="LID4096"/>
          </a:p>
        </p:txBody>
      </p:sp>
      <p:sp>
        <p:nvSpPr>
          <p:cNvPr id="52" name="Shape 50"/>
          <p:cNvSpPr/>
          <p:nvPr/>
        </p:nvSpPr>
        <p:spPr>
          <a:xfrm>
            <a:off x="8622792" y="4507992"/>
            <a:ext cx="292608" cy="292608"/>
          </a:xfrm>
          <a:prstGeom prst="roundRect">
            <a:avLst>
              <a:gd name="adj" fmla="val 25000"/>
            </a:avLst>
          </a:prstGeom>
          <a:solidFill>
            <a:srgbClr val="0B7A75"/>
          </a:solidFill>
          <a:ln w="12700">
            <a:solidFill>
              <a:srgbClr val="0B7A75"/>
            </a:solidFill>
            <a:prstDash val="solid"/>
          </a:ln>
        </p:spPr>
        <p:txBody>
          <a:bodyPr/>
          <a:lstStyle/>
          <a:p>
            <a:endParaRPr lang="LID4096"/>
          </a:p>
        </p:txBody>
      </p:sp>
      <p:sp>
        <p:nvSpPr>
          <p:cNvPr id="53" name="Text 51"/>
          <p:cNvSpPr/>
          <p:nvPr/>
        </p:nvSpPr>
        <p:spPr>
          <a:xfrm>
            <a:off x="8691372" y="4539996"/>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54" name="Text 52"/>
          <p:cNvSpPr/>
          <p:nvPr/>
        </p:nvSpPr>
        <p:spPr>
          <a:xfrm>
            <a:off x="9025128" y="4489704"/>
            <a:ext cx="2103120" cy="274320"/>
          </a:xfrm>
          <a:prstGeom prst="rect">
            <a:avLst/>
          </a:prstGeom>
          <a:noFill/>
          <a:ln/>
        </p:spPr>
        <p:txBody>
          <a:bodyPr wrap="square" lIns="0" tIns="0" rIns="0" bIns="0" rtlCol="0" anchor="ctr"/>
          <a:lstStyle/>
          <a:p>
            <a:pPr marL="0" indent="0">
              <a:buNone/>
            </a:pPr>
            <a:r>
              <a:rPr lang="en-US" sz="1200" b="1" dirty="0">
                <a:solidFill>
                  <a:srgbClr val="1F2937"/>
                </a:solidFill>
              </a:rPr>
              <a:t>Why this matters</a:t>
            </a:r>
            <a:endParaRPr lang="en-US" sz="1200" dirty="0"/>
          </a:p>
        </p:txBody>
      </p:sp>
      <p:sp>
        <p:nvSpPr>
          <p:cNvPr id="55" name="Text 53"/>
          <p:cNvSpPr/>
          <p:nvPr/>
        </p:nvSpPr>
        <p:spPr>
          <a:xfrm>
            <a:off x="8641080" y="4873752"/>
            <a:ext cx="2468880" cy="640080"/>
          </a:xfrm>
          <a:prstGeom prst="rect">
            <a:avLst/>
          </a:prstGeom>
          <a:noFill/>
          <a:ln/>
        </p:spPr>
        <p:txBody>
          <a:bodyPr wrap="square" lIns="0" tIns="0" rIns="0" bIns="0" rtlCol="0" anchor="t"/>
          <a:lstStyle/>
          <a:p>
            <a:pPr marL="0" indent="0">
              <a:buNone/>
            </a:pPr>
            <a:r>
              <a:rPr lang="en-US" sz="920" dirty="0">
                <a:solidFill>
                  <a:srgbClr val="5F6B76"/>
                </a:solidFill>
              </a:rPr>
              <a:t>Simple correlations are not treated as causal effects. The model shows which relationships remain after multiple forces are considered together.</a:t>
            </a:r>
            <a:endParaRPr lang="en-US" sz="920" dirty="0"/>
          </a:p>
        </p:txBody>
      </p:sp>
      <p:sp>
        <p:nvSpPr>
          <p:cNvPr id="56" name="Text 54"/>
          <p:cNvSpPr/>
          <p:nvPr/>
        </p:nvSpPr>
        <p:spPr>
          <a:xfrm>
            <a:off x="566928" y="6291072"/>
            <a:ext cx="10881360" cy="164592"/>
          </a:xfrm>
          <a:prstGeom prst="rect">
            <a:avLst/>
          </a:prstGeom>
          <a:noFill/>
          <a:ln/>
        </p:spPr>
        <p:txBody>
          <a:bodyPr wrap="square" lIns="0" tIns="0" rIns="0" bIns="0" rtlCol="0" anchor="ctr"/>
          <a:lstStyle/>
          <a:p>
            <a:pPr marL="0" indent="0">
              <a:buNone/>
            </a:pPr>
            <a:r>
              <a:rPr lang="en-US" sz="650" i="1" dirty="0">
                <a:solidFill>
                  <a:srgbClr val="87919B"/>
                </a:solidFill>
              </a:rPr>
              <a:t>Dynamic OLS: lagged growth + CPI + CCI + HFCE growth + pandemic indicator; HAC max lag = 12 months.</a:t>
            </a:r>
            <a:endParaRPr lang="en-US" sz="650" dirty="0"/>
          </a:p>
        </p:txBody>
      </p:sp>
      <p:sp>
        <p:nvSpPr>
          <p:cNvPr id="57"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Social growth expands the market; technology signals maturity</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E-commerce activity per resident grew much faster than population or basic digital access</a:t>
            </a:r>
            <a:endParaRPr lang="en-US" sz="1050" dirty="0"/>
          </a:p>
        </p:txBody>
      </p:sp>
      <p:sp>
        <p:nvSpPr>
          <p:cNvPr id="4" name="Shape 2"/>
          <p:cNvSpPr/>
          <p:nvPr/>
        </p:nvSpPr>
        <p:spPr>
          <a:xfrm>
            <a:off x="9829800" y="347472"/>
            <a:ext cx="1847088" cy="310896"/>
          </a:xfrm>
          <a:prstGeom prst="roundRect">
            <a:avLst>
              <a:gd name="adj" fmla="val 17647"/>
            </a:avLst>
          </a:prstGeom>
          <a:solidFill>
            <a:srgbClr val="0B7A75"/>
          </a:solidFill>
          <a:ln w="12700">
            <a:solidFill>
              <a:srgbClr val="0B7A75"/>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SOCIAL + TECH</a:t>
            </a:r>
            <a:endParaRPr lang="en-US" sz="800" dirty="0"/>
          </a:p>
        </p:txBody>
      </p:sp>
      <p:graphicFrame>
        <p:nvGraphicFramePr>
          <p:cNvPr id="6" name="Chart 0"/>
          <p:cNvGraphicFramePr/>
          <p:nvPr/>
        </p:nvGraphicFramePr>
        <p:xfrm>
          <a:off x="640080" y="1371600"/>
          <a:ext cx="67665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1118061" y="1517904"/>
            <a:ext cx="3749040" cy="256032"/>
          </a:xfrm>
          <a:prstGeom prst="rect">
            <a:avLst/>
          </a:prstGeom>
          <a:noFill/>
          <a:ln/>
        </p:spPr>
        <p:txBody>
          <a:bodyPr wrap="square" lIns="0" tIns="0" rIns="0" bIns="0" rtlCol="0" anchor="ctr"/>
          <a:lstStyle/>
          <a:p>
            <a:pPr marL="0" indent="0">
              <a:buNone/>
            </a:pPr>
            <a:r>
              <a:rPr lang="en-US" sz="1200" b="1" dirty="0">
                <a:solidFill>
                  <a:srgbClr val="1F2937"/>
                </a:solidFill>
              </a:rPr>
              <a:t>Structural growth comparison — 2017 = 100</a:t>
            </a:r>
            <a:endParaRPr lang="en-US" sz="1200" dirty="0"/>
          </a:p>
        </p:txBody>
      </p:sp>
      <p:sp>
        <p:nvSpPr>
          <p:cNvPr id="8" name="Shape 5"/>
          <p:cNvSpPr/>
          <p:nvPr/>
        </p:nvSpPr>
        <p:spPr>
          <a:xfrm>
            <a:off x="7754112" y="1417320"/>
            <a:ext cx="1691640" cy="1097280"/>
          </a:xfrm>
          <a:prstGeom prst="roundRect">
            <a:avLst>
              <a:gd name="adj" fmla="val 666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9" name="Shape 6"/>
          <p:cNvSpPr/>
          <p:nvPr/>
        </p:nvSpPr>
        <p:spPr>
          <a:xfrm>
            <a:off x="7754112" y="1417320"/>
            <a:ext cx="73152" cy="1097280"/>
          </a:xfrm>
          <a:prstGeom prst="rect">
            <a:avLst/>
          </a:prstGeom>
          <a:solidFill>
            <a:srgbClr val="0B7A75"/>
          </a:solidFill>
          <a:ln w="12700">
            <a:solidFill>
              <a:srgbClr val="0B7A75"/>
            </a:solidFill>
            <a:prstDash val="solid"/>
          </a:ln>
        </p:spPr>
        <p:txBody>
          <a:bodyPr/>
          <a:lstStyle/>
          <a:p>
            <a:endParaRPr lang="LID4096"/>
          </a:p>
        </p:txBody>
      </p:sp>
      <p:sp>
        <p:nvSpPr>
          <p:cNvPr id="10" name="Text 7"/>
          <p:cNvSpPr/>
          <p:nvPr/>
        </p:nvSpPr>
        <p:spPr>
          <a:xfrm>
            <a:off x="7973568" y="1618488"/>
            <a:ext cx="1371600" cy="384048"/>
          </a:xfrm>
          <a:prstGeom prst="rect">
            <a:avLst/>
          </a:prstGeom>
          <a:noFill/>
          <a:ln/>
        </p:spPr>
        <p:txBody>
          <a:bodyPr wrap="square" lIns="0" tIns="0" rIns="0" bIns="0" rtlCol="0" anchor="ctr"/>
          <a:lstStyle/>
          <a:p>
            <a:pPr marL="0" indent="0">
              <a:buNone/>
            </a:pPr>
            <a:r>
              <a:rPr lang="en-US" sz="2200" b="1" dirty="0">
                <a:solidFill>
                  <a:srgbClr val="1F2937"/>
                </a:solidFill>
              </a:rPr>
              <a:t>+14.0%</a:t>
            </a:r>
            <a:endParaRPr lang="en-US" sz="2200" dirty="0"/>
          </a:p>
        </p:txBody>
      </p:sp>
      <p:sp>
        <p:nvSpPr>
          <p:cNvPr id="11" name="Text 8"/>
          <p:cNvSpPr/>
          <p:nvPr/>
        </p:nvSpPr>
        <p:spPr>
          <a:xfrm>
            <a:off x="7973568" y="2039112"/>
            <a:ext cx="1371600" cy="292608"/>
          </a:xfrm>
          <a:prstGeom prst="rect">
            <a:avLst/>
          </a:prstGeom>
          <a:noFill/>
          <a:ln/>
        </p:spPr>
        <p:txBody>
          <a:bodyPr wrap="square" lIns="0" tIns="0" rIns="0" bIns="0" rtlCol="0" anchor="ctr"/>
          <a:lstStyle/>
          <a:p>
            <a:pPr marL="0" indent="0">
              <a:buNone/>
            </a:pPr>
            <a:r>
              <a:rPr lang="en-US" sz="950" dirty="0">
                <a:solidFill>
                  <a:srgbClr val="5F6B76"/>
                </a:solidFill>
              </a:rPr>
              <a:t>Population growth</a:t>
            </a:r>
            <a:endParaRPr lang="en-US" sz="950" dirty="0"/>
          </a:p>
        </p:txBody>
      </p:sp>
      <p:sp>
        <p:nvSpPr>
          <p:cNvPr id="12" name="Shape 9"/>
          <p:cNvSpPr/>
          <p:nvPr/>
        </p:nvSpPr>
        <p:spPr>
          <a:xfrm>
            <a:off x="9628632" y="1417320"/>
            <a:ext cx="1691640" cy="1097280"/>
          </a:xfrm>
          <a:prstGeom prst="roundRect">
            <a:avLst>
              <a:gd name="adj" fmla="val 666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13" name="Shape 10"/>
          <p:cNvSpPr/>
          <p:nvPr/>
        </p:nvSpPr>
        <p:spPr>
          <a:xfrm>
            <a:off x="9628632" y="1417320"/>
            <a:ext cx="73152" cy="1097280"/>
          </a:xfrm>
          <a:prstGeom prst="rect">
            <a:avLst/>
          </a:prstGeom>
          <a:solidFill>
            <a:srgbClr val="2F855A"/>
          </a:solidFill>
          <a:ln w="12700">
            <a:solidFill>
              <a:srgbClr val="2F855A"/>
            </a:solidFill>
            <a:prstDash val="solid"/>
          </a:ln>
        </p:spPr>
        <p:txBody>
          <a:bodyPr/>
          <a:lstStyle/>
          <a:p>
            <a:endParaRPr lang="LID4096"/>
          </a:p>
        </p:txBody>
      </p:sp>
      <p:sp>
        <p:nvSpPr>
          <p:cNvPr id="14" name="Text 11"/>
          <p:cNvSpPr/>
          <p:nvPr/>
        </p:nvSpPr>
        <p:spPr>
          <a:xfrm>
            <a:off x="9848088" y="1618488"/>
            <a:ext cx="1371600" cy="384048"/>
          </a:xfrm>
          <a:prstGeom prst="rect">
            <a:avLst/>
          </a:prstGeom>
          <a:noFill/>
          <a:ln/>
        </p:spPr>
        <p:txBody>
          <a:bodyPr wrap="square" lIns="0" tIns="0" rIns="0" bIns="0" rtlCol="0" anchor="ctr"/>
          <a:lstStyle/>
          <a:p>
            <a:pPr marL="0" indent="0">
              <a:buNone/>
            </a:pPr>
            <a:r>
              <a:rPr lang="en-US" sz="2200" b="1" dirty="0">
                <a:solidFill>
                  <a:srgbClr val="1F2937"/>
                </a:solidFill>
              </a:rPr>
              <a:t>+1.47pp</a:t>
            </a:r>
            <a:endParaRPr lang="en-US" sz="2200" dirty="0"/>
          </a:p>
        </p:txBody>
      </p:sp>
      <p:sp>
        <p:nvSpPr>
          <p:cNvPr id="15" name="Text 12"/>
          <p:cNvSpPr/>
          <p:nvPr/>
        </p:nvSpPr>
        <p:spPr>
          <a:xfrm>
            <a:off x="9848088" y="2039112"/>
            <a:ext cx="1371600" cy="292608"/>
          </a:xfrm>
          <a:prstGeom prst="rect">
            <a:avLst/>
          </a:prstGeom>
          <a:noFill/>
          <a:ln/>
        </p:spPr>
        <p:txBody>
          <a:bodyPr wrap="square" lIns="0" tIns="0" rIns="0" bIns="0" rtlCol="0" anchor="ctr"/>
          <a:lstStyle/>
          <a:p>
            <a:pPr marL="0" indent="0">
              <a:buNone/>
            </a:pPr>
            <a:r>
              <a:rPr lang="en-US" sz="950" dirty="0">
                <a:solidFill>
                  <a:srgbClr val="5F6B76"/>
                </a:solidFill>
              </a:rPr>
              <a:t>Urban share change</a:t>
            </a:r>
            <a:endParaRPr lang="en-US" sz="950" dirty="0"/>
          </a:p>
        </p:txBody>
      </p:sp>
      <p:sp>
        <p:nvSpPr>
          <p:cNvPr id="16" name="Shape 13"/>
          <p:cNvSpPr/>
          <p:nvPr/>
        </p:nvSpPr>
        <p:spPr>
          <a:xfrm>
            <a:off x="7754112" y="2724912"/>
            <a:ext cx="1691640" cy="1097280"/>
          </a:xfrm>
          <a:prstGeom prst="roundRect">
            <a:avLst>
              <a:gd name="adj" fmla="val 666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17" name="Shape 14"/>
          <p:cNvSpPr/>
          <p:nvPr/>
        </p:nvSpPr>
        <p:spPr>
          <a:xfrm>
            <a:off x="7754112" y="2724912"/>
            <a:ext cx="73152" cy="1097280"/>
          </a:xfrm>
          <a:prstGeom prst="rect">
            <a:avLst/>
          </a:prstGeom>
          <a:solidFill>
            <a:srgbClr val="6554C0"/>
          </a:solidFill>
          <a:ln w="12700">
            <a:solidFill>
              <a:srgbClr val="6554C0"/>
            </a:solidFill>
            <a:prstDash val="solid"/>
          </a:ln>
        </p:spPr>
        <p:txBody>
          <a:bodyPr/>
          <a:lstStyle/>
          <a:p>
            <a:endParaRPr lang="LID4096"/>
          </a:p>
        </p:txBody>
      </p:sp>
      <p:sp>
        <p:nvSpPr>
          <p:cNvPr id="18" name="Text 15"/>
          <p:cNvSpPr/>
          <p:nvPr/>
        </p:nvSpPr>
        <p:spPr>
          <a:xfrm>
            <a:off x="7973568" y="2926080"/>
            <a:ext cx="1371600" cy="384048"/>
          </a:xfrm>
          <a:prstGeom prst="rect">
            <a:avLst/>
          </a:prstGeom>
          <a:noFill/>
          <a:ln/>
        </p:spPr>
        <p:txBody>
          <a:bodyPr wrap="square" lIns="0" tIns="0" rIns="0" bIns="0" rtlCol="0" anchor="ctr"/>
          <a:lstStyle/>
          <a:p>
            <a:pPr marL="0" indent="0">
              <a:buNone/>
            </a:pPr>
            <a:r>
              <a:rPr lang="en-US" sz="2200" b="1" dirty="0">
                <a:solidFill>
                  <a:srgbClr val="1F2937"/>
                </a:solidFill>
              </a:rPr>
              <a:t>~94%</a:t>
            </a:r>
            <a:endParaRPr lang="en-US" sz="2200" dirty="0"/>
          </a:p>
        </p:txBody>
      </p:sp>
      <p:sp>
        <p:nvSpPr>
          <p:cNvPr id="19" name="Text 16"/>
          <p:cNvSpPr/>
          <p:nvPr/>
        </p:nvSpPr>
        <p:spPr>
          <a:xfrm>
            <a:off x="7973568" y="3346704"/>
            <a:ext cx="1371600" cy="292608"/>
          </a:xfrm>
          <a:prstGeom prst="rect">
            <a:avLst/>
          </a:prstGeom>
          <a:noFill/>
          <a:ln/>
        </p:spPr>
        <p:txBody>
          <a:bodyPr wrap="square" lIns="0" tIns="0" rIns="0" bIns="0" rtlCol="0" anchor="ctr"/>
          <a:lstStyle/>
          <a:p>
            <a:pPr marL="0" indent="0">
              <a:buNone/>
            </a:pPr>
            <a:r>
              <a:rPr lang="en-US" sz="950" dirty="0">
                <a:solidFill>
                  <a:srgbClr val="5F6B76"/>
                </a:solidFill>
              </a:rPr>
              <a:t>Internet users</a:t>
            </a:r>
            <a:endParaRPr lang="en-US" sz="950" dirty="0"/>
          </a:p>
        </p:txBody>
      </p:sp>
      <p:sp>
        <p:nvSpPr>
          <p:cNvPr id="20" name="Text 17"/>
          <p:cNvSpPr/>
          <p:nvPr/>
        </p:nvSpPr>
        <p:spPr>
          <a:xfrm>
            <a:off x="7973568" y="3520440"/>
            <a:ext cx="1371600" cy="164592"/>
          </a:xfrm>
          <a:prstGeom prst="rect">
            <a:avLst/>
          </a:prstGeom>
          <a:noFill/>
          <a:ln/>
        </p:spPr>
        <p:txBody>
          <a:bodyPr wrap="square" lIns="0" tIns="0" rIns="0" bIns="0" rtlCol="0" anchor="ctr"/>
          <a:lstStyle/>
          <a:p>
            <a:pPr marL="0" indent="0">
              <a:buNone/>
            </a:pPr>
            <a:r>
              <a:rPr lang="en-US" sz="750" i="1" dirty="0">
                <a:solidFill>
                  <a:srgbClr val="7A8793"/>
                </a:solidFill>
              </a:rPr>
              <a:t>2024 observed</a:t>
            </a:r>
            <a:endParaRPr lang="en-US" sz="750" dirty="0"/>
          </a:p>
        </p:txBody>
      </p:sp>
      <p:sp>
        <p:nvSpPr>
          <p:cNvPr id="21" name="Shape 18"/>
          <p:cNvSpPr/>
          <p:nvPr/>
        </p:nvSpPr>
        <p:spPr>
          <a:xfrm>
            <a:off x="9628632" y="2724912"/>
            <a:ext cx="1691640" cy="1097280"/>
          </a:xfrm>
          <a:prstGeom prst="roundRect">
            <a:avLst>
              <a:gd name="adj" fmla="val 6667"/>
            </a:avLst>
          </a:prstGeom>
          <a:solidFill>
            <a:srgbClr val="FFFFFF"/>
          </a:solidFill>
          <a:ln w="13970">
            <a:solidFill>
              <a:srgbClr val="D9E1E8"/>
            </a:solidFill>
            <a:prstDash val="solid"/>
          </a:ln>
          <a:effectLst>
            <a:outerShdw blurRad="12700" dist="50800" dir="2700000" algn="bl" rotWithShape="0">
              <a:srgbClr val="AAB4BF">
                <a:alpha val="12000"/>
              </a:srgbClr>
            </a:outerShdw>
          </a:effectLst>
        </p:spPr>
        <p:txBody>
          <a:bodyPr/>
          <a:lstStyle/>
          <a:p>
            <a:endParaRPr lang="LID4096"/>
          </a:p>
        </p:txBody>
      </p:sp>
      <p:sp>
        <p:nvSpPr>
          <p:cNvPr id="22" name="Shape 19"/>
          <p:cNvSpPr/>
          <p:nvPr/>
        </p:nvSpPr>
        <p:spPr>
          <a:xfrm>
            <a:off x="9628632" y="2724912"/>
            <a:ext cx="73152" cy="1097280"/>
          </a:xfrm>
          <a:prstGeom prst="rect">
            <a:avLst/>
          </a:prstGeom>
          <a:solidFill>
            <a:srgbClr val="6554C0"/>
          </a:solidFill>
          <a:ln w="12700">
            <a:solidFill>
              <a:srgbClr val="6554C0"/>
            </a:solidFill>
            <a:prstDash val="solid"/>
          </a:ln>
        </p:spPr>
        <p:txBody>
          <a:bodyPr/>
          <a:lstStyle/>
          <a:p>
            <a:endParaRPr lang="LID4096"/>
          </a:p>
        </p:txBody>
      </p:sp>
      <p:sp>
        <p:nvSpPr>
          <p:cNvPr id="23" name="Text 20"/>
          <p:cNvSpPr/>
          <p:nvPr/>
        </p:nvSpPr>
        <p:spPr>
          <a:xfrm>
            <a:off x="9848088" y="2926080"/>
            <a:ext cx="1371600" cy="384048"/>
          </a:xfrm>
          <a:prstGeom prst="rect">
            <a:avLst/>
          </a:prstGeom>
          <a:noFill/>
          <a:ln/>
        </p:spPr>
        <p:txBody>
          <a:bodyPr wrap="square" lIns="0" tIns="0" rIns="0" bIns="0" rtlCol="0" anchor="ctr"/>
          <a:lstStyle/>
          <a:p>
            <a:pPr marL="0" indent="0">
              <a:buNone/>
            </a:pPr>
            <a:r>
              <a:rPr lang="en-US" sz="2200" b="1" dirty="0">
                <a:solidFill>
                  <a:srgbClr val="1F2937"/>
                </a:solidFill>
              </a:rPr>
              <a:t>~94</a:t>
            </a:r>
            <a:endParaRPr lang="en-US" sz="2200" dirty="0"/>
          </a:p>
        </p:txBody>
      </p:sp>
      <p:sp>
        <p:nvSpPr>
          <p:cNvPr id="24" name="Text 21"/>
          <p:cNvSpPr/>
          <p:nvPr/>
        </p:nvSpPr>
        <p:spPr>
          <a:xfrm>
            <a:off x="9848088" y="3346704"/>
            <a:ext cx="1371600" cy="292608"/>
          </a:xfrm>
          <a:prstGeom prst="rect">
            <a:avLst/>
          </a:prstGeom>
          <a:noFill/>
          <a:ln/>
        </p:spPr>
        <p:txBody>
          <a:bodyPr wrap="square" lIns="0" tIns="0" rIns="0" bIns="0" rtlCol="0" anchor="ctr"/>
          <a:lstStyle/>
          <a:p>
            <a:pPr marL="0" indent="0">
              <a:buNone/>
            </a:pPr>
            <a:r>
              <a:rPr lang="en-US" sz="950" dirty="0">
                <a:solidFill>
                  <a:srgbClr val="5F6B76"/>
                </a:solidFill>
              </a:rPr>
              <a:t>Mobile / 100</a:t>
            </a:r>
            <a:endParaRPr lang="en-US" sz="950" dirty="0"/>
          </a:p>
        </p:txBody>
      </p:sp>
      <p:sp>
        <p:nvSpPr>
          <p:cNvPr id="25" name="Text 22"/>
          <p:cNvSpPr/>
          <p:nvPr/>
        </p:nvSpPr>
        <p:spPr>
          <a:xfrm>
            <a:off x="9848088" y="3520440"/>
            <a:ext cx="1371600" cy="164592"/>
          </a:xfrm>
          <a:prstGeom prst="rect">
            <a:avLst/>
          </a:prstGeom>
          <a:noFill/>
          <a:ln/>
        </p:spPr>
        <p:txBody>
          <a:bodyPr wrap="square" lIns="0" tIns="0" rIns="0" bIns="0" rtlCol="0" anchor="ctr"/>
          <a:lstStyle/>
          <a:p>
            <a:pPr marL="0" indent="0">
              <a:buNone/>
            </a:pPr>
            <a:r>
              <a:rPr lang="en-US" sz="750" i="1" dirty="0">
                <a:solidFill>
                  <a:srgbClr val="7A8793"/>
                </a:solidFill>
              </a:rPr>
              <a:t>2024 observed</a:t>
            </a:r>
            <a:endParaRPr lang="en-US" sz="750" dirty="0"/>
          </a:p>
        </p:txBody>
      </p:sp>
      <p:sp>
        <p:nvSpPr>
          <p:cNvPr id="26" name="Shape 23"/>
          <p:cNvSpPr/>
          <p:nvPr/>
        </p:nvSpPr>
        <p:spPr>
          <a:xfrm>
            <a:off x="7754112" y="4096512"/>
            <a:ext cx="3566160" cy="1417320"/>
          </a:xfrm>
          <a:prstGeom prst="roundRect">
            <a:avLst>
              <a:gd name="adj" fmla="val 3871"/>
            </a:avLst>
          </a:prstGeom>
          <a:solidFill>
            <a:srgbClr val="FFFFFF"/>
          </a:solidFill>
          <a:ln w="12700">
            <a:solidFill>
              <a:srgbClr val="D9E1E8"/>
            </a:solidFill>
            <a:prstDash val="solid"/>
          </a:ln>
        </p:spPr>
        <p:txBody>
          <a:bodyPr/>
          <a:lstStyle/>
          <a:p>
            <a:endParaRPr lang="LID4096"/>
          </a:p>
        </p:txBody>
      </p:sp>
      <p:sp>
        <p:nvSpPr>
          <p:cNvPr id="27" name="Shape 24"/>
          <p:cNvSpPr/>
          <p:nvPr/>
        </p:nvSpPr>
        <p:spPr>
          <a:xfrm>
            <a:off x="7918704" y="4261104"/>
            <a:ext cx="292608" cy="292608"/>
          </a:xfrm>
          <a:prstGeom prst="roundRect">
            <a:avLst>
              <a:gd name="adj" fmla="val 25000"/>
            </a:avLst>
          </a:prstGeom>
          <a:solidFill>
            <a:srgbClr val="0B7A75"/>
          </a:solidFill>
          <a:ln w="12700">
            <a:solidFill>
              <a:srgbClr val="0B7A75"/>
            </a:solidFill>
            <a:prstDash val="solid"/>
          </a:ln>
        </p:spPr>
        <p:txBody>
          <a:bodyPr/>
          <a:lstStyle/>
          <a:p>
            <a:endParaRPr lang="LID4096"/>
          </a:p>
        </p:txBody>
      </p:sp>
      <p:sp>
        <p:nvSpPr>
          <p:cNvPr id="28" name="Text 25"/>
          <p:cNvSpPr/>
          <p:nvPr/>
        </p:nvSpPr>
        <p:spPr>
          <a:xfrm>
            <a:off x="7987284" y="4293108"/>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29" name="Text 26"/>
          <p:cNvSpPr/>
          <p:nvPr/>
        </p:nvSpPr>
        <p:spPr>
          <a:xfrm>
            <a:off x="8321040" y="4242816"/>
            <a:ext cx="2834640" cy="274320"/>
          </a:xfrm>
          <a:prstGeom prst="rect">
            <a:avLst/>
          </a:prstGeom>
          <a:noFill/>
          <a:ln/>
        </p:spPr>
        <p:txBody>
          <a:bodyPr wrap="square" lIns="0" tIns="0" rIns="0" bIns="0" rtlCol="0" anchor="ctr"/>
          <a:lstStyle/>
          <a:p>
            <a:pPr marL="0" indent="0">
              <a:buNone/>
            </a:pPr>
            <a:r>
              <a:rPr lang="en-US" sz="1200" b="1" dirty="0">
                <a:solidFill>
                  <a:srgbClr val="1F2937"/>
                </a:solidFill>
              </a:rPr>
              <a:t>Strategic meaning</a:t>
            </a:r>
            <a:endParaRPr lang="en-US" sz="1200" dirty="0"/>
          </a:p>
        </p:txBody>
      </p:sp>
      <p:sp>
        <p:nvSpPr>
          <p:cNvPr id="30" name="Text 27"/>
          <p:cNvSpPr/>
          <p:nvPr/>
        </p:nvSpPr>
        <p:spPr>
          <a:xfrm>
            <a:off x="7936992" y="4626864"/>
            <a:ext cx="3200400" cy="758952"/>
          </a:xfrm>
          <a:prstGeom prst="rect">
            <a:avLst/>
          </a:prstGeom>
          <a:noFill/>
          <a:ln/>
        </p:spPr>
        <p:txBody>
          <a:bodyPr wrap="square" lIns="0" tIns="0" rIns="0" bIns="0" rtlCol="0" anchor="t"/>
          <a:lstStyle/>
          <a:p>
            <a:pPr marL="0" indent="0">
              <a:buNone/>
            </a:pPr>
            <a:r>
              <a:rPr lang="en-US" sz="920" dirty="0">
                <a:solidFill>
                  <a:srgbClr val="5F6B76"/>
                </a:solidFill>
              </a:rPr>
              <a:t>Canada still offers demographic expansion, but basic connectivity is no longer the main growth bottleneck. Competitive advantage shifts to conversion, loyalty, payments, mobile UX, delivery and returns.</a:t>
            </a:r>
            <a:endParaRPr lang="en-US" sz="920" dirty="0"/>
          </a:p>
        </p:txBody>
      </p:sp>
      <p:sp>
        <p:nvSpPr>
          <p:cNvPr id="31" name="Text 28"/>
          <p:cNvSpPr/>
          <p:nvPr/>
        </p:nvSpPr>
        <p:spPr>
          <a:xfrm>
            <a:off x="566928" y="6291072"/>
            <a:ext cx="10881360" cy="164592"/>
          </a:xfrm>
          <a:prstGeom prst="rect">
            <a:avLst/>
          </a:prstGeom>
          <a:noFill/>
          <a:ln/>
        </p:spPr>
        <p:txBody>
          <a:bodyPr wrap="square" lIns="0" tIns="0" rIns="0" bIns="0" rtlCol="0" anchor="ctr"/>
          <a:lstStyle/>
          <a:p>
            <a:pPr marL="0" indent="0">
              <a:buNone/>
            </a:pPr>
            <a:r>
              <a:rPr lang="en-US" sz="650" i="1" dirty="0">
                <a:solidFill>
                  <a:srgbClr val="87919B"/>
                </a:solidFill>
              </a:rPr>
              <a:t>2025 technology values in the original dataset were forward-filled; headline technology cards use 2024 as the last directly observed year.</a:t>
            </a:r>
            <a:endParaRPr lang="en-US" sz="650" dirty="0"/>
          </a:p>
        </p:txBody>
      </p:sp>
      <p:sp>
        <p:nvSpPr>
          <p:cNvPr id="32"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Integrated PESTEL risk &amp; opportunity view</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External forces interact — the value comes from translating evidence into sector implications</a:t>
            </a:r>
            <a:endParaRPr lang="en-US" sz="1050" dirty="0"/>
          </a:p>
        </p:txBody>
      </p:sp>
      <p:sp>
        <p:nvSpPr>
          <p:cNvPr id="4" name="Shape 2"/>
          <p:cNvSpPr/>
          <p:nvPr/>
        </p:nvSpPr>
        <p:spPr>
          <a:xfrm>
            <a:off x="9829800" y="347472"/>
            <a:ext cx="1847088" cy="310896"/>
          </a:xfrm>
          <a:prstGeom prst="roundRect">
            <a:avLst>
              <a:gd name="adj" fmla="val 17647"/>
            </a:avLst>
          </a:prstGeom>
          <a:solidFill>
            <a:srgbClr val="6554C0"/>
          </a:solidFill>
          <a:ln w="12700">
            <a:solidFill>
              <a:srgbClr val="6554C0"/>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SYNTHESIS</a:t>
            </a:r>
            <a:endParaRPr lang="en-US" sz="800" dirty="0"/>
          </a:p>
        </p:txBody>
      </p:sp>
      <p:sp>
        <p:nvSpPr>
          <p:cNvPr id="6" name="Shape 4"/>
          <p:cNvSpPr/>
          <p:nvPr/>
        </p:nvSpPr>
        <p:spPr>
          <a:xfrm>
            <a:off x="594360" y="1371600"/>
            <a:ext cx="3474720" cy="4526280"/>
          </a:xfrm>
          <a:prstGeom prst="roundRect">
            <a:avLst>
              <a:gd name="adj" fmla="val 1579"/>
            </a:avLst>
          </a:prstGeom>
          <a:solidFill>
            <a:srgbClr val="FFFFFF"/>
          </a:solidFill>
          <a:ln w="12700">
            <a:solidFill>
              <a:srgbClr val="D9E1E8"/>
            </a:solidFill>
            <a:prstDash val="solid"/>
          </a:ln>
        </p:spPr>
        <p:txBody>
          <a:bodyPr/>
          <a:lstStyle/>
          <a:p>
            <a:endParaRPr lang="LID4096"/>
          </a:p>
        </p:txBody>
      </p:sp>
      <p:sp>
        <p:nvSpPr>
          <p:cNvPr id="7" name="Shape 5"/>
          <p:cNvSpPr/>
          <p:nvPr/>
        </p:nvSpPr>
        <p:spPr>
          <a:xfrm>
            <a:off x="594360" y="1371600"/>
            <a:ext cx="3474720" cy="457200"/>
          </a:xfrm>
          <a:prstGeom prst="rect">
            <a:avLst/>
          </a:prstGeom>
          <a:solidFill>
            <a:srgbClr val="2B6F9F"/>
          </a:solidFill>
          <a:ln w="12700">
            <a:solidFill>
              <a:srgbClr val="2B6F9F"/>
            </a:solidFill>
            <a:prstDash val="solid"/>
          </a:ln>
        </p:spPr>
        <p:txBody>
          <a:bodyPr/>
          <a:lstStyle/>
          <a:p>
            <a:endParaRPr lang="LID4096"/>
          </a:p>
        </p:txBody>
      </p:sp>
      <p:sp>
        <p:nvSpPr>
          <p:cNvPr id="8" name="Text 6"/>
          <p:cNvSpPr/>
          <p:nvPr/>
        </p:nvSpPr>
        <p:spPr>
          <a:xfrm>
            <a:off x="758952" y="1527048"/>
            <a:ext cx="3145536" cy="146304"/>
          </a:xfrm>
          <a:prstGeom prst="rect">
            <a:avLst/>
          </a:prstGeom>
          <a:noFill/>
          <a:ln/>
        </p:spPr>
        <p:txBody>
          <a:bodyPr wrap="square" lIns="0" tIns="0" rIns="0" bIns="0" rtlCol="0" anchor="ctr"/>
          <a:lstStyle/>
          <a:p>
            <a:pPr marL="0" indent="0" algn="ctr">
              <a:buNone/>
            </a:pPr>
            <a:r>
              <a:rPr lang="en-US" sz="1000" b="1" dirty="0">
                <a:solidFill>
                  <a:srgbClr val="FFFFFF"/>
                </a:solidFill>
              </a:rPr>
              <a:t>ECONOMIC</a:t>
            </a:r>
            <a:endParaRPr lang="en-US" sz="1000" dirty="0"/>
          </a:p>
        </p:txBody>
      </p:sp>
      <p:sp>
        <p:nvSpPr>
          <p:cNvPr id="9" name="Text 7"/>
          <p:cNvSpPr/>
          <p:nvPr/>
        </p:nvSpPr>
        <p:spPr>
          <a:xfrm>
            <a:off x="795528" y="2011680"/>
            <a:ext cx="2011680" cy="219456"/>
          </a:xfrm>
          <a:prstGeom prst="rect">
            <a:avLst/>
          </a:prstGeom>
          <a:noFill/>
          <a:ln/>
        </p:spPr>
        <p:txBody>
          <a:bodyPr wrap="square" lIns="0" tIns="0" rIns="0" bIns="0" rtlCol="0" anchor="ctr"/>
          <a:lstStyle/>
          <a:p>
            <a:pPr marL="0" indent="0">
              <a:buNone/>
            </a:pPr>
            <a:r>
              <a:rPr lang="en-US" sz="1050" b="1" dirty="0">
                <a:solidFill>
                  <a:srgbClr val="1F2937"/>
                </a:solidFill>
              </a:rPr>
              <a:t>Inflation</a:t>
            </a:r>
            <a:endParaRPr lang="en-US" sz="1050" dirty="0"/>
          </a:p>
        </p:txBody>
      </p:sp>
      <p:sp>
        <p:nvSpPr>
          <p:cNvPr id="10" name="Shape 8"/>
          <p:cNvSpPr/>
          <p:nvPr/>
        </p:nvSpPr>
        <p:spPr>
          <a:xfrm>
            <a:off x="2898648" y="2002536"/>
            <a:ext cx="932688" cy="274320"/>
          </a:xfrm>
          <a:prstGeom prst="roundRect">
            <a:avLst>
              <a:gd name="adj" fmla="val 13333"/>
            </a:avLst>
          </a:prstGeom>
          <a:solidFill>
            <a:srgbClr val="F3F5F7"/>
          </a:solidFill>
          <a:ln w="12700">
            <a:solidFill>
              <a:srgbClr val="DEE4E9"/>
            </a:solidFill>
            <a:prstDash val="solid"/>
          </a:ln>
        </p:spPr>
        <p:txBody>
          <a:bodyPr/>
          <a:lstStyle/>
          <a:p>
            <a:endParaRPr lang="LID4096"/>
          </a:p>
        </p:txBody>
      </p:sp>
      <p:sp>
        <p:nvSpPr>
          <p:cNvPr id="11" name="Text 9"/>
          <p:cNvSpPr/>
          <p:nvPr/>
        </p:nvSpPr>
        <p:spPr>
          <a:xfrm>
            <a:off x="2971800" y="2084832"/>
            <a:ext cx="786384" cy="82296"/>
          </a:xfrm>
          <a:prstGeom prst="rect">
            <a:avLst/>
          </a:prstGeom>
          <a:noFill/>
          <a:ln/>
        </p:spPr>
        <p:txBody>
          <a:bodyPr wrap="square" lIns="0" tIns="0" rIns="0" bIns="0" rtlCol="0" anchor="ctr"/>
          <a:lstStyle/>
          <a:p>
            <a:pPr marL="0" indent="0" algn="ctr">
              <a:buNone/>
            </a:pPr>
            <a:r>
              <a:rPr lang="en-US" sz="590" b="1" dirty="0">
                <a:solidFill>
                  <a:srgbClr val="C94A4A"/>
                </a:solidFill>
              </a:rPr>
              <a:t>RISK</a:t>
            </a:r>
            <a:endParaRPr lang="en-US" sz="590" dirty="0"/>
          </a:p>
        </p:txBody>
      </p:sp>
      <p:sp>
        <p:nvSpPr>
          <p:cNvPr id="12" name="Text 10"/>
          <p:cNvSpPr/>
          <p:nvPr/>
        </p:nvSpPr>
        <p:spPr>
          <a:xfrm>
            <a:off x="795528" y="2313432"/>
            <a:ext cx="3072384" cy="384048"/>
          </a:xfrm>
          <a:prstGeom prst="rect">
            <a:avLst/>
          </a:prstGeom>
          <a:noFill/>
          <a:ln/>
        </p:spPr>
        <p:txBody>
          <a:bodyPr wrap="square" lIns="0" tIns="0" rIns="0" bIns="0" rtlCol="0" anchor="ctr"/>
          <a:lstStyle/>
          <a:p>
            <a:pPr marL="0" indent="0">
              <a:buNone/>
            </a:pPr>
            <a:r>
              <a:rPr lang="en-US" sz="850" dirty="0">
                <a:solidFill>
                  <a:srgbClr val="5F6B76"/>
                </a:solidFill>
              </a:rPr>
              <a:t>8.1% peak and a strong negative full-period growth association.</a:t>
            </a:r>
            <a:endParaRPr lang="en-US" sz="850" dirty="0"/>
          </a:p>
        </p:txBody>
      </p:sp>
      <p:sp>
        <p:nvSpPr>
          <p:cNvPr id="13" name="Text 11"/>
          <p:cNvSpPr/>
          <p:nvPr/>
        </p:nvSpPr>
        <p:spPr>
          <a:xfrm>
            <a:off x="795528" y="2724912"/>
            <a:ext cx="3072384" cy="365760"/>
          </a:xfrm>
          <a:prstGeom prst="rect">
            <a:avLst/>
          </a:prstGeom>
          <a:noFill/>
          <a:ln/>
        </p:spPr>
        <p:txBody>
          <a:bodyPr wrap="square" lIns="0" tIns="0" rIns="0" bIns="0" rtlCol="0" anchor="ctr"/>
          <a:lstStyle/>
          <a:p>
            <a:pPr marL="0" indent="0">
              <a:buNone/>
            </a:pPr>
            <a:r>
              <a:rPr lang="en-US" sz="870" b="1" dirty="0">
                <a:solidFill>
                  <a:srgbClr val="2B6F9F"/>
                </a:solidFill>
              </a:rPr>
              <a:t>→ Protect real demand, value perception and margins.</a:t>
            </a:r>
            <a:endParaRPr lang="en-US" sz="870" dirty="0"/>
          </a:p>
        </p:txBody>
      </p:sp>
      <p:sp>
        <p:nvSpPr>
          <p:cNvPr id="14" name="Text 12"/>
          <p:cNvSpPr/>
          <p:nvPr/>
        </p:nvSpPr>
        <p:spPr>
          <a:xfrm>
            <a:off x="795528" y="3246120"/>
            <a:ext cx="2011680" cy="219456"/>
          </a:xfrm>
          <a:prstGeom prst="rect">
            <a:avLst/>
          </a:prstGeom>
          <a:noFill/>
          <a:ln/>
        </p:spPr>
        <p:txBody>
          <a:bodyPr wrap="square" lIns="0" tIns="0" rIns="0" bIns="0" rtlCol="0" anchor="ctr"/>
          <a:lstStyle/>
          <a:p>
            <a:pPr marL="0" indent="0">
              <a:buNone/>
            </a:pPr>
            <a:r>
              <a:rPr lang="en-US" sz="1050" b="1" dirty="0">
                <a:solidFill>
                  <a:srgbClr val="1F2937"/>
                </a:solidFill>
              </a:rPr>
              <a:t>Regime shift</a:t>
            </a:r>
            <a:endParaRPr lang="en-US" sz="1050" dirty="0"/>
          </a:p>
        </p:txBody>
      </p:sp>
      <p:sp>
        <p:nvSpPr>
          <p:cNvPr id="15" name="Shape 13"/>
          <p:cNvSpPr/>
          <p:nvPr/>
        </p:nvSpPr>
        <p:spPr>
          <a:xfrm>
            <a:off x="2898648" y="3236976"/>
            <a:ext cx="932688" cy="274320"/>
          </a:xfrm>
          <a:prstGeom prst="roundRect">
            <a:avLst>
              <a:gd name="adj" fmla="val 13333"/>
            </a:avLst>
          </a:prstGeom>
          <a:solidFill>
            <a:srgbClr val="F3F5F7"/>
          </a:solidFill>
          <a:ln w="12700">
            <a:solidFill>
              <a:srgbClr val="DEE4E9"/>
            </a:solidFill>
            <a:prstDash val="solid"/>
          </a:ln>
        </p:spPr>
        <p:txBody>
          <a:bodyPr/>
          <a:lstStyle/>
          <a:p>
            <a:endParaRPr lang="LID4096"/>
          </a:p>
        </p:txBody>
      </p:sp>
      <p:sp>
        <p:nvSpPr>
          <p:cNvPr id="16" name="Text 14"/>
          <p:cNvSpPr/>
          <p:nvPr/>
        </p:nvSpPr>
        <p:spPr>
          <a:xfrm>
            <a:off x="2971800" y="3319272"/>
            <a:ext cx="786384" cy="82296"/>
          </a:xfrm>
          <a:prstGeom prst="rect">
            <a:avLst/>
          </a:prstGeom>
          <a:noFill/>
          <a:ln/>
        </p:spPr>
        <p:txBody>
          <a:bodyPr wrap="square" lIns="0" tIns="0" rIns="0" bIns="0" rtlCol="0" anchor="ctr"/>
          <a:lstStyle/>
          <a:p>
            <a:pPr marL="0" indent="0" algn="ctr">
              <a:buNone/>
            </a:pPr>
            <a:r>
              <a:rPr lang="en-US" sz="590" b="1" dirty="0">
                <a:solidFill>
                  <a:srgbClr val="C94A4A"/>
                </a:solidFill>
              </a:rPr>
              <a:t>RISK + OPPORTUNITY</a:t>
            </a:r>
            <a:endParaRPr lang="en-US" sz="590" dirty="0"/>
          </a:p>
        </p:txBody>
      </p:sp>
      <p:sp>
        <p:nvSpPr>
          <p:cNvPr id="17" name="Text 15"/>
          <p:cNvSpPr/>
          <p:nvPr/>
        </p:nvSpPr>
        <p:spPr>
          <a:xfrm>
            <a:off x="795528" y="3547872"/>
            <a:ext cx="3072384" cy="384048"/>
          </a:xfrm>
          <a:prstGeom prst="rect">
            <a:avLst/>
          </a:prstGeom>
          <a:noFill/>
          <a:ln/>
        </p:spPr>
        <p:txBody>
          <a:bodyPr wrap="square" lIns="0" tIns="0" rIns="0" bIns="0" rtlCol="0" anchor="ctr"/>
          <a:lstStyle/>
          <a:p>
            <a:pPr marL="0" indent="0">
              <a:buNone/>
            </a:pPr>
            <a:r>
              <a:rPr lang="en-US" sz="850" dirty="0">
                <a:solidFill>
                  <a:srgbClr val="5F6B76"/>
                </a:solidFill>
              </a:rPr>
              <a:t>75% growth in 2020 followed by −8.6% in 2022.</a:t>
            </a:r>
            <a:endParaRPr lang="en-US" sz="850" dirty="0"/>
          </a:p>
        </p:txBody>
      </p:sp>
      <p:sp>
        <p:nvSpPr>
          <p:cNvPr id="18" name="Text 16"/>
          <p:cNvSpPr/>
          <p:nvPr/>
        </p:nvSpPr>
        <p:spPr>
          <a:xfrm>
            <a:off x="795528" y="3959352"/>
            <a:ext cx="3072384" cy="365760"/>
          </a:xfrm>
          <a:prstGeom prst="rect">
            <a:avLst/>
          </a:prstGeom>
          <a:noFill/>
          <a:ln/>
        </p:spPr>
        <p:txBody>
          <a:bodyPr wrap="square" lIns="0" tIns="0" rIns="0" bIns="0" rtlCol="0" anchor="ctr"/>
          <a:lstStyle/>
          <a:p>
            <a:pPr marL="0" indent="0">
              <a:buNone/>
            </a:pPr>
            <a:r>
              <a:rPr lang="en-US" sz="870" b="1" dirty="0">
                <a:solidFill>
                  <a:srgbClr val="2B6F9F"/>
                </a:solidFill>
              </a:rPr>
              <a:t>→ Keep digital capability, but normalize planning assumptions.</a:t>
            </a:r>
            <a:endParaRPr lang="en-US" sz="870" dirty="0"/>
          </a:p>
        </p:txBody>
      </p:sp>
      <p:sp>
        <p:nvSpPr>
          <p:cNvPr id="19" name="Text 17"/>
          <p:cNvSpPr/>
          <p:nvPr/>
        </p:nvSpPr>
        <p:spPr>
          <a:xfrm>
            <a:off x="795528" y="4480560"/>
            <a:ext cx="2011680" cy="219456"/>
          </a:xfrm>
          <a:prstGeom prst="rect">
            <a:avLst/>
          </a:prstGeom>
          <a:noFill/>
          <a:ln/>
        </p:spPr>
        <p:txBody>
          <a:bodyPr wrap="square" lIns="0" tIns="0" rIns="0" bIns="0" rtlCol="0" anchor="ctr"/>
          <a:lstStyle/>
          <a:p>
            <a:pPr marL="0" indent="0">
              <a:buNone/>
            </a:pPr>
            <a:r>
              <a:rPr lang="en-US" sz="1050" b="1" dirty="0">
                <a:solidFill>
                  <a:srgbClr val="1F2937"/>
                </a:solidFill>
              </a:rPr>
              <a:t>Consumer confidence</a:t>
            </a:r>
            <a:endParaRPr lang="en-US" sz="1050" dirty="0"/>
          </a:p>
        </p:txBody>
      </p:sp>
      <p:sp>
        <p:nvSpPr>
          <p:cNvPr id="20" name="Shape 18"/>
          <p:cNvSpPr/>
          <p:nvPr/>
        </p:nvSpPr>
        <p:spPr>
          <a:xfrm>
            <a:off x="2898648" y="4471416"/>
            <a:ext cx="932688" cy="274320"/>
          </a:xfrm>
          <a:prstGeom prst="roundRect">
            <a:avLst>
              <a:gd name="adj" fmla="val 13333"/>
            </a:avLst>
          </a:prstGeom>
          <a:solidFill>
            <a:srgbClr val="F3F5F7"/>
          </a:solidFill>
          <a:ln w="12700">
            <a:solidFill>
              <a:srgbClr val="DEE4E9"/>
            </a:solidFill>
            <a:prstDash val="solid"/>
          </a:ln>
        </p:spPr>
        <p:txBody>
          <a:bodyPr/>
          <a:lstStyle/>
          <a:p>
            <a:endParaRPr lang="LID4096"/>
          </a:p>
        </p:txBody>
      </p:sp>
      <p:sp>
        <p:nvSpPr>
          <p:cNvPr id="21" name="Text 19"/>
          <p:cNvSpPr/>
          <p:nvPr/>
        </p:nvSpPr>
        <p:spPr>
          <a:xfrm>
            <a:off x="2971800" y="4553712"/>
            <a:ext cx="786384" cy="82296"/>
          </a:xfrm>
          <a:prstGeom prst="rect">
            <a:avLst/>
          </a:prstGeom>
          <a:noFill/>
          <a:ln/>
        </p:spPr>
        <p:txBody>
          <a:bodyPr wrap="square" lIns="0" tIns="0" rIns="0" bIns="0" rtlCol="0" anchor="ctr"/>
          <a:lstStyle/>
          <a:p>
            <a:pPr marL="0" indent="0" algn="ctr">
              <a:buNone/>
            </a:pPr>
            <a:r>
              <a:rPr lang="en-US" sz="590" b="1" dirty="0">
                <a:solidFill>
                  <a:srgbClr val="D59E2A"/>
                </a:solidFill>
              </a:rPr>
              <a:t>MONITOR</a:t>
            </a:r>
            <a:endParaRPr lang="en-US" sz="590" dirty="0"/>
          </a:p>
        </p:txBody>
      </p:sp>
      <p:sp>
        <p:nvSpPr>
          <p:cNvPr id="22" name="Text 20"/>
          <p:cNvSpPr/>
          <p:nvPr/>
        </p:nvSpPr>
        <p:spPr>
          <a:xfrm>
            <a:off x="795528" y="4782312"/>
            <a:ext cx="3072384" cy="384048"/>
          </a:xfrm>
          <a:prstGeom prst="rect">
            <a:avLst/>
          </a:prstGeom>
          <a:noFill/>
          <a:ln/>
        </p:spPr>
        <p:txBody>
          <a:bodyPr wrap="square" lIns="0" tIns="0" rIns="0" bIns="0" rtlCol="0" anchor="ctr"/>
          <a:lstStyle/>
          <a:p>
            <a:pPr marL="0" indent="0">
              <a:buNone/>
            </a:pPr>
            <a:r>
              <a:rPr lang="en-US" sz="850" dirty="0">
                <a:solidFill>
                  <a:srgbClr val="5F6B76"/>
                </a:solidFill>
              </a:rPr>
              <a:t>Positive monitoring relationship becomes clearer outside the pandemic.</a:t>
            </a:r>
            <a:endParaRPr lang="en-US" sz="850" dirty="0"/>
          </a:p>
        </p:txBody>
      </p:sp>
      <p:sp>
        <p:nvSpPr>
          <p:cNvPr id="23" name="Text 21"/>
          <p:cNvSpPr/>
          <p:nvPr/>
        </p:nvSpPr>
        <p:spPr>
          <a:xfrm>
            <a:off x="795528" y="5193792"/>
            <a:ext cx="3072384" cy="365760"/>
          </a:xfrm>
          <a:prstGeom prst="rect">
            <a:avLst/>
          </a:prstGeom>
          <a:noFill/>
          <a:ln/>
        </p:spPr>
        <p:txBody>
          <a:bodyPr wrap="square" lIns="0" tIns="0" rIns="0" bIns="0" rtlCol="0" anchor="ctr"/>
          <a:lstStyle/>
          <a:p>
            <a:pPr marL="0" indent="0">
              <a:buNone/>
            </a:pPr>
            <a:r>
              <a:rPr lang="en-US" sz="870" b="1" dirty="0">
                <a:solidFill>
                  <a:srgbClr val="2B6F9F"/>
                </a:solidFill>
              </a:rPr>
              <a:t>→ Use with CPI and household-spending indicators.</a:t>
            </a:r>
            <a:endParaRPr lang="en-US" sz="870" dirty="0"/>
          </a:p>
        </p:txBody>
      </p:sp>
      <p:sp>
        <p:nvSpPr>
          <p:cNvPr id="24" name="Shape 22"/>
          <p:cNvSpPr/>
          <p:nvPr/>
        </p:nvSpPr>
        <p:spPr>
          <a:xfrm>
            <a:off x="4370832" y="1371600"/>
            <a:ext cx="3474720" cy="4526280"/>
          </a:xfrm>
          <a:prstGeom prst="roundRect">
            <a:avLst>
              <a:gd name="adj" fmla="val 1579"/>
            </a:avLst>
          </a:prstGeom>
          <a:solidFill>
            <a:srgbClr val="FFFFFF"/>
          </a:solidFill>
          <a:ln w="12700">
            <a:solidFill>
              <a:srgbClr val="D9E1E8"/>
            </a:solidFill>
            <a:prstDash val="solid"/>
          </a:ln>
        </p:spPr>
        <p:txBody>
          <a:bodyPr/>
          <a:lstStyle/>
          <a:p>
            <a:endParaRPr lang="LID4096"/>
          </a:p>
        </p:txBody>
      </p:sp>
      <p:sp>
        <p:nvSpPr>
          <p:cNvPr id="25" name="Shape 23"/>
          <p:cNvSpPr/>
          <p:nvPr/>
        </p:nvSpPr>
        <p:spPr>
          <a:xfrm>
            <a:off x="4370832" y="1371600"/>
            <a:ext cx="3474720" cy="457200"/>
          </a:xfrm>
          <a:prstGeom prst="rect">
            <a:avLst/>
          </a:prstGeom>
          <a:solidFill>
            <a:srgbClr val="0B7A75"/>
          </a:solidFill>
          <a:ln w="12700">
            <a:solidFill>
              <a:srgbClr val="0B7A75"/>
            </a:solidFill>
            <a:prstDash val="solid"/>
          </a:ln>
        </p:spPr>
        <p:txBody>
          <a:bodyPr/>
          <a:lstStyle/>
          <a:p>
            <a:endParaRPr lang="LID4096"/>
          </a:p>
        </p:txBody>
      </p:sp>
      <p:sp>
        <p:nvSpPr>
          <p:cNvPr id="26" name="Text 24"/>
          <p:cNvSpPr/>
          <p:nvPr/>
        </p:nvSpPr>
        <p:spPr>
          <a:xfrm>
            <a:off x="4535424" y="1527048"/>
            <a:ext cx="3145536" cy="146304"/>
          </a:xfrm>
          <a:prstGeom prst="rect">
            <a:avLst/>
          </a:prstGeom>
          <a:noFill/>
          <a:ln/>
        </p:spPr>
        <p:txBody>
          <a:bodyPr wrap="square" lIns="0" tIns="0" rIns="0" bIns="0" rtlCol="0" anchor="ctr"/>
          <a:lstStyle/>
          <a:p>
            <a:pPr marL="0" indent="0" algn="ctr">
              <a:buNone/>
            </a:pPr>
            <a:r>
              <a:rPr lang="en-US" sz="1000" b="1" dirty="0">
                <a:solidFill>
                  <a:srgbClr val="FFFFFF"/>
                </a:solidFill>
              </a:rPr>
              <a:t>SOCIAL</a:t>
            </a:r>
            <a:endParaRPr lang="en-US" sz="1000" dirty="0"/>
          </a:p>
        </p:txBody>
      </p:sp>
      <p:sp>
        <p:nvSpPr>
          <p:cNvPr id="27" name="Text 25"/>
          <p:cNvSpPr/>
          <p:nvPr/>
        </p:nvSpPr>
        <p:spPr>
          <a:xfrm>
            <a:off x="4572000" y="2011680"/>
            <a:ext cx="2011680" cy="219456"/>
          </a:xfrm>
          <a:prstGeom prst="rect">
            <a:avLst/>
          </a:prstGeom>
          <a:noFill/>
          <a:ln/>
        </p:spPr>
        <p:txBody>
          <a:bodyPr wrap="square" lIns="0" tIns="0" rIns="0" bIns="0" rtlCol="0" anchor="ctr"/>
          <a:lstStyle/>
          <a:p>
            <a:pPr marL="0" indent="0">
              <a:buNone/>
            </a:pPr>
            <a:r>
              <a:rPr lang="en-US" sz="1050" b="1" dirty="0">
                <a:solidFill>
                  <a:srgbClr val="1F2937"/>
                </a:solidFill>
              </a:rPr>
              <a:t>Population growth</a:t>
            </a:r>
            <a:endParaRPr lang="en-US" sz="1050" dirty="0"/>
          </a:p>
        </p:txBody>
      </p:sp>
      <p:sp>
        <p:nvSpPr>
          <p:cNvPr id="28" name="Shape 26"/>
          <p:cNvSpPr/>
          <p:nvPr/>
        </p:nvSpPr>
        <p:spPr>
          <a:xfrm>
            <a:off x="6675120" y="2002536"/>
            <a:ext cx="932688" cy="274320"/>
          </a:xfrm>
          <a:prstGeom prst="roundRect">
            <a:avLst>
              <a:gd name="adj" fmla="val 13333"/>
            </a:avLst>
          </a:prstGeom>
          <a:solidFill>
            <a:srgbClr val="F3F5F7"/>
          </a:solidFill>
          <a:ln w="12700">
            <a:solidFill>
              <a:srgbClr val="DEE4E9"/>
            </a:solidFill>
            <a:prstDash val="solid"/>
          </a:ln>
        </p:spPr>
        <p:txBody>
          <a:bodyPr/>
          <a:lstStyle/>
          <a:p>
            <a:endParaRPr lang="LID4096"/>
          </a:p>
        </p:txBody>
      </p:sp>
      <p:sp>
        <p:nvSpPr>
          <p:cNvPr id="29" name="Text 27"/>
          <p:cNvSpPr/>
          <p:nvPr/>
        </p:nvSpPr>
        <p:spPr>
          <a:xfrm>
            <a:off x="6748272" y="2084832"/>
            <a:ext cx="786384" cy="82296"/>
          </a:xfrm>
          <a:prstGeom prst="rect">
            <a:avLst/>
          </a:prstGeom>
          <a:noFill/>
          <a:ln/>
        </p:spPr>
        <p:txBody>
          <a:bodyPr wrap="square" lIns="0" tIns="0" rIns="0" bIns="0" rtlCol="0" anchor="ctr"/>
          <a:lstStyle/>
          <a:p>
            <a:pPr marL="0" indent="0" algn="ctr">
              <a:buNone/>
            </a:pPr>
            <a:r>
              <a:rPr lang="en-US" sz="590" b="1" dirty="0">
                <a:solidFill>
                  <a:srgbClr val="2F855A"/>
                </a:solidFill>
              </a:rPr>
              <a:t>OPPORTUNITY</a:t>
            </a:r>
            <a:endParaRPr lang="en-US" sz="590" dirty="0"/>
          </a:p>
        </p:txBody>
      </p:sp>
      <p:sp>
        <p:nvSpPr>
          <p:cNvPr id="30" name="Text 28"/>
          <p:cNvSpPr/>
          <p:nvPr/>
        </p:nvSpPr>
        <p:spPr>
          <a:xfrm>
            <a:off x="4572000" y="2313432"/>
            <a:ext cx="3072384" cy="384048"/>
          </a:xfrm>
          <a:prstGeom prst="rect">
            <a:avLst/>
          </a:prstGeom>
          <a:noFill/>
          <a:ln/>
        </p:spPr>
        <p:txBody>
          <a:bodyPr wrap="square" lIns="0" tIns="0" rIns="0" bIns="0" rtlCol="0" anchor="ctr"/>
          <a:lstStyle/>
          <a:p>
            <a:pPr marL="0" indent="0">
              <a:buNone/>
            </a:pPr>
            <a:r>
              <a:rPr lang="en-US" sz="850" dirty="0">
                <a:solidFill>
                  <a:srgbClr val="5F6B76"/>
                </a:solidFill>
              </a:rPr>
              <a:t>Canada’s population increased by about 14%.</a:t>
            </a:r>
            <a:endParaRPr lang="en-US" sz="850" dirty="0"/>
          </a:p>
        </p:txBody>
      </p:sp>
      <p:sp>
        <p:nvSpPr>
          <p:cNvPr id="31" name="Text 29"/>
          <p:cNvSpPr/>
          <p:nvPr/>
        </p:nvSpPr>
        <p:spPr>
          <a:xfrm>
            <a:off x="4572000" y="2724912"/>
            <a:ext cx="3072384" cy="365760"/>
          </a:xfrm>
          <a:prstGeom prst="rect">
            <a:avLst/>
          </a:prstGeom>
          <a:noFill/>
          <a:ln/>
        </p:spPr>
        <p:txBody>
          <a:bodyPr wrap="square" lIns="0" tIns="0" rIns="0" bIns="0" rtlCol="0" anchor="ctr"/>
          <a:lstStyle/>
          <a:p>
            <a:pPr marL="0" indent="0">
              <a:buNone/>
            </a:pPr>
            <a:r>
              <a:rPr lang="en-US" sz="870" b="1" dirty="0">
                <a:solidFill>
                  <a:srgbClr val="0B7A75"/>
                </a:solidFill>
              </a:rPr>
              <a:t>→ Larger customer base and transaction potential.</a:t>
            </a:r>
            <a:endParaRPr lang="en-US" sz="870" dirty="0"/>
          </a:p>
        </p:txBody>
      </p:sp>
      <p:sp>
        <p:nvSpPr>
          <p:cNvPr id="32" name="Text 30"/>
          <p:cNvSpPr/>
          <p:nvPr/>
        </p:nvSpPr>
        <p:spPr>
          <a:xfrm>
            <a:off x="4572000" y="3246120"/>
            <a:ext cx="2011680" cy="219456"/>
          </a:xfrm>
          <a:prstGeom prst="rect">
            <a:avLst/>
          </a:prstGeom>
          <a:noFill/>
          <a:ln/>
        </p:spPr>
        <p:txBody>
          <a:bodyPr wrap="square" lIns="0" tIns="0" rIns="0" bIns="0" rtlCol="0" anchor="ctr"/>
          <a:lstStyle/>
          <a:p>
            <a:pPr marL="0" indent="0">
              <a:buNone/>
            </a:pPr>
            <a:r>
              <a:rPr lang="en-US" sz="1050" b="1" dirty="0">
                <a:solidFill>
                  <a:srgbClr val="1F2937"/>
                </a:solidFill>
              </a:rPr>
              <a:t>Urbanization</a:t>
            </a:r>
            <a:endParaRPr lang="en-US" sz="1050" dirty="0"/>
          </a:p>
        </p:txBody>
      </p:sp>
      <p:sp>
        <p:nvSpPr>
          <p:cNvPr id="33" name="Shape 31"/>
          <p:cNvSpPr/>
          <p:nvPr/>
        </p:nvSpPr>
        <p:spPr>
          <a:xfrm>
            <a:off x="6675120" y="3236976"/>
            <a:ext cx="932688" cy="274320"/>
          </a:xfrm>
          <a:prstGeom prst="roundRect">
            <a:avLst>
              <a:gd name="adj" fmla="val 13333"/>
            </a:avLst>
          </a:prstGeom>
          <a:solidFill>
            <a:srgbClr val="F3F5F7"/>
          </a:solidFill>
          <a:ln w="12700">
            <a:solidFill>
              <a:srgbClr val="DEE4E9"/>
            </a:solidFill>
            <a:prstDash val="solid"/>
          </a:ln>
        </p:spPr>
        <p:txBody>
          <a:bodyPr/>
          <a:lstStyle/>
          <a:p>
            <a:endParaRPr lang="LID4096"/>
          </a:p>
        </p:txBody>
      </p:sp>
      <p:sp>
        <p:nvSpPr>
          <p:cNvPr id="34" name="Text 32"/>
          <p:cNvSpPr/>
          <p:nvPr/>
        </p:nvSpPr>
        <p:spPr>
          <a:xfrm>
            <a:off x="6748272" y="3319272"/>
            <a:ext cx="786384" cy="82296"/>
          </a:xfrm>
          <a:prstGeom prst="rect">
            <a:avLst/>
          </a:prstGeom>
          <a:noFill/>
          <a:ln/>
        </p:spPr>
        <p:txBody>
          <a:bodyPr wrap="square" lIns="0" tIns="0" rIns="0" bIns="0" rtlCol="0" anchor="ctr"/>
          <a:lstStyle/>
          <a:p>
            <a:pPr marL="0" indent="0" algn="ctr">
              <a:buNone/>
            </a:pPr>
            <a:r>
              <a:rPr lang="en-US" sz="590" b="1" dirty="0">
                <a:solidFill>
                  <a:srgbClr val="2F855A"/>
                </a:solidFill>
              </a:rPr>
              <a:t>OPPORTUNITY</a:t>
            </a:r>
            <a:endParaRPr lang="en-US" sz="590" dirty="0"/>
          </a:p>
        </p:txBody>
      </p:sp>
      <p:sp>
        <p:nvSpPr>
          <p:cNvPr id="35" name="Text 33"/>
          <p:cNvSpPr/>
          <p:nvPr/>
        </p:nvSpPr>
        <p:spPr>
          <a:xfrm>
            <a:off x="4572000" y="3547872"/>
            <a:ext cx="3072384" cy="384048"/>
          </a:xfrm>
          <a:prstGeom prst="rect">
            <a:avLst/>
          </a:prstGeom>
          <a:noFill/>
          <a:ln/>
        </p:spPr>
        <p:txBody>
          <a:bodyPr wrap="square" lIns="0" tIns="0" rIns="0" bIns="0" rtlCol="0" anchor="ctr"/>
          <a:lstStyle/>
          <a:p>
            <a:pPr marL="0" indent="0">
              <a:buNone/>
            </a:pPr>
            <a:r>
              <a:rPr lang="en-US" sz="850" dirty="0">
                <a:solidFill>
                  <a:srgbClr val="5F6B76"/>
                </a:solidFill>
              </a:rPr>
              <a:t>Urban share increased by about 1.47 percentage points.</a:t>
            </a:r>
            <a:endParaRPr lang="en-US" sz="850" dirty="0"/>
          </a:p>
        </p:txBody>
      </p:sp>
      <p:sp>
        <p:nvSpPr>
          <p:cNvPr id="36" name="Text 34"/>
          <p:cNvSpPr/>
          <p:nvPr/>
        </p:nvSpPr>
        <p:spPr>
          <a:xfrm>
            <a:off x="4572000" y="3959352"/>
            <a:ext cx="3072384" cy="365760"/>
          </a:xfrm>
          <a:prstGeom prst="rect">
            <a:avLst/>
          </a:prstGeom>
          <a:noFill/>
          <a:ln/>
        </p:spPr>
        <p:txBody>
          <a:bodyPr wrap="square" lIns="0" tIns="0" rIns="0" bIns="0" rtlCol="0" anchor="ctr"/>
          <a:lstStyle/>
          <a:p>
            <a:pPr marL="0" indent="0">
              <a:buNone/>
            </a:pPr>
            <a:r>
              <a:rPr lang="en-US" sz="870" b="1" dirty="0">
                <a:solidFill>
                  <a:srgbClr val="0B7A75"/>
                </a:solidFill>
              </a:rPr>
              <a:t>→ Supports delivery density and pickup economics.</a:t>
            </a:r>
            <a:endParaRPr lang="en-US" sz="870" dirty="0"/>
          </a:p>
        </p:txBody>
      </p:sp>
      <p:sp>
        <p:nvSpPr>
          <p:cNvPr id="37" name="Shape 35"/>
          <p:cNvSpPr/>
          <p:nvPr/>
        </p:nvSpPr>
        <p:spPr>
          <a:xfrm>
            <a:off x="8147304" y="1371600"/>
            <a:ext cx="3474720" cy="4526280"/>
          </a:xfrm>
          <a:prstGeom prst="roundRect">
            <a:avLst>
              <a:gd name="adj" fmla="val 1579"/>
            </a:avLst>
          </a:prstGeom>
          <a:solidFill>
            <a:srgbClr val="FFFFFF"/>
          </a:solidFill>
          <a:ln w="12700">
            <a:solidFill>
              <a:srgbClr val="D9E1E8"/>
            </a:solidFill>
            <a:prstDash val="solid"/>
          </a:ln>
        </p:spPr>
        <p:txBody>
          <a:bodyPr/>
          <a:lstStyle/>
          <a:p>
            <a:endParaRPr lang="LID4096"/>
          </a:p>
        </p:txBody>
      </p:sp>
      <p:sp>
        <p:nvSpPr>
          <p:cNvPr id="38" name="Shape 36"/>
          <p:cNvSpPr/>
          <p:nvPr/>
        </p:nvSpPr>
        <p:spPr>
          <a:xfrm>
            <a:off x="8147304" y="1371600"/>
            <a:ext cx="3474720" cy="457200"/>
          </a:xfrm>
          <a:prstGeom prst="rect">
            <a:avLst/>
          </a:prstGeom>
          <a:solidFill>
            <a:srgbClr val="6554C0"/>
          </a:solidFill>
          <a:ln w="12700">
            <a:solidFill>
              <a:srgbClr val="6554C0"/>
            </a:solidFill>
            <a:prstDash val="solid"/>
          </a:ln>
        </p:spPr>
        <p:txBody>
          <a:bodyPr/>
          <a:lstStyle/>
          <a:p>
            <a:endParaRPr lang="LID4096"/>
          </a:p>
        </p:txBody>
      </p:sp>
      <p:sp>
        <p:nvSpPr>
          <p:cNvPr id="39" name="Text 37"/>
          <p:cNvSpPr/>
          <p:nvPr/>
        </p:nvSpPr>
        <p:spPr>
          <a:xfrm>
            <a:off x="8311896" y="1527048"/>
            <a:ext cx="3145536" cy="146304"/>
          </a:xfrm>
          <a:prstGeom prst="rect">
            <a:avLst/>
          </a:prstGeom>
          <a:noFill/>
          <a:ln/>
        </p:spPr>
        <p:txBody>
          <a:bodyPr wrap="square" lIns="0" tIns="0" rIns="0" bIns="0" rtlCol="0" anchor="ctr"/>
          <a:lstStyle/>
          <a:p>
            <a:pPr marL="0" indent="0" algn="ctr">
              <a:buNone/>
            </a:pPr>
            <a:r>
              <a:rPr lang="en-US" sz="1000" b="1" dirty="0">
                <a:solidFill>
                  <a:srgbClr val="FFFFFF"/>
                </a:solidFill>
              </a:rPr>
              <a:t>TECHNOLOGICAL</a:t>
            </a:r>
            <a:endParaRPr lang="en-US" sz="1000" dirty="0"/>
          </a:p>
        </p:txBody>
      </p:sp>
      <p:sp>
        <p:nvSpPr>
          <p:cNvPr id="40" name="Text 38"/>
          <p:cNvSpPr/>
          <p:nvPr/>
        </p:nvSpPr>
        <p:spPr>
          <a:xfrm>
            <a:off x="8348472" y="2011680"/>
            <a:ext cx="2011680" cy="219456"/>
          </a:xfrm>
          <a:prstGeom prst="rect">
            <a:avLst/>
          </a:prstGeom>
          <a:noFill/>
          <a:ln/>
        </p:spPr>
        <p:txBody>
          <a:bodyPr wrap="square" lIns="0" tIns="0" rIns="0" bIns="0" rtlCol="0" anchor="ctr"/>
          <a:lstStyle/>
          <a:p>
            <a:pPr marL="0" indent="0">
              <a:buNone/>
            </a:pPr>
            <a:r>
              <a:rPr lang="en-US" sz="1050" b="1" dirty="0">
                <a:solidFill>
                  <a:srgbClr val="1F2937"/>
                </a:solidFill>
              </a:rPr>
              <a:t>Digital access saturation</a:t>
            </a:r>
            <a:endParaRPr lang="en-US" sz="1050" dirty="0"/>
          </a:p>
        </p:txBody>
      </p:sp>
      <p:sp>
        <p:nvSpPr>
          <p:cNvPr id="41" name="Shape 39"/>
          <p:cNvSpPr/>
          <p:nvPr/>
        </p:nvSpPr>
        <p:spPr>
          <a:xfrm>
            <a:off x="10451592" y="2002536"/>
            <a:ext cx="932688" cy="274320"/>
          </a:xfrm>
          <a:prstGeom prst="roundRect">
            <a:avLst>
              <a:gd name="adj" fmla="val 13333"/>
            </a:avLst>
          </a:prstGeom>
          <a:solidFill>
            <a:srgbClr val="F3F5F7"/>
          </a:solidFill>
          <a:ln w="12700">
            <a:solidFill>
              <a:srgbClr val="DEE4E9"/>
            </a:solidFill>
            <a:prstDash val="solid"/>
          </a:ln>
        </p:spPr>
        <p:txBody>
          <a:bodyPr/>
          <a:lstStyle/>
          <a:p>
            <a:endParaRPr lang="LID4096"/>
          </a:p>
        </p:txBody>
      </p:sp>
      <p:sp>
        <p:nvSpPr>
          <p:cNvPr id="42" name="Text 40"/>
          <p:cNvSpPr/>
          <p:nvPr/>
        </p:nvSpPr>
        <p:spPr>
          <a:xfrm>
            <a:off x="10524744" y="2084832"/>
            <a:ext cx="786384" cy="82296"/>
          </a:xfrm>
          <a:prstGeom prst="rect">
            <a:avLst/>
          </a:prstGeom>
          <a:noFill/>
          <a:ln/>
        </p:spPr>
        <p:txBody>
          <a:bodyPr wrap="square" lIns="0" tIns="0" rIns="0" bIns="0" rtlCol="0" anchor="ctr"/>
          <a:lstStyle/>
          <a:p>
            <a:pPr marL="0" indent="0" algn="ctr">
              <a:buNone/>
            </a:pPr>
            <a:r>
              <a:rPr lang="en-US" sz="590" b="1" dirty="0">
                <a:solidFill>
                  <a:srgbClr val="6554C0"/>
                </a:solidFill>
              </a:rPr>
              <a:t>MATURITY</a:t>
            </a:r>
            <a:endParaRPr lang="en-US" sz="590" dirty="0"/>
          </a:p>
        </p:txBody>
      </p:sp>
      <p:sp>
        <p:nvSpPr>
          <p:cNvPr id="43" name="Text 41"/>
          <p:cNvSpPr/>
          <p:nvPr/>
        </p:nvSpPr>
        <p:spPr>
          <a:xfrm>
            <a:off x="8348472" y="2313432"/>
            <a:ext cx="3072384" cy="384048"/>
          </a:xfrm>
          <a:prstGeom prst="rect">
            <a:avLst/>
          </a:prstGeom>
          <a:noFill/>
          <a:ln/>
        </p:spPr>
        <p:txBody>
          <a:bodyPr wrap="square" lIns="0" tIns="0" rIns="0" bIns="0" rtlCol="0" anchor="ctr"/>
          <a:lstStyle/>
          <a:p>
            <a:pPr marL="0" indent="0">
              <a:buNone/>
            </a:pPr>
            <a:r>
              <a:rPr lang="en-US" sz="850" dirty="0">
                <a:solidFill>
                  <a:srgbClr val="5F6B76"/>
                </a:solidFill>
              </a:rPr>
              <a:t>Internet and mobile access remained very high.</a:t>
            </a:r>
            <a:endParaRPr lang="en-US" sz="850" dirty="0"/>
          </a:p>
        </p:txBody>
      </p:sp>
      <p:sp>
        <p:nvSpPr>
          <p:cNvPr id="44" name="Text 42"/>
          <p:cNvSpPr/>
          <p:nvPr/>
        </p:nvSpPr>
        <p:spPr>
          <a:xfrm>
            <a:off x="8348472" y="2724912"/>
            <a:ext cx="3072384" cy="365760"/>
          </a:xfrm>
          <a:prstGeom prst="rect">
            <a:avLst/>
          </a:prstGeom>
          <a:noFill/>
          <a:ln/>
        </p:spPr>
        <p:txBody>
          <a:bodyPr wrap="square" lIns="0" tIns="0" rIns="0" bIns="0" rtlCol="0" anchor="ctr"/>
          <a:lstStyle/>
          <a:p>
            <a:pPr marL="0" indent="0">
              <a:buNone/>
            </a:pPr>
            <a:r>
              <a:rPr lang="en-US" sz="870" b="1" dirty="0">
                <a:solidFill>
                  <a:srgbClr val="6554C0"/>
                </a:solidFill>
              </a:rPr>
              <a:t>→ Compete on experience and execution rather than basic access.</a:t>
            </a:r>
            <a:endParaRPr lang="en-US" sz="870" dirty="0"/>
          </a:p>
        </p:txBody>
      </p:sp>
      <p:sp>
        <p:nvSpPr>
          <p:cNvPr id="45" name="Text 43"/>
          <p:cNvSpPr/>
          <p:nvPr/>
        </p:nvSpPr>
        <p:spPr>
          <a:xfrm>
            <a:off x="8348472" y="3246120"/>
            <a:ext cx="2011680" cy="219456"/>
          </a:xfrm>
          <a:prstGeom prst="rect">
            <a:avLst/>
          </a:prstGeom>
          <a:noFill/>
          <a:ln/>
        </p:spPr>
        <p:txBody>
          <a:bodyPr wrap="square" lIns="0" tIns="0" rIns="0" bIns="0" rtlCol="0" anchor="ctr"/>
          <a:lstStyle/>
          <a:p>
            <a:pPr marL="0" indent="0">
              <a:buNone/>
            </a:pPr>
            <a:r>
              <a:rPr lang="en-US" sz="1050" b="1" dirty="0">
                <a:solidFill>
                  <a:srgbClr val="1F2937"/>
                </a:solidFill>
              </a:rPr>
              <a:t>Strategic implication</a:t>
            </a:r>
            <a:endParaRPr lang="en-US" sz="1050" dirty="0"/>
          </a:p>
        </p:txBody>
      </p:sp>
      <p:sp>
        <p:nvSpPr>
          <p:cNvPr id="46" name="Shape 44"/>
          <p:cNvSpPr/>
          <p:nvPr/>
        </p:nvSpPr>
        <p:spPr>
          <a:xfrm>
            <a:off x="10451592" y="3236976"/>
            <a:ext cx="932688" cy="274320"/>
          </a:xfrm>
          <a:prstGeom prst="roundRect">
            <a:avLst>
              <a:gd name="adj" fmla="val 13333"/>
            </a:avLst>
          </a:prstGeom>
          <a:solidFill>
            <a:srgbClr val="F3F5F7"/>
          </a:solidFill>
          <a:ln w="12700">
            <a:solidFill>
              <a:srgbClr val="DEE4E9"/>
            </a:solidFill>
            <a:prstDash val="solid"/>
          </a:ln>
        </p:spPr>
        <p:txBody>
          <a:bodyPr/>
          <a:lstStyle/>
          <a:p>
            <a:endParaRPr lang="LID4096"/>
          </a:p>
        </p:txBody>
      </p:sp>
      <p:sp>
        <p:nvSpPr>
          <p:cNvPr id="47" name="Text 45"/>
          <p:cNvSpPr/>
          <p:nvPr/>
        </p:nvSpPr>
        <p:spPr>
          <a:xfrm>
            <a:off x="10524744" y="3319272"/>
            <a:ext cx="786384" cy="82296"/>
          </a:xfrm>
          <a:prstGeom prst="rect">
            <a:avLst/>
          </a:prstGeom>
          <a:noFill/>
          <a:ln/>
        </p:spPr>
        <p:txBody>
          <a:bodyPr wrap="square" lIns="0" tIns="0" rIns="0" bIns="0" rtlCol="0" anchor="ctr"/>
          <a:lstStyle/>
          <a:p>
            <a:pPr marL="0" indent="0" algn="ctr">
              <a:buNone/>
            </a:pPr>
            <a:r>
              <a:rPr lang="en-US" sz="590" b="1" dirty="0">
                <a:solidFill>
                  <a:srgbClr val="2F855A"/>
                </a:solidFill>
              </a:rPr>
              <a:t>OPPORTUNITY</a:t>
            </a:r>
            <a:endParaRPr lang="en-US" sz="590" dirty="0"/>
          </a:p>
        </p:txBody>
      </p:sp>
      <p:sp>
        <p:nvSpPr>
          <p:cNvPr id="48" name="Text 46"/>
          <p:cNvSpPr/>
          <p:nvPr/>
        </p:nvSpPr>
        <p:spPr>
          <a:xfrm>
            <a:off x="8348472" y="3547872"/>
            <a:ext cx="3072384" cy="384048"/>
          </a:xfrm>
          <a:prstGeom prst="rect">
            <a:avLst/>
          </a:prstGeom>
          <a:noFill/>
          <a:ln/>
        </p:spPr>
        <p:txBody>
          <a:bodyPr wrap="square" lIns="0" tIns="0" rIns="0" bIns="0" rtlCol="0" anchor="ctr"/>
          <a:lstStyle/>
          <a:p>
            <a:pPr marL="0" indent="0">
              <a:buNone/>
            </a:pPr>
            <a:r>
              <a:rPr lang="en-US" sz="850" dirty="0">
                <a:solidFill>
                  <a:srgbClr val="5F6B76"/>
                </a:solidFill>
              </a:rPr>
              <a:t>Digital infrastructure is broadly enabling.</a:t>
            </a:r>
            <a:endParaRPr lang="en-US" sz="850" dirty="0"/>
          </a:p>
        </p:txBody>
      </p:sp>
      <p:sp>
        <p:nvSpPr>
          <p:cNvPr id="49" name="Text 47"/>
          <p:cNvSpPr/>
          <p:nvPr/>
        </p:nvSpPr>
        <p:spPr>
          <a:xfrm>
            <a:off x="8348472" y="3959352"/>
            <a:ext cx="3072384" cy="365760"/>
          </a:xfrm>
          <a:prstGeom prst="rect">
            <a:avLst/>
          </a:prstGeom>
          <a:noFill/>
          <a:ln/>
        </p:spPr>
        <p:txBody>
          <a:bodyPr wrap="square" lIns="0" tIns="0" rIns="0" bIns="0" rtlCol="0" anchor="ctr"/>
          <a:lstStyle/>
          <a:p>
            <a:pPr marL="0" indent="0">
              <a:buNone/>
            </a:pPr>
            <a:r>
              <a:rPr lang="en-US" sz="870" b="1" dirty="0">
                <a:solidFill>
                  <a:srgbClr val="6554C0"/>
                </a:solidFill>
              </a:rPr>
              <a:t>→ Prioritize conversion, loyalty, payments and fulfillment quality.</a:t>
            </a:r>
            <a:endParaRPr lang="en-US" sz="870" dirty="0"/>
          </a:p>
        </p:txBody>
      </p:sp>
      <p:sp>
        <p:nvSpPr>
          <p:cNvPr id="50" name="Text 48"/>
          <p:cNvSpPr/>
          <p:nvPr/>
        </p:nvSpPr>
        <p:spPr>
          <a:xfrm>
            <a:off x="777240" y="6080760"/>
            <a:ext cx="10652760" cy="228600"/>
          </a:xfrm>
          <a:prstGeom prst="rect">
            <a:avLst/>
          </a:prstGeom>
          <a:noFill/>
          <a:ln/>
        </p:spPr>
        <p:txBody>
          <a:bodyPr wrap="square" lIns="0" tIns="0" rIns="0" bIns="0" rtlCol="0" anchor="ctr"/>
          <a:lstStyle/>
          <a:p>
            <a:pPr marL="0" indent="0" algn="ctr">
              <a:buNone/>
            </a:pPr>
            <a:r>
              <a:rPr lang="en-US" sz="1040" b="1" dirty="0">
                <a:solidFill>
                  <a:srgbClr val="123B5D"/>
                </a:solidFill>
              </a:rPr>
              <a:t>Highest-value takeaway: e-commerce is now a permanent capability operating inside a more demanding macroeconomic and competitive environment.</a:t>
            </a:r>
            <a:endParaRPr lang="en-US" sz="1040" dirty="0"/>
          </a:p>
        </p:txBody>
      </p:sp>
      <p:sp>
        <p:nvSpPr>
          <p:cNvPr id="51"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Five evidence-backed strategic priorities</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Recommendations are tied directly to the analytical results</a:t>
            </a:r>
            <a:endParaRPr lang="en-US" sz="1050" dirty="0"/>
          </a:p>
        </p:txBody>
      </p:sp>
      <p:sp>
        <p:nvSpPr>
          <p:cNvPr id="4" name="Shape 2"/>
          <p:cNvSpPr/>
          <p:nvPr/>
        </p:nvSpPr>
        <p:spPr>
          <a:xfrm>
            <a:off x="9829800" y="347472"/>
            <a:ext cx="1847088" cy="310896"/>
          </a:xfrm>
          <a:prstGeom prst="roundRect">
            <a:avLst>
              <a:gd name="adj" fmla="val 17647"/>
            </a:avLst>
          </a:prstGeom>
          <a:solidFill>
            <a:srgbClr val="0B7A75"/>
          </a:solidFill>
          <a:ln w="12700">
            <a:solidFill>
              <a:srgbClr val="0B7A75"/>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STRATEGY</a:t>
            </a:r>
            <a:endParaRPr lang="en-US" sz="800" dirty="0"/>
          </a:p>
        </p:txBody>
      </p:sp>
      <p:sp>
        <p:nvSpPr>
          <p:cNvPr id="6" name="Shape 4"/>
          <p:cNvSpPr/>
          <p:nvPr/>
        </p:nvSpPr>
        <p:spPr>
          <a:xfrm>
            <a:off x="685800" y="1325880"/>
            <a:ext cx="10835640" cy="758952"/>
          </a:xfrm>
          <a:prstGeom prst="roundRect">
            <a:avLst>
              <a:gd name="adj" fmla="val 7229"/>
            </a:avLst>
          </a:prstGeom>
          <a:solidFill>
            <a:srgbClr val="FFFFFF"/>
          </a:solidFill>
          <a:ln w="12700">
            <a:solidFill>
              <a:srgbClr val="D9E1E8"/>
            </a:solidFill>
            <a:prstDash val="solid"/>
          </a:ln>
        </p:spPr>
        <p:txBody>
          <a:bodyPr/>
          <a:lstStyle/>
          <a:p>
            <a:endParaRPr lang="LID4096"/>
          </a:p>
        </p:txBody>
      </p:sp>
      <p:sp>
        <p:nvSpPr>
          <p:cNvPr id="7" name="Shape 5"/>
          <p:cNvSpPr/>
          <p:nvPr/>
        </p:nvSpPr>
        <p:spPr>
          <a:xfrm>
            <a:off x="896112" y="1490472"/>
            <a:ext cx="420624" cy="420624"/>
          </a:xfrm>
          <a:prstGeom prst="ellipse">
            <a:avLst/>
          </a:prstGeom>
          <a:solidFill>
            <a:srgbClr val="123B5D"/>
          </a:solidFill>
          <a:ln w="12700">
            <a:solidFill>
              <a:srgbClr val="123B5D"/>
            </a:solidFill>
            <a:prstDash val="solid"/>
          </a:ln>
        </p:spPr>
        <p:txBody>
          <a:bodyPr/>
          <a:lstStyle/>
          <a:p>
            <a:endParaRPr lang="LID4096"/>
          </a:p>
        </p:txBody>
      </p:sp>
      <p:sp>
        <p:nvSpPr>
          <p:cNvPr id="8" name="Text 6"/>
          <p:cNvSpPr/>
          <p:nvPr/>
        </p:nvSpPr>
        <p:spPr>
          <a:xfrm>
            <a:off x="896112" y="1591056"/>
            <a:ext cx="420624" cy="10972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9" name="Text 7"/>
          <p:cNvSpPr/>
          <p:nvPr/>
        </p:nvSpPr>
        <p:spPr>
          <a:xfrm>
            <a:off x="1536192" y="1453896"/>
            <a:ext cx="2788920" cy="228600"/>
          </a:xfrm>
          <a:prstGeom prst="rect">
            <a:avLst/>
          </a:prstGeom>
          <a:noFill/>
          <a:ln/>
        </p:spPr>
        <p:txBody>
          <a:bodyPr wrap="square" lIns="0" tIns="0" rIns="0" bIns="0" rtlCol="0" anchor="ctr"/>
          <a:lstStyle/>
          <a:p>
            <a:pPr marL="0" indent="0">
              <a:buNone/>
            </a:pPr>
            <a:r>
              <a:rPr lang="en-US" sz="1100" b="1" dirty="0">
                <a:solidFill>
                  <a:srgbClr val="1F2937"/>
                </a:solidFill>
              </a:rPr>
              <a:t>Plan from normalized growth</a:t>
            </a:r>
            <a:endParaRPr lang="en-US" sz="1100" dirty="0"/>
          </a:p>
        </p:txBody>
      </p:sp>
      <p:sp>
        <p:nvSpPr>
          <p:cNvPr id="10" name="Text 8"/>
          <p:cNvSpPr/>
          <p:nvPr/>
        </p:nvSpPr>
        <p:spPr>
          <a:xfrm>
            <a:off x="4480560" y="1435608"/>
            <a:ext cx="5212080" cy="420624"/>
          </a:xfrm>
          <a:prstGeom prst="rect">
            <a:avLst/>
          </a:prstGeom>
          <a:noFill/>
          <a:ln/>
        </p:spPr>
        <p:txBody>
          <a:bodyPr wrap="square" lIns="0" tIns="0" rIns="0" bIns="0" rtlCol="0" anchor="ctr"/>
          <a:lstStyle/>
          <a:p>
            <a:pPr marL="0" indent="0">
              <a:buNone/>
            </a:pPr>
            <a:r>
              <a:rPr lang="en-US" sz="880" dirty="0">
                <a:solidFill>
                  <a:srgbClr val="5F6B76"/>
                </a:solidFill>
              </a:rPr>
              <a:t>Use post-pandemic growth ranges — not 2020–2021 — for capacity, budgets and long-term business cases.</a:t>
            </a:r>
            <a:endParaRPr lang="en-US" sz="880" dirty="0"/>
          </a:p>
        </p:txBody>
      </p:sp>
      <p:sp>
        <p:nvSpPr>
          <p:cNvPr id="11" name="Shape 9"/>
          <p:cNvSpPr/>
          <p:nvPr/>
        </p:nvSpPr>
        <p:spPr>
          <a:xfrm>
            <a:off x="9921240" y="1508760"/>
            <a:ext cx="1325880" cy="329184"/>
          </a:xfrm>
          <a:prstGeom prst="roundRect">
            <a:avLst>
              <a:gd name="adj" fmla="val 16667"/>
            </a:avLst>
          </a:prstGeom>
          <a:solidFill>
            <a:srgbClr val="F0F3F6"/>
          </a:solidFill>
          <a:ln w="12700">
            <a:solidFill>
              <a:srgbClr val="D9E1E8"/>
            </a:solidFill>
            <a:prstDash val="solid"/>
          </a:ln>
        </p:spPr>
        <p:txBody>
          <a:bodyPr/>
          <a:lstStyle/>
          <a:p>
            <a:endParaRPr lang="LID4096"/>
          </a:p>
        </p:txBody>
      </p:sp>
      <p:sp>
        <p:nvSpPr>
          <p:cNvPr id="12" name="Text 10"/>
          <p:cNvSpPr/>
          <p:nvPr/>
        </p:nvSpPr>
        <p:spPr>
          <a:xfrm>
            <a:off x="10012680" y="1609344"/>
            <a:ext cx="1143000" cy="109728"/>
          </a:xfrm>
          <a:prstGeom prst="rect">
            <a:avLst/>
          </a:prstGeom>
          <a:noFill/>
          <a:ln/>
        </p:spPr>
        <p:txBody>
          <a:bodyPr wrap="square" lIns="0" tIns="0" rIns="0" bIns="0" rtlCol="0" anchor="ctr"/>
          <a:lstStyle/>
          <a:p>
            <a:pPr marL="0" indent="0" algn="ctr">
              <a:buNone/>
            </a:pPr>
            <a:r>
              <a:rPr lang="en-US" sz="680" b="1" dirty="0">
                <a:solidFill>
                  <a:srgbClr val="123B5D"/>
                </a:solidFill>
              </a:rPr>
              <a:t>REGIME EVIDENCE</a:t>
            </a:r>
            <a:endParaRPr lang="en-US" sz="680" dirty="0"/>
          </a:p>
        </p:txBody>
      </p:sp>
      <p:sp>
        <p:nvSpPr>
          <p:cNvPr id="13" name="Shape 11"/>
          <p:cNvSpPr/>
          <p:nvPr/>
        </p:nvSpPr>
        <p:spPr>
          <a:xfrm>
            <a:off x="685800" y="2258568"/>
            <a:ext cx="10835640" cy="758952"/>
          </a:xfrm>
          <a:prstGeom prst="roundRect">
            <a:avLst>
              <a:gd name="adj" fmla="val 7229"/>
            </a:avLst>
          </a:prstGeom>
          <a:solidFill>
            <a:srgbClr val="FFFFFF"/>
          </a:solidFill>
          <a:ln w="12700">
            <a:solidFill>
              <a:srgbClr val="D9E1E8"/>
            </a:solidFill>
            <a:prstDash val="solid"/>
          </a:ln>
        </p:spPr>
        <p:txBody>
          <a:bodyPr/>
          <a:lstStyle/>
          <a:p>
            <a:endParaRPr lang="LID4096"/>
          </a:p>
        </p:txBody>
      </p:sp>
      <p:sp>
        <p:nvSpPr>
          <p:cNvPr id="14" name="Shape 12"/>
          <p:cNvSpPr/>
          <p:nvPr/>
        </p:nvSpPr>
        <p:spPr>
          <a:xfrm>
            <a:off x="896112" y="2423160"/>
            <a:ext cx="420624" cy="420624"/>
          </a:xfrm>
          <a:prstGeom prst="ellipse">
            <a:avLst/>
          </a:prstGeom>
          <a:solidFill>
            <a:srgbClr val="C94A4A"/>
          </a:solidFill>
          <a:ln w="12700">
            <a:solidFill>
              <a:srgbClr val="C94A4A"/>
            </a:solidFill>
            <a:prstDash val="solid"/>
          </a:ln>
        </p:spPr>
        <p:txBody>
          <a:bodyPr/>
          <a:lstStyle/>
          <a:p>
            <a:endParaRPr lang="LID4096"/>
          </a:p>
        </p:txBody>
      </p:sp>
      <p:sp>
        <p:nvSpPr>
          <p:cNvPr id="15" name="Text 13"/>
          <p:cNvSpPr/>
          <p:nvPr/>
        </p:nvSpPr>
        <p:spPr>
          <a:xfrm>
            <a:off x="896112" y="2523744"/>
            <a:ext cx="420624" cy="10972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6" name="Text 14"/>
          <p:cNvSpPr/>
          <p:nvPr/>
        </p:nvSpPr>
        <p:spPr>
          <a:xfrm>
            <a:off x="1536192" y="2386584"/>
            <a:ext cx="2788920" cy="228600"/>
          </a:xfrm>
          <a:prstGeom prst="rect">
            <a:avLst/>
          </a:prstGeom>
          <a:noFill/>
          <a:ln/>
        </p:spPr>
        <p:txBody>
          <a:bodyPr wrap="square" lIns="0" tIns="0" rIns="0" bIns="0" rtlCol="0" anchor="ctr"/>
          <a:lstStyle/>
          <a:p>
            <a:pPr marL="0" indent="0">
              <a:buNone/>
            </a:pPr>
            <a:r>
              <a:rPr lang="en-US" sz="1100" b="1" dirty="0">
                <a:solidFill>
                  <a:srgbClr val="1F2937"/>
                </a:solidFill>
              </a:rPr>
              <a:t>Build an inflation-sensitive commercial strategy</a:t>
            </a:r>
            <a:endParaRPr lang="en-US" sz="1100" dirty="0"/>
          </a:p>
        </p:txBody>
      </p:sp>
      <p:sp>
        <p:nvSpPr>
          <p:cNvPr id="17" name="Text 15"/>
          <p:cNvSpPr/>
          <p:nvPr/>
        </p:nvSpPr>
        <p:spPr>
          <a:xfrm>
            <a:off x="4480560" y="2368296"/>
            <a:ext cx="5212080" cy="420624"/>
          </a:xfrm>
          <a:prstGeom prst="rect">
            <a:avLst/>
          </a:prstGeom>
          <a:noFill/>
          <a:ln/>
        </p:spPr>
        <p:txBody>
          <a:bodyPr wrap="square" lIns="0" tIns="0" rIns="0" bIns="0" rtlCol="0" anchor="ctr"/>
          <a:lstStyle/>
          <a:p>
            <a:pPr marL="0" indent="0">
              <a:buNone/>
            </a:pPr>
            <a:r>
              <a:rPr lang="en-US" sz="880" dirty="0">
                <a:solidFill>
                  <a:srgbClr val="5F6B76"/>
                </a:solidFill>
              </a:rPr>
              <a:t>Track real growth, price sensitivity, promotions, shipping economics and category mix as inflation rises.</a:t>
            </a:r>
            <a:endParaRPr lang="en-US" sz="880" dirty="0"/>
          </a:p>
        </p:txBody>
      </p:sp>
      <p:sp>
        <p:nvSpPr>
          <p:cNvPr id="18" name="Shape 16"/>
          <p:cNvSpPr/>
          <p:nvPr/>
        </p:nvSpPr>
        <p:spPr>
          <a:xfrm>
            <a:off x="9921240" y="2441448"/>
            <a:ext cx="1325880" cy="329184"/>
          </a:xfrm>
          <a:prstGeom prst="roundRect">
            <a:avLst>
              <a:gd name="adj" fmla="val 16667"/>
            </a:avLst>
          </a:prstGeom>
          <a:solidFill>
            <a:srgbClr val="F0F3F6"/>
          </a:solidFill>
          <a:ln w="12700">
            <a:solidFill>
              <a:srgbClr val="D9E1E8"/>
            </a:solidFill>
            <a:prstDash val="solid"/>
          </a:ln>
        </p:spPr>
        <p:txBody>
          <a:bodyPr/>
          <a:lstStyle/>
          <a:p>
            <a:endParaRPr lang="LID4096"/>
          </a:p>
        </p:txBody>
      </p:sp>
      <p:sp>
        <p:nvSpPr>
          <p:cNvPr id="19" name="Text 17"/>
          <p:cNvSpPr/>
          <p:nvPr/>
        </p:nvSpPr>
        <p:spPr>
          <a:xfrm>
            <a:off x="10012680" y="2542032"/>
            <a:ext cx="1143000" cy="109728"/>
          </a:xfrm>
          <a:prstGeom prst="rect">
            <a:avLst/>
          </a:prstGeom>
          <a:noFill/>
          <a:ln/>
        </p:spPr>
        <p:txBody>
          <a:bodyPr wrap="square" lIns="0" tIns="0" rIns="0" bIns="0" rtlCol="0" anchor="ctr"/>
          <a:lstStyle/>
          <a:p>
            <a:pPr marL="0" indent="0" algn="ctr">
              <a:buNone/>
            </a:pPr>
            <a:r>
              <a:rPr lang="en-US" sz="680" b="1" dirty="0">
                <a:solidFill>
                  <a:srgbClr val="C94A4A"/>
                </a:solidFill>
              </a:rPr>
              <a:t>ECONOMIC RISK</a:t>
            </a:r>
            <a:endParaRPr lang="en-US" sz="680" dirty="0"/>
          </a:p>
        </p:txBody>
      </p:sp>
      <p:sp>
        <p:nvSpPr>
          <p:cNvPr id="20" name="Shape 18"/>
          <p:cNvSpPr/>
          <p:nvPr/>
        </p:nvSpPr>
        <p:spPr>
          <a:xfrm>
            <a:off x="685800" y="3191256"/>
            <a:ext cx="10835640" cy="758952"/>
          </a:xfrm>
          <a:prstGeom prst="roundRect">
            <a:avLst>
              <a:gd name="adj" fmla="val 7229"/>
            </a:avLst>
          </a:prstGeom>
          <a:solidFill>
            <a:srgbClr val="FFFFFF"/>
          </a:solidFill>
          <a:ln w="12700">
            <a:solidFill>
              <a:srgbClr val="D9E1E8"/>
            </a:solidFill>
            <a:prstDash val="solid"/>
          </a:ln>
        </p:spPr>
        <p:txBody>
          <a:bodyPr/>
          <a:lstStyle/>
          <a:p>
            <a:endParaRPr lang="LID4096"/>
          </a:p>
        </p:txBody>
      </p:sp>
      <p:sp>
        <p:nvSpPr>
          <p:cNvPr id="21" name="Shape 19"/>
          <p:cNvSpPr/>
          <p:nvPr/>
        </p:nvSpPr>
        <p:spPr>
          <a:xfrm>
            <a:off x="896112" y="3355848"/>
            <a:ext cx="420624" cy="420624"/>
          </a:xfrm>
          <a:prstGeom prst="ellipse">
            <a:avLst/>
          </a:prstGeom>
          <a:solidFill>
            <a:srgbClr val="D59E2A"/>
          </a:solidFill>
          <a:ln w="12700">
            <a:solidFill>
              <a:srgbClr val="D59E2A"/>
            </a:solidFill>
            <a:prstDash val="solid"/>
          </a:ln>
        </p:spPr>
        <p:txBody>
          <a:bodyPr/>
          <a:lstStyle/>
          <a:p>
            <a:endParaRPr lang="LID4096"/>
          </a:p>
        </p:txBody>
      </p:sp>
      <p:sp>
        <p:nvSpPr>
          <p:cNvPr id="22" name="Text 20"/>
          <p:cNvSpPr/>
          <p:nvPr/>
        </p:nvSpPr>
        <p:spPr>
          <a:xfrm>
            <a:off x="896112" y="3456432"/>
            <a:ext cx="420624" cy="10972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23" name="Text 21"/>
          <p:cNvSpPr/>
          <p:nvPr/>
        </p:nvSpPr>
        <p:spPr>
          <a:xfrm>
            <a:off x="1536192" y="3319272"/>
            <a:ext cx="2788920" cy="228600"/>
          </a:xfrm>
          <a:prstGeom prst="rect">
            <a:avLst/>
          </a:prstGeom>
          <a:noFill/>
          <a:ln/>
        </p:spPr>
        <p:txBody>
          <a:bodyPr wrap="square" lIns="0" tIns="0" rIns="0" bIns="0" rtlCol="0" anchor="ctr"/>
          <a:lstStyle/>
          <a:p>
            <a:pPr marL="0" indent="0">
              <a:buNone/>
            </a:pPr>
            <a:r>
              <a:rPr lang="en-US" sz="1100" b="1" dirty="0">
                <a:solidFill>
                  <a:srgbClr val="1F2937"/>
                </a:solidFill>
              </a:rPr>
              <a:t>Use confidence as an early-warning indicator</a:t>
            </a:r>
            <a:endParaRPr lang="en-US" sz="1100" dirty="0"/>
          </a:p>
        </p:txBody>
      </p:sp>
      <p:sp>
        <p:nvSpPr>
          <p:cNvPr id="24" name="Text 22"/>
          <p:cNvSpPr/>
          <p:nvPr/>
        </p:nvSpPr>
        <p:spPr>
          <a:xfrm>
            <a:off x="4480560" y="3300984"/>
            <a:ext cx="5212080" cy="420624"/>
          </a:xfrm>
          <a:prstGeom prst="rect">
            <a:avLst/>
          </a:prstGeom>
          <a:noFill/>
          <a:ln/>
        </p:spPr>
        <p:txBody>
          <a:bodyPr wrap="square" lIns="0" tIns="0" rIns="0" bIns="0" rtlCol="0" anchor="ctr"/>
          <a:lstStyle/>
          <a:p>
            <a:pPr marL="0" indent="0">
              <a:buNone/>
            </a:pPr>
            <a:r>
              <a:rPr lang="en-US" sz="880" dirty="0">
                <a:solidFill>
                  <a:srgbClr val="5F6B76"/>
                </a:solidFill>
              </a:rPr>
              <a:t>Monitor CCI together with inflation and household spending rather than treating it as a standalone forecast.</a:t>
            </a:r>
            <a:endParaRPr lang="en-US" sz="880" dirty="0"/>
          </a:p>
        </p:txBody>
      </p:sp>
      <p:sp>
        <p:nvSpPr>
          <p:cNvPr id="25" name="Shape 23"/>
          <p:cNvSpPr/>
          <p:nvPr/>
        </p:nvSpPr>
        <p:spPr>
          <a:xfrm>
            <a:off x="9921240" y="3374136"/>
            <a:ext cx="1325880" cy="329184"/>
          </a:xfrm>
          <a:prstGeom prst="roundRect">
            <a:avLst>
              <a:gd name="adj" fmla="val 16667"/>
            </a:avLst>
          </a:prstGeom>
          <a:solidFill>
            <a:srgbClr val="F0F3F6"/>
          </a:solidFill>
          <a:ln w="12700">
            <a:solidFill>
              <a:srgbClr val="D9E1E8"/>
            </a:solidFill>
            <a:prstDash val="solid"/>
          </a:ln>
        </p:spPr>
        <p:txBody>
          <a:bodyPr/>
          <a:lstStyle/>
          <a:p>
            <a:endParaRPr lang="LID4096"/>
          </a:p>
        </p:txBody>
      </p:sp>
      <p:sp>
        <p:nvSpPr>
          <p:cNvPr id="26" name="Text 24"/>
          <p:cNvSpPr/>
          <p:nvPr/>
        </p:nvSpPr>
        <p:spPr>
          <a:xfrm>
            <a:off x="10012680" y="3474720"/>
            <a:ext cx="1143000" cy="109728"/>
          </a:xfrm>
          <a:prstGeom prst="rect">
            <a:avLst/>
          </a:prstGeom>
          <a:noFill/>
          <a:ln/>
        </p:spPr>
        <p:txBody>
          <a:bodyPr wrap="square" lIns="0" tIns="0" rIns="0" bIns="0" rtlCol="0" anchor="ctr"/>
          <a:lstStyle/>
          <a:p>
            <a:pPr marL="0" indent="0" algn="ctr">
              <a:buNone/>
            </a:pPr>
            <a:r>
              <a:rPr lang="en-US" sz="680" b="1" dirty="0">
                <a:solidFill>
                  <a:srgbClr val="D59E2A"/>
                </a:solidFill>
              </a:rPr>
              <a:t>MONITORING</a:t>
            </a:r>
            <a:endParaRPr lang="en-US" sz="680" dirty="0"/>
          </a:p>
        </p:txBody>
      </p:sp>
      <p:sp>
        <p:nvSpPr>
          <p:cNvPr id="27" name="Shape 25"/>
          <p:cNvSpPr/>
          <p:nvPr/>
        </p:nvSpPr>
        <p:spPr>
          <a:xfrm>
            <a:off x="685800" y="4123944"/>
            <a:ext cx="10835640" cy="758952"/>
          </a:xfrm>
          <a:prstGeom prst="roundRect">
            <a:avLst>
              <a:gd name="adj" fmla="val 7229"/>
            </a:avLst>
          </a:prstGeom>
          <a:solidFill>
            <a:srgbClr val="FFFFFF"/>
          </a:solidFill>
          <a:ln w="12700">
            <a:solidFill>
              <a:srgbClr val="D9E1E8"/>
            </a:solidFill>
            <a:prstDash val="solid"/>
          </a:ln>
        </p:spPr>
        <p:txBody>
          <a:bodyPr/>
          <a:lstStyle/>
          <a:p>
            <a:endParaRPr lang="LID4096"/>
          </a:p>
        </p:txBody>
      </p:sp>
      <p:sp>
        <p:nvSpPr>
          <p:cNvPr id="28" name="Shape 26"/>
          <p:cNvSpPr/>
          <p:nvPr/>
        </p:nvSpPr>
        <p:spPr>
          <a:xfrm>
            <a:off x="896112" y="4288536"/>
            <a:ext cx="420624" cy="420624"/>
          </a:xfrm>
          <a:prstGeom prst="ellipse">
            <a:avLst/>
          </a:prstGeom>
          <a:solidFill>
            <a:srgbClr val="6554C0"/>
          </a:solidFill>
          <a:ln w="12700">
            <a:solidFill>
              <a:srgbClr val="6554C0"/>
            </a:solidFill>
            <a:prstDash val="solid"/>
          </a:ln>
        </p:spPr>
        <p:txBody>
          <a:bodyPr/>
          <a:lstStyle/>
          <a:p>
            <a:endParaRPr lang="LID4096"/>
          </a:p>
        </p:txBody>
      </p:sp>
      <p:sp>
        <p:nvSpPr>
          <p:cNvPr id="29" name="Text 27"/>
          <p:cNvSpPr/>
          <p:nvPr/>
        </p:nvSpPr>
        <p:spPr>
          <a:xfrm>
            <a:off x="896112" y="4389120"/>
            <a:ext cx="420624" cy="10972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30" name="Text 28"/>
          <p:cNvSpPr/>
          <p:nvPr/>
        </p:nvSpPr>
        <p:spPr>
          <a:xfrm>
            <a:off x="1536192" y="4251960"/>
            <a:ext cx="2788920" cy="228600"/>
          </a:xfrm>
          <a:prstGeom prst="rect">
            <a:avLst/>
          </a:prstGeom>
          <a:noFill/>
          <a:ln/>
        </p:spPr>
        <p:txBody>
          <a:bodyPr wrap="square" lIns="0" tIns="0" rIns="0" bIns="0" rtlCol="0" anchor="ctr"/>
          <a:lstStyle/>
          <a:p>
            <a:pPr marL="0" indent="0">
              <a:buNone/>
            </a:pPr>
            <a:r>
              <a:rPr lang="en-US" sz="1100" b="1" dirty="0">
                <a:solidFill>
                  <a:srgbClr val="1F2937"/>
                </a:solidFill>
              </a:rPr>
              <a:t>Compete on experience, not access</a:t>
            </a:r>
            <a:endParaRPr lang="en-US" sz="1100" dirty="0"/>
          </a:p>
        </p:txBody>
      </p:sp>
      <p:sp>
        <p:nvSpPr>
          <p:cNvPr id="31" name="Text 29"/>
          <p:cNvSpPr/>
          <p:nvPr/>
        </p:nvSpPr>
        <p:spPr>
          <a:xfrm>
            <a:off x="4480560" y="4233672"/>
            <a:ext cx="5212080" cy="420624"/>
          </a:xfrm>
          <a:prstGeom prst="rect">
            <a:avLst/>
          </a:prstGeom>
          <a:noFill/>
          <a:ln/>
        </p:spPr>
        <p:txBody>
          <a:bodyPr wrap="square" lIns="0" tIns="0" rIns="0" bIns="0" rtlCol="0" anchor="ctr"/>
          <a:lstStyle/>
          <a:p>
            <a:pPr marL="0" indent="0">
              <a:buNone/>
            </a:pPr>
            <a:r>
              <a:rPr lang="en-US" sz="880" dirty="0">
                <a:solidFill>
                  <a:srgbClr val="5F6B76"/>
                </a:solidFill>
              </a:rPr>
              <a:t>Prioritize mobile UX, checkout, personalization, loyalty, payments, delivery visibility and returns.</a:t>
            </a:r>
            <a:endParaRPr lang="en-US" sz="880" dirty="0"/>
          </a:p>
        </p:txBody>
      </p:sp>
      <p:sp>
        <p:nvSpPr>
          <p:cNvPr id="32" name="Shape 30"/>
          <p:cNvSpPr/>
          <p:nvPr/>
        </p:nvSpPr>
        <p:spPr>
          <a:xfrm>
            <a:off x="9921240" y="4306824"/>
            <a:ext cx="1325880" cy="329184"/>
          </a:xfrm>
          <a:prstGeom prst="roundRect">
            <a:avLst>
              <a:gd name="adj" fmla="val 16667"/>
            </a:avLst>
          </a:prstGeom>
          <a:solidFill>
            <a:srgbClr val="F0F3F6"/>
          </a:solidFill>
          <a:ln w="12700">
            <a:solidFill>
              <a:srgbClr val="D9E1E8"/>
            </a:solidFill>
            <a:prstDash val="solid"/>
          </a:ln>
        </p:spPr>
        <p:txBody>
          <a:bodyPr/>
          <a:lstStyle/>
          <a:p>
            <a:endParaRPr lang="LID4096"/>
          </a:p>
        </p:txBody>
      </p:sp>
      <p:sp>
        <p:nvSpPr>
          <p:cNvPr id="33" name="Text 31"/>
          <p:cNvSpPr/>
          <p:nvPr/>
        </p:nvSpPr>
        <p:spPr>
          <a:xfrm>
            <a:off x="10012680" y="4407408"/>
            <a:ext cx="1143000" cy="109728"/>
          </a:xfrm>
          <a:prstGeom prst="rect">
            <a:avLst/>
          </a:prstGeom>
          <a:noFill/>
          <a:ln/>
        </p:spPr>
        <p:txBody>
          <a:bodyPr wrap="square" lIns="0" tIns="0" rIns="0" bIns="0" rtlCol="0" anchor="ctr"/>
          <a:lstStyle/>
          <a:p>
            <a:pPr marL="0" indent="0" algn="ctr">
              <a:buNone/>
            </a:pPr>
            <a:r>
              <a:rPr lang="en-US" sz="680" b="1" dirty="0">
                <a:solidFill>
                  <a:srgbClr val="6554C0"/>
                </a:solidFill>
              </a:rPr>
              <a:t>DIGITAL MATURITY</a:t>
            </a:r>
            <a:endParaRPr lang="en-US" sz="680" dirty="0"/>
          </a:p>
        </p:txBody>
      </p:sp>
      <p:sp>
        <p:nvSpPr>
          <p:cNvPr id="34" name="Shape 32"/>
          <p:cNvSpPr/>
          <p:nvPr/>
        </p:nvSpPr>
        <p:spPr>
          <a:xfrm>
            <a:off x="685800" y="5056632"/>
            <a:ext cx="10835640" cy="758952"/>
          </a:xfrm>
          <a:prstGeom prst="roundRect">
            <a:avLst>
              <a:gd name="adj" fmla="val 7229"/>
            </a:avLst>
          </a:prstGeom>
          <a:solidFill>
            <a:srgbClr val="FFFFFF"/>
          </a:solidFill>
          <a:ln w="12700">
            <a:solidFill>
              <a:srgbClr val="D9E1E8"/>
            </a:solidFill>
            <a:prstDash val="solid"/>
          </a:ln>
        </p:spPr>
        <p:txBody>
          <a:bodyPr/>
          <a:lstStyle/>
          <a:p>
            <a:endParaRPr lang="LID4096"/>
          </a:p>
        </p:txBody>
      </p:sp>
      <p:sp>
        <p:nvSpPr>
          <p:cNvPr id="35" name="Shape 33"/>
          <p:cNvSpPr/>
          <p:nvPr/>
        </p:nvSpPr>
        <p:spPr>
          <a:xfrm>
            <a:off x="896112" y="5221224"/>
            <a:ext cx="420624" cy="420624"/>
          </a:xfrm>
          <a:prstGeom prst="ellipse">
            <a:avLst/>
          </a:prstGeom>
          <a:solidFill>
            <a:srgbClr val="0B7A75"/>
          </a:solidFill>
          <a:ln w="12700">
            <a:solidFill>
              <a:srgbClr val="0B7A75"/>
            </a:solidFill>
            <a:prstDash val="solid"/>
          </a:ln>
        </p:spPr>
        <p:txBody>
          <a:bodyPr/>
          <a:lstStyle/>
          <a:p>
            <a:endParaRPr lang="LID4096"/>
          </a:p>
        </p:txBody>
      </p:sp>
      <p:sp>
        <p:nvSpPr>
          <p:cNvPr id="36" name="Text 34"/>
          <p:cNvSpPr/>
          <p:nvPr/>
        </p:nvSpPr>
        <p:spPr>
          <a:xfrm>
            <a:off x="896112" y="5321808"/>
            <a:ext cx="420624" cy="109728"/>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37" name="Text 35"/>
          <p:cNvSpPr/>
          <p:nvPr/>
        </p:nvSpPr>
        <p:spPr>
          <a:xfrm>
            <a:off x="1536192" y="5184648"/>
            <a:ext cx="2788920" cy="228600"/>
          </a:xfrm>
          <a:prstGeom prst="rect">
            <a:avLst/>
          </a:prstGeom>
          <a:noFill/>
          <a:ln/>
        </p:spPr>
        <p:txBody>
          <a:bodyPr wrap="square" lIns="0" tIns="0" rIns="0" bIns="0" rtlCol="0" anchor="ctr"/>
          <a:lstStyle/>
          <a:p>
            <a:pPr marL="0" indent="0">
              <a:buNone/>
            </a:pPr>
            <a:r>
              <a:rPr lang="en-US" sz="1100" b="1" dirty="0">
                <a:solidFill>
                  <a:srgbClr val="1F2937"/>
                </a:solidFill>
              </a:rPr>
              <a:t>Align fulfillment with demographic growth</a:t>
            </a:r>
            <a:endParaRPr lang="en-US" sz="1100" dirty="0"/>
          </a:p>
        </p:txBody>
      </p:sp>
      <p:sp>
        <p:nvSpPr>
          <p:cNvPr id="38" name="Text 36"/>
          <p:cNvSpPr/>
          <p:nvPr/>
        </p:nvSpPr>
        <p:spPr>
          <a:xfrm>
            <a:off x="4480560" y="5166360"/>
            <a:ext cx="5212080" cy="420624"/>
          </a:xfrm>
          <a:prstGeom prst="rect">
            <a:avLst/>
          </a:prstGeom>
          <a:noFill/>
          <a:ln/>
        </p:spPr>
        <p:txBody>
          <a:bodyPr wrap="square" lIns="0" tIns="0" rIns="0" bIns="0" rtlCol="0" anchor="ctr"/>
          <a:lstStyle/>
          <a:p>
            <a:pPr marL="0" indent="0">
              <a:buNone/>
            </a:pPr>
            <a:r>
              <a:rPr lang="en-US" sz="880" dirty="0">
                <a:solidFill>
                  <a:srgbClr val="5F6B76"/>
                </a:solidFill>
              </a:rPr>
              <a:t>Scale distribution, pickup and delivery partnerships around high-growth urban markets while managing Canada’s geography.</a:t>
            </a:r>
            <a:endParaRPr lang="en-US" sz="880" dirty="0"/>
          </a:p>
        </p:txBody>
      </p:sp>
      <p:sp>
        <p:nvSpPr>
          <p:cNvPr id="39" name="Shape 37"/>
          <p:cNvSpPr/>
          <p:nvPr/>
        </p:nvSpPr>
        <p:spPr>
          <a:xfrm>
            <a:off x="9921240" y="5239512"/>
            <a:ext cx="1325880" cy="329184"/>
          </a:xfrm>
          <a:prstGeom prst="roundRect">
            <a:avLst>
              <a:gd name="adj" fmla="val 16667"/>
            </a:avLst>
          </a:prstGeom>
          <a:solidFill>
            <a:srgbClr val="F0F3F6"/>
          </a:solidFill>
          <a:ln w="12700">
            <a:solidFill>
              <a:srgbClr val="D9E1E8"/>
            </a:solidFill>
            <a:prstDash val="solid"/>
          </a:ln>
        </p:spPr>
        <p:txBody>
          <a:bodyPr/>
          <a:lstStyle/>
          <a:p>
            <a:endParaRPr lang="LID4096"/>
          </a:p>
        </p:txBody>
      </p:sp>
      <p:sp>
        <p:nvSpPr>
          <p:cNvPr id="40" name="Text 38"/>
          <p:cNvSpPr/>
          <p:nvPr/>
        </p:nvSpPr>
        <p:spPr>
          <a:xfrm>
            <a:off x="10012680" y="5340096"/>
            <a:ext cx="1143000" cy="109728"/>
          </a:xfrm>
          <a:prstGeom prst="rect">
            <a:avLst/>
          </a:prstGeom>
          <a:noFill/>
          <a:ln/>
        </p:spPr>
        <p:txBody>
          <a:bodyPr wrap="square" lIns="0" tIns="0" rIns="0" bIns="0" rtlCol="0" anchor="ctr"/>
          <a:lstStyle/>
          <a:p>
            <a:pPr marL="0" indent="0" algn="ctr">
              <a:buNone/>
            </a:pPr>
            <a:r>
              <a:rPr lang="en-US" sz="680" b="1" dirty="0">
                <a:solidFill>
                  <a:srgbClr val="0B7A75"/>
                </a:solidFill>
              </a:rPr>
              <a:t>SOCIAL OPPORTUNITY</a:t>
            </a:r>
            <a:endParaRPr lang="en-US" sz="680" dirty="0"/>
          </a:p>
        </p:txBody>
      </p:sp>
      <p:sp>
        <p:nvSpPr>
          <p:cNvPr id="41" name="Text 39"/>
          <p:cNvSpPr/>
          <p:nvPr/>
        </p:nvSpPr>
        <p:spPr>
          <a:xfrm>
            <a:off x="868680" y="6144768"/>
            <a:ext cx="10424160" cy="219456"/>
          </a:xfrm>
          <a:prstGeom prst="rect">
            <a:avLst/>
          </a:prstGeom>
          <a:noFill/>
          <a:ln/>
        </p:spPr>
        <p:txBody>
          <a:bodyPr wrap="square" lIns="0" tIns="0" rIns="0" bIns="0" rtlCol="0" anchor="ctr"/>
          <a:lstStyle/>
          <a:p>
            <a:pPr marL="0" indent="0" algn="ctr">
              <a:buNone/>
            </a:pPr>
            <a:r>
              <a:rPr lang="en-US" sz="1040" b="1" dirty="0">
                <a:solidFill>
                  <a:srgbClr val="123B5D"/>
                </a:solidFill>
              </a:rPr>
              <a:t>Management implication: institutionalize PESTEL monitoring rather than treating this as a one-time report.</a:t>
            </a:r>
            <a:endParaRPr lang="en-US" sz="1040" dirty="0"/>
          </a:p>
        </p:txBody>
      </p:sp>
      <p:sp>
        <p:nvSpPr>
          <p:cNvPr id="42"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The Power BI dashboard turns the analysis into an ongoing monitor</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Four pages move from performance → explanation → structural context → strategy</a:t>
            </a:r>
            <a:endParaRPr lang="en-US" sz="1050" dirty="0"/>
          </a:p>
        </p:txBody>
      </p:sp>
      <p:sp>
        <p:nvSpPr>
          <p:cNvPr id="4" name="Shape 2"/>
          <p:cNvSpPr/>
          <p:nvPr/>
        </p:nvSpPr>
        <p:spPr>
          <a:xfrm>
            <a:off x="9829800" y="347472"/>
            <a:ext cx="1847088" cy="310896"/>
          </a:xfrm>
          <a:prstGeom prst="roundRect">
            <a:avLst>
              <a:gd name="adj" fmla="val 17647"/>
            </a:avLst>
          </a:prstGeom>
          <a:solidFill>
            <a:srgbClr val="123B5D"/>
          </a:solidFill>
          <a:ln w="12700">
            <a:solidFill>
              <a:srgbClr val="123B5D"/>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DASHBOARD</a:t>
            </a:r>
            <a:endParaRPr lang="en-US" sz="800" dirty="0"/>
          </a:p>
        </p:txBody>
      </p:sp>
      <p:sp>
        <p:nvSpPr>
          <p:cNvPr id="6" name="Shape 4"/>
          <p:cNvSpPr/>
          <p:nvPr/>
        </p:nvSpPr>
        <p:spPr>
          <a:xfrm>
            <a:off x="594360" y="1417320"/>
            <a:ext cx="2240280" cy="3520440"/>
          </a:xfrm>
          <a:prstGeom prst="roundRect">
            <a:avLst>
              <a:gd name="adj" fmla="val 2449"/>
            </a:avLst>
          </a:prstGeom>
          <a:solidFill>
            <a:srgbClr val="FFFFFF"/>
          </a:solidFill>
          <a:ln w="13970">
            <a:solidFill>
              <a:srgbClr val="D9E1E8"/>
            </a:solidFill>
            <a:prstDash val="solid"/>
          </a:ln>
        </p:spPr>
        <p:txBody>
          <a:bodyPr/>
          <a:lstStyle/>
          <a:p>
            <a:endParaRPr lang="LID4096"/>
          </a:p>
        </p:txBody>
      </p:sp>
      <p:sp>
        <p:nvSpPr>
          <p:cNvPr id="7" name="Shape 5"/>
          <p:cNvSpPr/>
          <p:nvPr/>
        </p:nvSpPr>
        <p:spPr>
          <a:xfrm>
            <a:off x="594360" y="1417320"/>
            <a:ext cx="2240280" cy="411480"/>
          </a:xfrm>
          <a:prstGeom prst="rect">
            <a:avLst/>
          </a:prstGeom>
          <a:solidFill>
            <a:srgbClr val="123B5D"/>
          </a:solidFill>
          <a:ln w="12700">
            <a:solidFill>
              <a:srgbClr val="123B5D"/>
            </a:solidFill>
            <a:prstDash val="solid"/>
          </a:ln>
        </p:spPr>
        <p:txBody>
          <a:bodyPr/>
          <a:lstStyle/>
          <a:p>
            <a:endParaRPr lang="LID4096"/>
          </a:p>
        </p:txBody>
      </p:sp>
      <p:sp>
        <p:nvSpPr>
          <p:cNvPr id="8" name="Text 6"/>
          <p:cNvSpPr/>
          <p:nvPr/>
        </p:nvSpPr>
        <p:spPr>
          <a:xfrm>
            <a:off x="722376" y="1536192"/>
            <a:ext cx="1965960" cy="146304"/>
          </a:xfrm>
          <a:prstGeom prst="rect">
            <a:avLst/>
          </a:prstGeom>
          <a:noFill/>
          <a:ln/>
        </p:spPr>
        <p:txBody>
          <a:bodyPr wrap="square" lIns="0" tIns="0" rIns="0" bIns="0" rtlCol="0" anchor="ctr"/>
          <a:lstStyle/>
          <a:p>
            <a:pPr marL="0" indent="0">
              <a:buNone/>
            </a:pPr>
            <a:r>
              <a:rPr lang="en-US" sz="860" b="1" dirty="0">
                <a:solidFill>
                  <a:srgbClr val="FFFFFF"/>
                </a:solidFill>
              </a:rPr>
              <a:t>1 · Executive Overview</a:t>
            </a:r>
            <a:endParaRPr lang="en-US" sz="860" dirty="0"/>
          </a:p>
        </p:txBody>
      </p:sp>
      <p:sp>
        <p:nvSpPr>
          <p:cNvPr id="9" name="Shape 7"/>
          <p:cNvSpPr/>
          <p:nvPr/>
        </p:nvSpPr>
        <p:spPr>
          <a:xfrm>
            <a:off x="740664"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10" name="Shape 8"/>
          <p:cNvSpPr/>
          <p:nvPr/>
        </p:nvSpPr>
        <p:spPr>
          <a:xfrm>
            <a:off x="1399032"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11" name="Shape 9"/>
          <p:cNvSpPr/>
          <p:nvPr/>
        </p:nvSpPr>
        <p:spPr>
          <a:xfrm>
            <a:off x="2057400"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12" name="Shape 10"/>
          <p:cNvSpPr/>
          <p:nvPr/>
        </p:nvSpPr>
        <p:spPr>
          <a:xfrm>
            <a:off x="740664" y="2578608"/>
            <a:ext cx="1938528" cy="960120"/>
          </a:xfrm>
          <a:prstGeom prst="roundRect">
            <a:avLst>
              <a:gd name="adj" fmla="val 2857"/>
            </a:avLst>
          </a:prstGeom>
          <a:solidFill>
            <a:srgbClr val="F8FAFC"/>
          </a:solidFill>
          <a:ln w="12700">
            <a:solidFill>
              <a:srgbClr val="E0E7EC"/>
            </a:solidFill>
            <a:prstDash val="solid"/>
          </a:ln>
        </p:spPr>
        <p:txBody>
          <a:bodyPr/>
          <a:lstStyle/>
          <a:p>
            <a:endParaRPr lang="LID4096"/>
          </a:p>
        </p:txBody>
      </p:sp>
      <p:sp>
        <p:nvSpPr>
          <p:cNvPr id="13" name="Shape 11"/>
          <p:cNvSpPr/>
          <p:nvPr/>
        </p:nvSpPr>
        <p:spPr>
          <a:xfrm>
            <a:off x="914400" y="3255264"/>
            <a:ext cx="1508760" cy="0"/>
          </a:xfrm>
          <a:prstGeom prst="line">
            <a:avLst/>
          </a:prstGeom>
          <a:noFill/>
          <a:ln w="25400">
            <a:solidFill>
              <a:srgbClr val="123B5D"/>
            </a:solidFill>
            <a:prstDash val="solid"/>
          </a:ln>
        </p:spPr>
        <p:txBody>
          <a:bodyPr/>
          <a:lstStyle/>
          <a:p>
            <a:endParaRPr lang="LID4096"/>
          </a:p>
        </p:txBody>
      </p:sp>
      <p:sp>
        <p:nvSpPr>
          <p:cNvPr id="14" name="Text 12"/>
          <p:cNvSpPr/>
          <p:nvPr/>
        </p:nvSpPr>
        <p:spPr>
          <a:xfrm>
            <a:off x="758952" y="3694176"/>
            <a:ext cx="1901952" cy="164592"/>
          </a:xfrm>
          <a:prstGeom prst="rect">
            <a:avLst/>
          </a:prstGeom>
          <a:noFill/>
          <a:ln/>
        </p:spPr>
        <p:txBody>
          <a:bodyPr wrap="square" lIns="0" tIns="0" rIns="0" bIns="0" rtlCol="0" anchor="ctr"/>
          <a:lstStyle/>
          <a:p>
            <a:pPr marL="0" indent="0">
              <a:buNone/>
            </a:pPr>
            <a:r>
              <a:rPr lang="en-US" sz="750" dirty="0">
                <a:solidFill>
                  <a:srgbClr val="5F6B76"/>
                </a:solidFill>
              </a:rPr>
              <a:t>• KPI cards</a:t>
            </a:r>
            <a:endParaRPr lang="en-US" sz="750" dirty="0"/>
          </a:p>
        </p:txBody>
      </p:sp>
      <p:sp>
        <p:nvSpPr>
          <p:cNvPr id="15" name="Text 13"/>
          <p:cNvSpPr/>
          <p:nvPr/>
        </p:nvSpPr>
        <p:spPr>
          <a:xfrm>
            <a:off x="758952" y="3959352"/>
            <a:ext cx="1901952" cy="164592"/>
          </a:xfrm>
          <a:prstGeom prst="rect">
            <a:avLst/>
          </a:prstGeom>
          <a:noFill/>
          <a:ln/>
        </p:spPr>
        <p:txBody>
          <a:bodyPr wrap="square" lIns="0" tIns="0" rIns="0" bIns="0" rtlCol="0" anchor="ctr"/>
          <a:lstStyle/>
          <a:p>
            <a:pPr marL="0" indent="0">
              <a:buNone/>
            </a:pPr>
            <a:r>
              <a:rPr lang="en-US" sz="750" dirty="0">
                <a:solidFill>
                  <a:srgbClr val="5F6B76"/>
                </a:solidFill>
              </a:rPr>
              <a:t>• Monthly sales trend</a:t>
            </a:r>
            <a:endParaRPr lang="en-US" sz="750" dirty="0"/>
          </a:p>
        </p:txBody>
      </p:sp>
      <p:sp>
        <p:nvSpPr>
          <p:cNvPr id="16" name="Text 14"/>
          <p:cNvSpPr/>
          <p:nvPr/>
        </p:nvSpPr>
        <p:spPr>
          <a:xfrm>
            <a:off x="758952" y="4224528"/>
            <a:ext cx="1901952" cy="164592"/>
          </a:xfrm>
          <a:prstGeom prst="rect">
            <a:avLst/>
          </a:prstGeom>
          <a:noFill/>
          <a:ln/>
        </p:spPr>
        <p:txBody>
          <a:bodyPr wrap="square" lIns="0" tIns="0" rIns="0" bIns="0" rtlCol="0" anchor="ctr"/>
          <a:lstStyle/>
          <a:p>
            <a:pPr marL="0" indent="0">
              <a:buNone/>
            </a:pPr>
            <a:r>
              <a:rPr lang="en-US" sz="750" dirty="0">
                <a:solidFill>
                  <a:srgbClr val="5F6B76"/>
                </a:solidFill>
              </a:rPr>
              <a:t>• Annual performance</a:t>
            </a:r>
            <a:endParaRPr lang="en-US" sz="750" dirty="0"/>
          </a:p>
        </p:txBody>
      </p:sp>
      <p:sp>
        <p:nvSpPr>
          <p:cNvPr id="17" name="Text 15"/>
          <p:cNvSpPr/>
          <p:nvPr/>
        </p:nvSpPr>
        <p:spPr>
          <a:xfrm>
            <a:off x="758952" y="4489704"/>
            <a:ext cx="1901952" cy="164592"/>
          </a:xfrm>
          <a:prstGeom prst="rect">
            <a:avLst/>
          </a:prstGeom>
          <a:noFill/>
          <a:ln/>
        </p:spPr>
        <p:txBody>
          <a:bodyPr wrap="square" lIns="0" tIns="0" rIns="0" bIns="0" rtlCol="0" anchor="ctr"/>
          <a:lstStyle/>
          <a:p>
            <a:pPr marL="0" indent="0">
              <a:buNone/>
            </a:pPr>
            <a:r>
              <a:rPr lang="en-US" sz="750" dirty="0">
                <a:solidFill>
                  <a:srgbClr val="5F6B76"/>
                </a:solidFill>
              </a:rPr>
              <a:t>• PESTEL insight cards</a:t>
            </a:r>
            <a:endParaRPr lang="en-US" sz="750" dirty="0"/>
          </a:p>
        </p:txBody>
      </p:sp>
      <p:sp>
        <p:nvSpPr>
          <p:cNvPr id="18" name="Shape 16"/>
          <p:cNvSpPr/>
          <p:nvPr/>
        </p:nvSpPr>
        <p:spPr>
          <a:xfrm>
            <a:off x="3520440" y="1417320"/>
            <a:ext cx="2240280" cy="3520440"/>
          </a:xfrm>
          <a:prstGeom prst="roundRect">
            <a:avLst>
              <a:gd name="adj" fmla="val 2449"/>
            </a:avLst>
          </a:prstGeom>
          <a:solidFill>
            <a:srgbClr val="FFFFFF"/>
          </a:solidFill>
          <a:ln w="13970">
            <a:solidFill>
              <a:srgbClr val="D9E1E8"/>
            </a:solidFill>
            <a:prstDash val="solid"/>
          </a:ln>
        </p:spPr>
        <p:txBody>
          <a:bodyPr/>
          <a:lstStyle/>
          <a:p>
            <a:endParaRPr lang="LID4096"/>
          </a:p>
        </p:txBody>
      </p:sp>
      <p:sp>
        <p:nvSpPr>
          <p:cNvPr id="19" name="Shape 17"/>
          <p:cNvSpPr/>
          <p:nvPr/>
        </p:nvSpPr>
        <p:spPr>
          <a:xfrm>
            <a:off x="3520440" y="1417320"/>
            <a:ext cx="2240280" cy="411480"/>
          </a:xfrm>
          <a:prstGeom prst="rect">
            <a:avLst/>
          </a:prstGeom>
          <a:solidFill>
            <a:srgbClr val="2B6F9F"/>
          </a:solidFill>
          <a:ln w="12700">
            <a:solidFill>
              <a:srgbClr val="2B6F9F"/>
            </a:solidFill>
            <a:prstDash val="solid"/>
          </a:ln>
        </p:spPr>
        <p:txBody>
          <a:bodyPr/>
          <a:lstStyle/>
          <a:p>
            <a:endParaRPr lang="LID4096"/>
          </a:p>
        </p:txBody>
      </p:sp>
      <p:sp>
        <p:nvSpPr>
          <p:cNvPr id="20" name="Text 18"/>
          <p:cNvSpPr/>
          <p:nvPr/>
        </p:nvSpPr>
        <p:spPr>
          <a:xfrm>
            <a:off x="3648456" y="1536192"/>
            <a:ext cx="1965960" cy="146304"/>
          </a:xfrm>
          <a:prstGeom prst="rect">
            <a:avLst/>
          </a:prstGeom>
          <a:noFill/>
          <a:ln/>
        </p:spPr>
        <p:txBody>
          <a:bodyPr wrap="square" lIns="0" tIns="0" rIns="0" bIns="0" rtlCol="0" anchor="ctr"/>
          <a:lstStyle/>
          <a:p>
            <a:pPr marL="0" indent="0">
              <a:buNone/>
            </a:pPr>
            <a:r>
              <a:rPr lang="en-US" sz="860" b="1" dirty="0">
                <a:solidFill>
                  <a:srgbClr val="FFFFFF"/>
                </a:solidFill>
              </a:rPr>
              <a:t>2 · Economic Environment</a:t>
            </a:r>
            <a:endParaRPr lang="en-US" sz="860" dirty="0"/>
          </a:p>
        </p:txBody>
      </p:sp>
      <p:sp>
        <p:nvSpPr>
          <p:cNvPr id="21" name="Shape 19"/>
          <p:cNvSpPr/>
          <p:nvPr/>
        </p:nvSpPr>
        <p:spPr>
          <a:xfrm>
            <a:off x="3666744"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22" name="Shape 20"/>
          <p:cNvSpPr/>
          <p:nvPr/>
        </p:nvSpPr>
        <p:spPr>
          <a:xfrm>
            <a:off x="4325112"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23" name="Shape 21"/>
          <p:cNvSpPr/>
          <p:nvPr/>
        </p:nvSpPr>
        <p:spPr>
          <a:xfrm>
            <a:off x="4983480"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24" name="Shape 22"/>
          <p:cNvSpPr/>
          <p:nvPr/>
        </p:nvSpPr>
        <p:spPr>
          <a:xfrm>
            <a:off x="3666744" y="2578608"/>
            <a:ext cx="1938528" cy="960120"/>
          </a:xfrm>
          <a:prstGeom prst="roundRect">
            <a:avLst>
              <a:gd name="adj" fmla="val 2857"/>
            </a:avLst>
          </a:prstGeom>
          <a:solidFill>
            <a:srgbClr val="F8FAFC"/>
          </a:solidFill>
          <a:ln w="12700">
            <a:solidFill>
              <a:srgbClr val="E0E7EC"/>
            </a:solidFill>
            <a:prstDash val="solid"/>
          </a:ln>
        </p:spPr>
        <p:txBody>
          <a:bodyPr/>
          <a:lstStyle/>
          <a:p>
            <a:endParaRPr lang="LID4096"/>
          </a:p>
        </p:txBody>
      </p:sp>
      <p:sp>
        <p:nvSpPr>
          <p:cNvPr id="25" name="Shape 23"/>
          <p:cNvSpPr/>
          <p:nvPr/>
        </p:nvSpPr>
        <p:spPr>
          <a:xfrm>
            <a:off x="3840480" y="3255264"/>
            <a:ext cx="1508760" cy="0"/>
          </a:xfrm>
          <a:prstGeom prst="line">
            <a:avLst/>
          </a:prstGeom>
          <a:noFill/>
          <a:ln w="25400">
            <a:solidFill>
              <a:srgbClr val="2B6F9F"/>
            </a:solidFill>
            <a:prstDash val="solid"/>
          </a:ln>
        </p:spPr>
        <p:txBody>
          <a:bodyPr/>
          <a:lstStyle/>
          <a:p>
            <a:endParaRPr lang="LID4096"/>
          </a:p>
        </p:txBody>
      </p:sp>
      <p:sp>
        <p:nvSpPr>
          <p:cNvPr id="26" name="Text 24"/>
          <p:cNvSpPr/>
          <p:nvPr/>
        </p:nvSpPr>
        <p:spPr>
          <a:xfrm>
            <a:off x="3685032" y="3694176"/>
            <a:ext cx="1901952" cy="164592"/>
          </a:xfrm>
          <a:prstGeom prst="rect">
            <a:avLst/>
          </a:prstGeom>
          <a:noFill/>
          <a:ln/>
        </p:spPr>
        <p:txBody>
          <a:bodyPr wrap="square" lIns="0" tIns="0" rIns="0" bIns="0" rtlCol="0" anchor="ctr"/>
          <a:lstStyle/>
          <a:p>
            <a:pPr marL="0" indent="0">
              <a:buNone/>
            </a:pPr>
            <a:r>
              <a:rPr lang="en-US" sz="750" dirty="0">
                <a:solidFill>
                  <a:srgbClr val="5F6B76"/>
                </a:solidFill>
              </a:rPr>
              <a:t>• Growth vs inflation</a:t>
            </a:r>
            <a:endParaRPr lang="en-US" sz="750" dirty="0"/>
          </a:p>
        </p:txBody>
      </p:sp>
      <p:sp>
        <p:nvSpPr>
          <p:cNvPr id="27" name="Text 25"/>
          <p:cNvSpPr/>
          <p:nvPr/>
        </p:nvSpPr>
        <p:spPr>
          <a:xfrm>
            <a:off x="3685032" y="3959352"/>
            <a:ext cx="1901952" cy="164592"/>
          </a:xfrm>
          <a:prstGeom prst="rect">
            <a:avLst/>
          </a:prstGeom>
          <a:noFill/>
          <a:ln/>
        </p:spPr>
        <p:txBody>
          <a:bodyPr wrap="square" lIns="0" tIns="0" rIns="0" bIns="0" rtlCol="0" anchor="ctr"/>
          <a:lstStyle/>
          <a:p>
            <a:pPr marL="0" indent="0">
              <a:buNone/>
            </a:pPr>
            <a:r>
              <a:rPr lang="en-US" sz="750" dirty="0">
                <a:solidFill>
                  <a:srgbClr val="5F6B76"/>
                </a:solidFill>
              </a:rPr>
              <a:t>• Period comparison</a:t>
            </a:r>
            <a:endParaRPr lang="en-US" sz="750" dirty="0"/>
          </a:p>
        </p:txBody>
      </p:sp>
      <p:sp>
        <p:nvSpPr>
          <p:cNvPr id="28" name="Text 26"/>
          <p:cNvSpPr/>
          <p:nvPr/>
        </p:nvSpPr>
        <p:spPr>
          <a:xfrm>
            <a:off x="3685032" y="4224528"/>
            <a:ext cx="1901952" cy="164592"/>
          </a:xfrm>
          <a:prstGeom prst="rect">
            <a:avLst/>
          </a:prstGeom>
          <a:noFill/>
          <a:ln/>
        </p:spPr>
        <p:txBody>
          <a:bodyPr wrap="square" lIns="0" tIns="0" rIns="0" bIns="0" rtlCol="0" anchor="ctr"/>
          <a:lstStyle/>
          <a:p>
            <a:pPr marL="0" indent="0">
              <a:buNone/>
            </a:pPr>
            <a:r>
              <a:rPr lang="en-US" sz="750" dirty="0">
                <a:solidFill>
                  <a:srgbClr val="5F6B76"/>
                </a:solidFill>
              </a:rPr>
              <a:t>• Inflation scatter</a:t>
            </a:r>
            <a:endParaRPr lang="en-US" sz="750" dirty="0"/>
          </a:p>
        </p:txBody>
      </p:sp>
      <p:sp>
        <p:nvSpPr>
          <p:cNvPr id="29" name="Text 27"/>
          <p:cNvSpPr/>
          <p:nvPr/>
        </p:nvSpPr>
        <p:spPr>
          <a:xfrm>
            <a:off x="3685032" y="4489704"/>
            <a:ext cx="1901952" cy="164592"/>
          </a:xfrm>
          <a:prstGeom prst="rect">
            <a:avLst/>
          </a:prstGeom>
          <a:noFill/>
          <a:ln/>
        </p:spPr>
        <p:txBody>
          <a:bodyPr wrap="square" lIns="0" tIns="0" rIns="0" bIns="0" rtlCol="0" anchor="ctr"/>
          <a:lstStyle/>
          <a:p>
            <a:pPr marL="0" indent="0">
              <a:buNone/>
            </a:pPr>
            <a:r>
              <a:rPr lang="en-US" sz="750" dirty="0">
                <a:solidFill>
                  <a:srgbClr val="5F6B76"/>
                </a:solidFill>
              </a:rPr>
              <a:t>• Confidence scatter</a:t>
            </a:r>
            <a:endParaRPr lang="en-US" sz="750" dirty="0"/>
          </a:p>
        </p:txBody>
      </p:sp>
      <p:sp>
        <p:nvSpPr>
          <p:cNvPr id="30" name="Shape 28"/>
          <p:cNvSpPr/>
          <p:nvPr/>
        </p:nvSpPr>
        <p:spPr>
          <a:xfrm>
            <a:off x="6446520" y="1417320"/>
            <a:ext cx="2240280" cy="3520440"/>
          </a:xfrm>
          <a:prstGeom prst="roundRect">
            <a:avLst>
              <a:gd name="adj" fmla="val 2449"/>
            </a:avLst>
          </a:prstGeom>
          <a:solidFill>
            <a:srgbClr val="FFFFFF"/>
          </a:solidFill>
          <a:ln w="13970">
            <a:solidFill>
              <a:srgbClr val="D9E1E8"/>
            </a:solidFill>
            <a:prstDash val="solid"/>
          </a:ln>
        </p:spPr>
        <p:txBody>
          <a:bodyPr/>
          <a:lstStyle/>
          <a:p>
            <a:endParaRPr lang="LID4096"/>
          </a:p>
        </p:txBody>
      </p:sp>
      <p:sp>
        <p:nvSpPr>
          <p:cNvPr id="31" name="Shape 29"/>
          <p:cNvSpPr/>
          <p:nvPr/>
        </p:nvSpPr>
        <p:spPr>
          <a:xfrm>
            <a:off x="6446520" y="1417320"/>
            <a:ext cx="2240280" cy="411480"/>
          </a:xfrm>
          <a:prstGeom prst="rect">
            <a:avLst/>
          </a:prstGeom>
          <a:solidFill>
            <a:srgbClr val="0B7A75"/>
          </a:solidFill>
          <a:ln w="12700">
            <a:solidFill>
              <a:srgbClr val="0B7A75"/>
            </a:solidFill>
            <a:prstDash val="solid"/>
          </a:ln>
        </p:spPr>
        <p:txBody>
          <a:bodyPr/>
          <a:lstStyle/>
          <a:p>
            <a:endParaRPr lang="LID4096"/>
          </a:p>
        </p:txBody>
      </p:sp>
      <p:sp>
        <p:nvSpPr>
          <p:cNvPr id="32" name="Text 30"/>
          <p:cNvSpPr/>
          <p:nvPr/>
        </p:nvSpPr>
        <p:spPr>
          <a:xfrm>
            <a:off x="6574536" y="1536192"/>
            <a:ext cx="1965960" cy="146304"/>
          </a:xfrm>
          <a:prstGeom prst="rect">
            <a:avLst/>
          </a:prstGeom>
          <a:noFill/>
          <a:ln/>
        </p:spPr>
        <p:txBody>
          <a:bodyPr wrap="square" lIns="0" tIns="0" rIns="0" bIns="0" rtlCol="0" anchor="ctr"/>
          <a:lstStyle/>
          <a:p>
            <a:pPr marL="0" indent="0">
              <a:buNone/>
            </a:pPr>
            <a:r>
              <a:rPr lang="en-US" sz="860" b="1" dirty="0">
                <a:solidFill>
                  <a:srgbClr val="FFFFFF"/>
                </a:solidFill>
              </a:rPr>
              <a:t>3 · Social &amp; Technology</a:t>
            </a:r>
            <a:endParaRPr lang="en-US" sz="860" dirty="0"/>
          </a:p>
        </p:txBody>
      </p:sp>
      <p:sp>
        <p:nvSpPr>
          <p:cNvPr id="33" name="Shape 31"/>
          <p:cNvSpPr/>
          <p:nvPr/>
        </p:nvSpPr>
        <p:spPr>
          <a:xfrm>
            <a:off x="6592824"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34" name="Shape 32"/>
          <p:cNvSpPr/>
          <p:nvPr/>
        </p:nvSpPr>
        <p:spPr>
          <a:xfrm>
            <a:off x="7251192"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35" name="Shape 33"/>
          <p:cNvSpPr/>
          <p:nvPr/>
        </p:nvSpPr>
        <p:spPr>
          <a:xfrm>
            <a:off x="7909560"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36" name="Shape 34"/>
          <p:cNvSpPr/>
          <p:nvPr/>
        </p:nvSpPr>
        <p:spPr>
          <a:xfrm>
            <a:off x="6592824" y="2578608"/>
            <a:ext cx="1938528" cy="960120"/>
          </a:xfrm>
          <a:prstGeom prst="roundRect">
            <a:avLst>
              <a:gd name="adj" fmla="val 2857"/>
            </a:avLst>
          </a:prstGeom>
          <a:solidFill>
            <a:srgbClr val="F8FAFC"/>
          </a:solidFill>
          <a:ln w="12700">
            <a:solidFill>
              <a:srgbClr val="E0E7EC"/>
            </a:solidFill>
            <a:prstDash val="solid"/>
          </a:ln>
        </p:spPr>
        <p:txBody>
          <a:bodyPr/>
          <a:lstStyle/>
          <a:p>
            <a:endParaRPr lang="LID4096"/>
          </a:p>
        </p:txBody>
      </p:sp>
      <p:sp>
        <p:nvSpPr>
          <p:cNvPr id="37" name="Shape 35"/>
          <p:cNvSpPr/>
          <p:nvPr/>
        </p:nvSpPr>
        <p:spPr>
          <a:xfrm>
            <a:off x="6766560" y="3255264"/>
            <a:ext cx="1508760" cy="0"/>
          </a:xfrm>
          <a:prstGeom prst="line">
            <a:avLst/>
          </a:prstGeom>
          <a:noFill/>
          <a:ln w="25400">
            <a:solidFill>
              <a:srgbClr val="0B7A75"/>
            </a:solidFill>
            <a:prstDash val="solid"/>
          </a:ln>
        </p:spPr>
        <p:txBody>
          <a:bodyPr/>
          <a:lstStyle/>
          <a:p>
            <a:endParaRPr lang="LID4096"/>
          </a:p>
        </p:txBody>
      </p:sp>
      <p:sp>
        <p:nvSpPr>
          <p:cNvPr id="38" name="Text 36"/>
          <p:cNvSpPr/>
          <p:nvPr/>
        </p:nvSpPr>
        <p:spPr>
          <a:xfrm>
            <a:off x="6611112" y="3694176"/>
            <a:ext cx="1901952" cy="164592"/>
          </a:xfrm>
          <a:prstGeom prst="rect">
            <a:avLst/>
          </a:prstGeom>
          <a:noFill/>
          <a:ln/>
        </p:spPr>
        <p:txBody>
          <a:bodyPr wrap="square" lIns="0" tIns="0" rIns="0" bIns="0" rtlCol="0" anchor="ctr"/>
          <a:lstStyle/>
          <a:p>
            <a:pPr marL="0" indent="0">
              <a:buNone/>
            </a:pPr>
            <a:r>
              <a:rPr lang="en-US" sz="750" dirty="0">
                <a:solidFill>
                  <a:srgbClr val="5F6B76"/>
                </a:solidFill>
              </a:rPr>
              <a:t>• Population &amp; urbanization</a:t>
            </a:r>
            <a:endParaRPr lang="en-US" sz="750" dirty="0"/>
          </a:p>
        </p:txBody>
      </p:sp>
      <p:sp>
        <p:nvSpPr>
          <p:cNvPr id="39" name="Text 37"/>
          <p:cNvSpPr/>
          <p:nvPr/>
        </p:nvSpPr>
        <p:spPr>
          <a:xfrm>
            <a:off x="6611112" y="3959352"/>
            <a:ext cx="1901952" cy="164592"/>
          </a:xfrm>
          <a:prstGeom prst="rect">
            <a:avLst/>
          </a:prstGeom>
          <a:noFill/>
          <a:ln/>
        </p:spPr>
        <p:txBody>
          <a:bodyPr wrap="square" lIns="0" tIns="0" rIns="0" bIns="0" rtlCol="0" anchor="ctr"/>
          <a:lstStyle/>
          <a:p>
            <a:pPr marL="0" indent="0">
              <a:buNone/>
            </a:pPr>
            <a:r>
              <a:rPr lang="en-US" sz="750" dirty="0">
                <a:solidFill>
                  <a:srgbClr val="5F6B76"/>
                </a:solidFill>
              </a:rPr>
              <a:t>• Digital connectivity</a:t>
            </a:r>
            <a:endParaRPr lang="en-US" sz="750" dirty="0"/>
          </a:p>
        </p:txBody>
      </p:sp>
      <p:sp>
        <p:nvSpPr>
          <p:cNvPr id="40" name="Text 38"/>
          <p:cNvSpPr/>
          <p:nvPr/>
        </p:nvSpPr>
        <p:spPr>
          <a:xfrm>
            <a:off x="6611112" y="4224528"/>
            <a:ext cx="1901952" cy="164592"/>
          </a:xfrm>
          <a:prstGeom prst="rect">
            <a:avLst/>
          </a:prstGeom>
          <a:noFill/>
          <a:ln/>
        </p:spPr>
        <p:txBody>
          <a:bodyPr wrap="square" lIns="0" tIns="0" rIns="0" bIns="0" rtlCol="0" anchor="ctr"/>
          <a:lstStyle/>
          <a:p>
            <a:pPr marL="0" indent="0">
              <a:buNone/>
            </a:pPr>
            <a:r>
              <a:rPr lang="en-US" sz="750" dirty="0">
                <a:solidFill>
                  <a:srgbClr val="5F6B76"/>
                </a:solidFill>
              </a:rPr>
              <a:t>• Per-capita growth</a:t>
            </a:r>
            <a:endParaRPr lang="en-US" sz="750" dirty="0"/>
          </a:p>
        </p:txBody>
      </p:sp>
      <p:sp>
        <p:nvSpPr>
          <p:cNvPr id="41" name="Text 39"/>
          <p:cNvSpPr/>
          <p:nvPr/>
        </p:nvSpPr>
        <p:spPr>
          <a:xfrm>
            <a:off x="6611112" y="4489704"/>
            <a:ext cx="1901952" cy="164592"/>
          </a:xfrm>
          <a:prstGeom prst="rect">
            <a:avLst/>
          </a:prstGeom>
          <a:noFill/>
          <a:ln/>
        </p:spPr>
        <p:txBody>
          <a:bodyPr wrap="square" lIns="0" tIns="0" rIns="0" bIns="0" rtlCol="0" anchor="ctr"/>
          <a:lstStyle/>
          <a:p>
            <a:pPr marL="0" indent="0">
              <a:buNone/>
            </a:pPr>
            <a:r>
              <a:rPr lang="en-US" sz="750" dirty="0">
                <a:solidFill>
                  <a:srgbClr val="5F6B76"/>
                </a:solidFill>
              </a:rPr>
              <a:t>• Indexed structural trend</a:t>
            </a:r>
            <a:endParaRPr lang="en-US" sz="750" dirty="0"/>
          </a:p>
        </p:txBody>
      </p:sp>
      <p:sp>
        <p:nvSpPr>
          <p:cNvPr id="42" name="Shape 40"/>
          <p:cNvSpPr/>
          <p:nvPr/>
        </p:nvSpPr>
        <p:spPr>
          <a:xfrm>
            <a:off x="9372600" y="1417320"/>
            <a:ext cx="2240280" cy="3520440"/>
          </a:xfrm>
          <a:prstGeom prst="roundRect">
            <a:avLst>
              <a:gd name="adj" fmla="val 2449"/>
            </a:avLst>
          </a:prstGeom>
          <a:solidFill>
            <a:srgbClr val="FFFFFF"/>
          </a:solidFill>
          <a:ln w="13970">
            <a:solidFill>
              <a:srgbClr val="D9E1E8"/>
            </a:solidFill>
            <a:prstDash val="solid"/>
          </a:ln>
        </p:spPr>
        <p:txBody>
          <a:bodyPr/>
          <a:lstStyle/>
          <a:p>
            <a:endParaRPr lang="LID4096"/>
          </a:p>
        </p:txBody>
      </p:sp>
      <p:sp>
        <p:nvSpPr>
          <p:cNvPr id="43" name="Shape 41"/>
          <p:cNvSpPr/>
          <p:nvPr/>
        </p:nvSpPr>
        <p:spPr>
          <a:xfrm>
            <a:off x="9372600" y="1417320"/>
            <a:ext cx="2240280" cy="411480"/>
          </a:xfrm>
          <a:prstGeom prst="rect">
            <a:avLst/>
          </a:prstGeom>
          <a:solidFill>
            <a:srgbClr val="6554C0"/>
          </a:solidFill>
          <a:ln w="12700">
            <a:solidFill>
              <a:srgbClr val="6554C0"/>
            </a:solidFill>
            <a:prstDash val="solid"/>
          </a:ln>
        </p:spPr>
        <p:txBody>
          <a:bodyPr/>
          <a:lstStyle/>
          <a:p>
            <a:endParaRPr lang="LID4096"/>
          </a:p>
        </p:txBody>
      </p:sp>
      <p:sp>
        <p:nvSpPr>
          <p:cNvPr id="44" name="Text 42"/>
          <p:cNvSpPr/>
          <p:nvPr/>
        </p:nvSpPr>
        <p:spPr>
          <a:xfrm>
            <a:off x="9500616" y="1536192"/>
            <a:ext cx="1965960" cy="146304"/>
          </a:xfrm>
          <a:prstGeom prst="rect">
            <a:avLst/>
          </a:prstGeom>
          <a:noFill/>
          <a:ln/>
        </p:spPr>
        <p:txBody>
          <a:bodyPr wrap="square" lIns="0" tIns="0" rIns="0" bIns="0" rtlCol="0" anchor="ctr"/>
          <a:lstStyle/>
          <a:p>
            <a:pPr marL="0" indent="0">
              <a:buNone/>
            </a:pPr>
            <a:r>
              <a:rPr lang="en-US" sz="860" b="1" dirty="0">
                <a:solidFill>
                  <a:srgbClr val="FFFFFF"/>
                </a:solidFill>
              </a:rPr>
              <a:t>4 · Risks &amp; Strategy</a:t>
            </a:r>
            <a:endParaRPr lang="en-US" sz="860" dirty="0"/>
          </a:p>
        </p:txBody>
      </p:sp>
      <p:sp>
        <p:nvSpPr>
          <p:cNvPr id="45" name="Shape 43"/>
          <p:cNvSpPr/>
          <p:nvPr/>
        </p:nvSpPr>
        <p:spPr>
          <a:xfrm>
            <a:off x="9518904"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46" name="Shape 44"/>
          <p:cNvSpPr/>
          <p:nvPr/>
        </p:nvSpPr>
        <p:spPr>
          <a:xfrm>
            <a:off x="10177272"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47" name="Shape 45"/>
          <p:cNvSpPr/>
          <p:nvPr/>
        </p:nvSpPr>
        <p:spPr>
          <a:xfrm>
            <a:off x="10835640" y="1993392"/>
            <a:ext cx="530352" cy="411480"/>
          </a:xfrm>
          <a:prstGeom prst="roundRect">
            <a:avLst>
              <a:gd name="adj" fmla="val 6667"/>
            </a:avLst>
          </a:prstGeom>
          <a:solidFill>
            <a:srgbClr val="F4F7F9"/>
          </a:solidFill>
          <a:ln w="12700">
            <a:solidFill>
              <a:srgbClr val="E0E7EC"/>
            </a:solidFill>
            <a:prstDash val="solid"/>
          </a:ln>
        </p:spPr>
        <p:txBody>
          <a:bodyPr/>
          <a:lstStyle/>
          <a:p>
            <a:endParaRPr lang="LID4096"/>
          </a:p>
        </p:txBody>
      </p:sp>
      <p:sp>
        <p:nvSpPr>
          <p:cNvPr id="48" name="Shape 46"/>
          <p:cNvSpPr/>
          <p:nvPr/>
        </p:nvSpPr>
        <p:spPr>
          <a:xfrm>
            <a:off x="9518904" y="2578608"/>
            <a:ext cx="1938528" cy="960120"/>
          </a:xfrm>
          <a:prstGeom prst="roundRect">
            <a:avLst>
              <a:gd name="adj" fmla="val 2857"/>
            </a:avLst>
          </a:prstGeom>
          <a:solidFill>
            <a:srgbClr val="F8FAFC"/>
          </a:solidFill>
          <a:ln w="12700">
            <a:solidFill>
              <a:srgbClr val="E0E7EC"/>
            </a:solidFill>
            <a:prstDash val="solid"/>
          </a:ln>
        </p:spPr>
        <p:txBody>
          <a:bodyPr/>
          <a:lstStyle/>
          <a:p>
            <a:endParaRPr lang="LID4096"/>
          </a:p>
        </p:txBody>
      </p:sp>
      <p:sp>
        <p:nvSpPr>
          <p:cNvPr id="49" name="Shape 47"/>
          <p:cNvSpPr/>
          <p:nvPr/>
        </p:nvSpPr>
        <p:spPr>
          <a:xfrm>
            <a:off x="9692640" y="3255264"/>
            <a:ext cx="1508760" cy="0"/>
          </a:xfrm>
          <a:prstGeom prst="line">
            <a:avLst/>
          </a:prstGeom>
          <a:noFill/>
          <a:ln w="25400">
            <a:solidFill>
              <a:srgbClr val="6554C0"/>
            </a:solidFill>
            <a:prstDash val="solid"/>
          </a:ln>
        </p:spPr>
        <p:txBody>
          <a:bodyPr/>
          <a:lstStyle/>
          <a:p>
            <a:endParaRPr lang="LID4096"/>
          </a:p>
        </p:txBody>
      </p:sp>
      <p:sp>
        <p:nvSpPr>
          <p:cNvPr id="50" name="Text 48"/>
          <p:cNvSpPr/>
          <p:nvPr/>
        </p:nvSpPr>
        <p:spPr>
          <a:xfrm>
            <a:off x="9537192" y="3694176"/>
            <a:ext cx="1901952" cy="164592"/>
          </a:xfrm>
          <a:prstGeom prst="rect">
            <a:avLst/>
          </a:prstGeom>
          <a:noFill/>
          <a:ln/>
        </p:spPr>
        <p:txBody>
          <a:bodyPr wrap="square" lIns="0" tIns="0" rIns="0" bIns="0" rtlCol="0" anchor="ctr"/>
          <a:lstStyle/>
          <a:p>
            <a:pPr marL="0" indent="0">
              <a:buNone/>
            </a:pPr>
            <a:r>
              <a:rPr lang="en-US" sz="750" dirty="0">
                <a:solidFill>
                  <a:srgbClr val="5F6B76"/>
                </a:solidFill>
              </a:rPr>
              <a:t>• Risk/opportunity matrix</a:t>
            </a:r>
            <a:endParaRPr lang="en-US" sz="750" dirty="0"/>
          </a:p>
        </p:txBody>
      </p:sp>
      <p:sp>
        <p:nvSpPr>
          <p:cNvPr id="51" name="Text 49"/>
          <p:cNvSpPr/>
          <p:nvPr/>
        </p:nvSpPr>
        <p:spPr>
          <a:xfrm>
            <a:off x="9537192" y="3959352"/>
            <a:ext cx="1901952" cy="164592"/>
          </a:xfrm>
          <a:prstGeom prst="rect">
            <a:avLst/>
          </a:prstGeom>
          <a:noFill/>
          <a:ln/>
        </p:spPr>
        <p:txBody>
          <a:bodyPr wrap="square" lIns="0" tIns="0" rIns="0" bIns="0" rtlCol="0" anchor="ctr"/>
          <a:lstStyle/>
          <a:p>
            <a:pPr marL="0" indent="0">
              <a:buNone/>
            </a:pPr>
            <a:r>
              <a:rPr lang="en-US" sz="750" dirty="0">
                <a:solidFill>
                  <a:srgbClr val="5F6B76"/>
                </a:solidFill>
              </a:rPr>
              <a:t>• Evidence cards</a:t>
            </a:r>
            <a:endParaRPr lang="en-US" sz="750" dirty="0"/>
          </a:p>
        </p:txBody>
      </p:sp>
      <p:sp>
        <p:nvSpPr>
          <p:cNvPr id="52" name="Text 50"/>
          <p:cNvSpPr/>
          <p:nvPr/>
        </p:nvSpPr>
        <p:spPr>
          <a:xfrm>
            <a:off x="9537192" y="4224528"/>
            <a:ext cx="1901952" cy="164592"/>
          </a:xfrm>
          <a:prstGeom prst="rect">
            <a:avLst/>
          </a:prstGeom>
          <a:noFill/>
          <a:ln/>
        </p:spPr>
        <p:txBody>
          <a:bodyPr wrap="square" lIns="0" tIns="0" rIns="0" bIns="0" rtlCol="0" anchor="ctr"/>
          <a:lstStyle/>
          <a:p>
            <a:pPr marL="0" indent="0">
              <a:buNone/>
            </a:pPr>
            <a:r>
              <a:rPr lang="en-US" sz="750" dirty="0">
                <a:solidFill>
                  <a:srgbClr val="5F6B76"/>
                </a:solidFill>
              </a:rPr>
              <a:t>• Strategic priorities</a:t>
            </a:r>
            <a:endParaRPr lang="en-US" sz="750" dirty="0"/>
          </a:p>
        </p:txBody>
      </p:sp>
      <p:sp>
        <p:nvSpPr>
          <p:cNvPr id="53" name="Text 51"/>
          <p:cNvSpPr/>
          <p:nvPr/>
        </p:nvSpPr>
        <p:spPr>
          <a:xfrm>
            <a:off x="9537192" y="4489704"/>
            <a:ext cx="1901952" cy="164592"/>
          </a:xfrm>
          <a:prstGeom prst="rect">
            <a:avLst/>
          </a:prstGeom>
          <a:noFill/>
          <a:ln/>
        </p:spPr>
        <p:txBody>
          <a:bodyPr wrap="square" lIns="0" tIns="0" rIns="0" bIns="0" rtlCol="0" anchor="ctr"/>
          <a:lstStyle/>
          <a:p>
            <a:pPr marL="0" indent="0">
              <a:buNone/>
            </a:pPr>
            <a:r>
              <a:rPr lang="en-US" sz="750" dirty="0">
                <a:solidFill>
                  <a:srgbClr val="5F6B76"/>
                </a:solidFill>
              </a:rPr>
              <a:t>• PESTEL slicers</a:t>
            </a:r>
            <a:endParaRPr lang="en-US" sz="750" dirty="0"/>
          </a:p>
        </p:txBody>
      </p:sp>
      <p:sp>
        <p:nvSpPr>
          <p:cNvPr id="54" name="Shape 52"/>
          <p:cNvSpPr/>
          <p:nvPr/>
        </p:nvSpPr>
        <p:spPr>
          <a:xfrm>
            <a:off x="960120" y="5321808"/>
            <a:ext cx="10241280" cy="677903"/>
          </a:xfrm>
          <a:prstGeom prst="roundRect">
            <a:avLst>
              <a:gd name="adj" fmla="val 8571"/>
            </a:avLst>
          </a:prstGeom>
          <a:solidFill>
            <a:srgbClr val="FFFFFF"/>
          </a:solidFill>
          <a:ln w="12700">
            <a:solidFill>
              <a:srgbClr val="D9E1E8"/>
            </a:solidFill>
            <a:prstDash val="solid"/>
          </a:ln>
        </p:spPr>
        <p:txBody>
          <a:bodyPr/>
          <a:lstStyle/>
          <a:p>
            <a:endParaRPr lang="LID4096"/>
          </a:p>
        </p:txBody>
      </p:sp>
      <p:sp>
        <p:nvSpPr>
          <p:cNvPr id="55" name="Shape 53"/>
          <p:cNvSpPr/>
          <p:nvPr/>
        </p:nvSpPr>
        <p:spPr>
          <a:xfrm>
            <a:off x="1124712" y="5394960"/>
            <a:ext cx="292608" cy="292608"/>
          </a:xfrm>
          <a:prstGeom prst="roundRect">
            <a:avLst>
              <a:gd name="adj" fmla="val 25000"/>
            </a:avLst>
          </a:prstGeom>
          <a:solidFill>
            <a:srgbClr val="123B5D"/>
          </a:solidFill>
          <a:ln w="12700">
            <a:solidFill>
              <a:srgbClr val="123B5D"/>
            </a:solidFill>
            <a:prstDash val="solid"/>
          </a:ln>
        </p:spPr>
        <p:txBody>
          <a:bodyPr/>
          <a:lstStyle/>
          <a:p>
            <a:endParaRPr lang="LID4096"/>
          </a:p>
        </p:txBody>
      </p:sp>
      <p:sp>
        <p:nvSpPr>
          <p:cNvPr id="56" name="Text 54"/>
          <p:cNvSpPr/>
          <p:nvPr/>
        </p:nvSpPr>
        <p:spPr>
          <a:xfrm>
            <a:off x="1193292" y="5426964"/>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57" name="Text 55"/>
          <p:cNvSpPr/>
          <p:nvPr/>
        </p:nvSpPr>
        <p:spPr>
          <a:xfrm>
            <a:off x="1527048" y="5376672"/>
            <a:ext cx="9509760" cy="274320"/>
          </a:xfrm>
          <a:prstGeom prst="rect">
            <a:avLst/>
          </a:prstGeom>
          <a:noFill/>
          <a:ln/>
        </p:spPr>
        <p:txBody>
          <a:bodyPr wrap="square" lIns="0" tIns="0" rIns="0" bIns="0" rtlCol="0" anchor="ctr"/>
          <a:lstStyle/>
          <a:p>
            <a:pPr marL="0" indent="0">
              <a:buNone/>
            </a:pPr>
            <a:r>
              <a:rPr lang="en-US" sz="1200" b="1" dirty="0">
                <a:solidFill>
                  <a:srgbClr val="1F2937"/>
                </a:solidFill>
              </a:rPr>
              <a:t>Usability features</a:t>
            </a:r>
            <a:endParaRPr lang="en-US" sz="1200" dirty="0"/>
          </a:p>
        </p:txBody>
      </p:sp>
      <p:sp>
        <p:nvSpPr>
          <p:cNvPr id="58" name="Text 56"/>
          <p:cNvSpPr/>
          <p:nvPr/>
        </p:nvSpPr>
        <p:spPr>
          <a:xfrm>
            <a:off x="1143000" y="5760720"/>
            <a:ext cx="9875520" cy="0"/>
          </a:xfrm>
          <a:prstGeom prst="rect">
            <a:avLst/>
          </a:prstGeom>
          <a:noFill/>
          <a:ln/>
        </p:spPr>
        <p:txBody>
          <a:bodyPr wrap="square" lIns="0" tIns="0" rIns="0" bIns="0" rtlCol="0" anchor="t"/>
          <a:lstStyle/>
          <a:p>
            <a:pPr marL="0" indent="0">
              <a:buNone/>
            </a:pPr>
            <a:r>
              <a:rPr lang="en-US" sz="920" dirty="0">
                <a:solidFill>
                  <a:srgbClr val="5F6B76"/>
                </a:solidFill>
              </a:rPr>
              <a:t>Synced year slicers on Pages 1–3, period slicer on the Economic page, PESTEL/classification slicers on Strategy, reset-filter bookmarks, consistent page navigation, and economic tooltip context.</a:t>
            </a:r>
            <a:endParaRPr lang="en-US" sz="920" dirty="0"/>
          </a:p>
        </p:txBody>
      </p:sp>
      <p:sp>
        <p:nvSpPr>
          <p:cNvPr id="60"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What the analysis can — and cannot — claim</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The strongest conclusion is strategic maturity, not causal certainty</a:t>
            </a:r>
            <a:endParaRPr lang="en-US" sz="1050" dirty="0"/>
          </a:p>
        </p:txBody>
      </p:sp>
      <p:sp>
        <p:nvSpPr>
          <p:cNvPr id="4" name="Shape 2"/>
          <p:cNvSpPr/>
          <p:nvPr/>
        </p:nvSpPr>
        <p:spPr>
          <a:xfrm>
            <a:off x="9829800" y="347472"/>
            <a:ext cx="1847088" cy="310896"/>
          </a:xfrm>
          <a:prstGeom prst="roundRect">
            <a:avLst>
              <a:gd name="adj" fmla="val 17647"/>
            </a:avLst>
          </a:prstGeom>
          <a:solidFill>
            <a:srgbClr val="123B5D"/>
          </a:solidFill>
          <a:ln w="12700">
            <a:solidFill>
              <a:srgbClr val="123B5D"/>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CLOSE</a:t>
            </a:r>
            <a:endParaRPr lang="en-US" sz="800" dirty="0"/>
          </a:p>
        </p:txBody>
      </p:sp>
      <p:sp>
        <p:nvSpPr>
          <p:cNvPr id="6" name="Shape 4"/>
          <p:cNvSpPr/>
          <p:nvPr/>
        </p:nvSpPr>
        <p:spPr>
          <a:xfrm>
            <a:off x="658368" y="1325880"/>
            <a:ext cx="5120640" cy="4251960"/>
          </a:xfrm>
          <a:prstGeom prst="roundRect">
            <a:avLst>
              <a:gd name="adj" fmla="val 1290"/>
            </a:avLst>
          </a:prstGeom>
          <a:solidFill>
            <a:srgbClr val="FFFFFF"/>
          </a:solidFill>
          <a:ln w="12700">
            <a:solidFill>
              <a:srgbClr val="D9E1E8"/>
            </a:solidFill>
            <a:prstDash val="solid"/>
          </a:ln>
        </p:spPr>
        <p:txBody>
          <a:bodyPr/>
          <a:lstStyle/>
          <a:p>
            <a:endParaRPr lang="LID4096"/>
          </a:p>
        </p:txBody>
      </p:sp>
      <p:sp>
        <p:nvSpPr>
          <p:cNvPr id="7" name="Text 5"/>
          <p:cNvSpPr/>
          <p:nvPr/>
        </p:nvSpPr>
        <p:spPr>
          <a:xfrm>
            <a:off x="914400" y="1600200"/>
            <a:ext cx="1828800" cy="274320"/>
          </a:xfrm>
          <a:prstGeom prst="rect">
            <a:avLst/>
          </a:prstGeom>
          <a:noFill/>
          <a:ln/>
        </p:spPr>
        <p:txBody>
          <a:bodyPr wrap="square" lIns="0" tIns="0" rIns="0" bIns="0" rtlCol="0" anchor="ctr"/>
          <a:lstStyle/>
          <a:p>
            <a:pPr marL="0" indent="0">
              <a:buNone/>
            </a:pPr>
            <a:r>
              <a:rPr lang="en-US" sz="1500" b="1" dirty="0">
                <a:solidFill>
                  <a:srgbClr val="1F2937"/>
                </a:solidFill>
              </a:rPr>
              <a:t>Limitations</a:t>
            </a:r>
            <a:endParaRPr lang="en-US" sz="1500" dirty="0"/>
          </a:p>
        </p:txBody>
      </p:sp>
      <p:sp>
        <p:nvSpPr>
          <p:cNvPr id="8" name="Text 6"/>
          <p:cNvSpPr/>
          <p:nvPr/>
        </p:nvSpPr>
        <p:spPr>
          <a:xfrm>
            <a:off x="914400" y="2084832"/>
            <a:ext cx="4480560" cy="338328"/>
          </a:xfrm>
          <a:prstGeom prst="rect">
            <a:avLst/>
          </a:prstGeom>
          <a:noFill/>
          <a:ln/>
        </p:spPr>
        <p:txBody>
          <a:bodyPr wrap="square" lIns="0" tIns="0" rIns="0" bIns="0" rtlCol="0" anchor="ctr"/>
          <a:lstStyle/>
          <a:p>
            <a:pPr marL="0" indent="0">
              <a:buNone/>
            </a:pPr>
            <a:r>
              <a:rPr lang="en-US" sz="970" dirty="0">
                <a:solidFill>
                  <a:srgbClr val="5F6B76"/>
                </a:solidFill>
              </a:rPr>
              <a:t>• Mixed monthly and annual frequencies require separate analytical views.</a:t>
            </a:r>
            <a:endParaRPr lang="en-US" sz="970" dirty="0"/>
          </a:p>
        </p:txBody>
      </p:sp>
      <p:sp>
        <p:nvSpPr>
          <p:cNvPr id="9" name="Text 7"/>
          <p:cNvSpPr/>
          <p:nvPr/>
        </p:nvSpPr>
        <p:spPr>
          <a:xfrm>
            <a:off x="914400" y="2569464"/>
            <a:ext cx="4480560" cy="338328"/>
          </a:xfrm>
          <a:prstGeom prst="rect">
            <a:avLst/>
          </a:prstGeom>
          <a:noFill/>
          <a:ln/>
        </p:spPr>
        <p:txBody>
          <a:bodyPr wrap="square" lIns="0" tIns="0" rIns="0" bIns="0" rtlCol="0" anchor="ctr"/>
          <a:lstStyle/>
          <a:p>
            <a:pPr marL="0" indent="0">
              <a:buNone/>
            </a:pPr>
            <a:r>
              <a:rPr lang="en-US" sz="970" dirty="0">
                <a:solidFill>
                  <a:srgbClr val="5F6B76"/>
                </a:solidFill>
              </a:rPr>
              <a:t>• 2025 HFCE and technology values include documented imputations / forward fills.</a:t>
            </a:r>
            <a:endParaRPr lang="en-US" sz="970" dirty="0"/>
          </a:p>
        </p:txBody>
      </p:sp>
      <p:sp>
        <p:nvSpPr>
          <p:cNvPr id="10" name="Text 8"/>
          <p:cNvSpPr/>
          <p:nvPr/>
        </p:nvSpPr>
        <p:spPr>
          <a:xfrm>
            <a:off x="914400" y="3054096"/>
            <a:ext cx="4480560" cy="338328"/>
          </a:xfrm>
          <a:prstGeom prst="rect">
            <a:avLst/>
          </a:prstGeom>
          <a:noFill/>
          <a:ln/>
        </p:spPr>
        <p:txBody>
          <a:bodyPr wrap="square" lIns="0" tIns="0" rIns="0" bIns="0" rtlCol="0" anchor="ctr"/>
          <a:lstStyle/>
          <a:p>
            <a:pPr marL="0" indent="0">
              <a:buNone/>
            </a:pPr>
            <a:r>
              <a:rPr lang="en-US" sz="970" dirty="0">
                <a:solidFill>
                  <a:srgbClr val="5F6B76"/>
                </a:solidFill>
              </a:rPr>
              <a:t>• Only nine annual observations limit Social and Technology inferential power.</a:t>
            </a:r>
            <a:endParaRPr lang="en-US" sz="970" dirty="0"/>
          </a:p>
        </p:txBody>
      </p:sp>
      <p:sp>
        <p:nvSpPr>
          <p:cNvPr id="11" name="Text 9"/>
          <p:cNvSpPr/>
          <p:nvPr/>
        </p:nvSpPr>
        <p:spPr>
          <a:xfrm>
            <a:off x="914400" y="3538728"/>
            <a:ext cx="4480560" cy="338328"/>
          </a:xfrm>
          <a:prstGeom prst="rect">
            <a:avLst/>
          </a:prstGeom>
          <a:noFill/>
          <a:ln/>
        </p:spPr>
        <p:txBody>
          <a:bodyPr wrap="square" lIns="0" tIns="0" rIns="0" bIns="0" rtlCol="0" anchor="ctr"/>
          <a:lstStyle/>
          <a:p>
            <a:pPr marL="0" indent="0">
              <a:buNone/>
            </a:pPr>
            <a:r>
              <a:rPr lang="en-US" sz="970" dirty="0">
                <a:solidFill>
                  <a:srgbClr val="5F6B76"/>
                </a:solidFill>
              </a:rPr>
              <a:t>• The pandemic is a structural break, so one stable full-period relationship should not be assumed.</a:t>
            </a:r>
            <a:endParaRPr lang="en-US" sz="970" dirty="0"/>
          </a:p>
        </p:txBody>
      </p:sp>
      <p:sp>
        <p:nvSpPr>
          <p:cNvPr id="12" name="Text 10"/>
          <p:cNvSpPr/>
          <p:nvPr/>
        </p:nvSpPr>
        <p:spPr>
          <a:xfrm>
            <a:off x="914400" y="4023360"/>
            <a:ext cx="4480560" cy="338328"/>
          </a:xfrm>
          <a:prstGeom prst="rect">
            <a:avLst/>
          </a:prstGeom>
          <a:noFill/>
          <a:ln/>
        </p:spPr>
        <p:txBody>
          <a:bodyPr wrap="square" lIns="0" tIns="0" rIns="0" bIns="0" rtlCol="0" anchor="ctr"/>
          <a:lstStyle/>
          <a:p>
            <a:pPr marL="0" indent="0">
              <a:buNone/>
            </a:pPr>
            <a:r>
              <a:rPr lang="en-US" sz="970" dirty="0">
                <a:solidFill>
                  <a:srgbClr val="5F6B76"/>
                </a:solidFill>
              </a:rPr>
              <a:t>• National aggregation hides provincial, demographic and category-level differences.</a:t>
            </a:r>
            <a:endParaRPr lang="en-US" sz="970" dirty="0"/>
          </a:p>
        </p:txBody>
      </p:sp>
      <p:sp>
        <p:nvSpPr>
          <p:cNvPr id="13" name="Text 11"/>
          <p:cNvSpPr/>
          <p:nvPr/>
        </p:nvSpPr>
        <p:spPr>
          <a:xfrm>
            <a:off x="914400" y="4507992"/>
            <a:ext cx="4480560" cy="338328"/>
          </a:xfrm>
          <a:prstGeom prst="rect">
            <a:avLst/>
          </a:prstGeom>
          <a:noFill/>
          <a:ln/>
        </p:spPr>
        <p:txBody>
          <a:bodyPr wrap="square" lIns="0" tIns="0" rIns="0" bIns="0" rtlCol="0" anchor="ctr"/>
          <a:lstStyle/>
          <a:p>
            <a:pPr marL="0" indent="0">
              <a:buNone/>
            </a:pPr>
            <a:r>
              <a:rPr lang="en-US" sz="970" dirty="0">
                <a:solidFill>
                  <a:srgbClr val="5F6B76"/>
                </a:solidFill>
              </a:rPr>
              <a:t>• Associations do not establish causation.</a:t>
            </a:r>
            <a:endParaRPr lang="en-US" sz="970" dirty="0"/>
          </a:p>
        </p:txBody>
      </p:sp>
      <p:sp>
        <p:nvSpPr>
          <p:cNvPr id="14" name="Shape 12"/>
          <p:cNvSpPr/>
          <p:nvPr/>
        </p:nvSpPr>
        <p:spPr>
          <a:xfrm>
            <a:off x="6080760" y="1325880"/>
            <a:ext cx="5440680" cy="4251960"/>
          </a:xfrm>
          <a:prstGeom prst="roundRect">
            <a:avLst>
              <a:gd name="adj" fmla="val 1290"/>
            </a:avLst>
          </a:prstGeom>
          <a:solidFill>
            <a:srgbClr val="123B5D"/>
          </a:solidFill>
          <a:ln w="12700">
            <a:solidFill>
              <a:srgbClr val="123B5D"/>
            </a:solidFill>
            <a:prstDash val="solid"/>
          </a:ln>
        </p:spPr>
        <p:txBody>
          <a:bodyPr/>
          <a:lstStyle/>
          <a:p>
            <a:endParaRPr lang="LID4096"/>
          </a:p>
        </p:txBody>
      </p:sp>
      <p:sp>
        <p:nvSpPr>
          <p:cNvPr id="15" name="Text 13"/>
          <p:cNvSpPr/>
          <p:nvPr/>
        </p:nvSpPr>
        <p:spPr>
          <a:xfrm>
            <a:off x="6400800" y="1691640"/>
            <a:ext cx="1920240" cy="274320"/>
          </a:xfrm>
          <a:prstGeom prst="rect">
            <a:avLst/>
          </a:prstGeom>
          <a:noFill/>
          <a:ln/>
        </p:spPr>
        <p:txBody>
          <a:bodyPr wrap="square" lIns="0" tIns="0" rIns="0" bIns="0" rtlCol="0" anchor="ctr"/>
          <a:lstStyle/>
          <a:p>
            <a:pPr marL="0" indent="0">
              <a:buNone/>
            </a:pPr>
            <a:r>
              <a:rPr lang="en-US" sz="1500" b="1" dirty="0">
                <a:solidFill>
                  <a:srgbClr val="FFFFFF"/>
                </a:solidFill>
              </a:rPr>
              <a:t>Final takeaway</a:t>
            </a:r>
            <a:endParaRPr lang="en-US" sz="1500" dirty="0"/>
          </a:p>
        </p:txBody>
      </p:sp>
      <p:sp>
        <p:nvSpPr>
          <p:cNvPr id="16" name="Text 14"/>
          <p:cNvSpPr/>
          <p:nvPr/>
        </p:nvSpPr>
        <p:spPr>
          <a:xfrm>
            <a:off x="6400800" y="2258568"/>
            <a:ext cx="4572000" cy="1325880"/>
          </a:xfrm>
          <a:prstGeom prst="rect">
            <a:avLst/>
          </a:prstGeom>
          <a:noFill/>
          <a:ln/>
        </p:spPr>
        <p:txBody>
          <a:bodyPr wrap="square" lIns="0" tIns="0" rIns="0" bIns="0" rtlCol="0" anchor="ctr"/>
          <a:lstStyle/>
          <a:p>
            <a:pPr marL="0" indent="0">
              <a:buNone/>
            </a:pPr>
            <a:r>
              <a:rPr lang="en-US" sz="1800" b="1" dirty="0">
                <a:solidFill>
                  <a:srgbClr val="FFFFFF"/>
                </a:solidFill>
              </a:rPr>
              <a:t>E-commerce is now a permanent retail capability in Canada — but future growth is likely to depend less on basic digital adoption and more on resilience, value, conversion, customer experience and fulfillment execution.</a:t>
            </a:r>
            <a:endParaRPr lang="en-US" sz="1800" dirty="0"/>
          </a:p>
        </p:txBody>
      </p:sp>
      <p:sp>
        <p:nvSpPr>
          <p:cNvPr id="17" name="Text 15"/>
          <p:cNvSpPr/>
          <p:nvPr/>
        </p:nvSpPr>
        <p:spPr>
          <a:xfrm>
            <a:off x="6400800" y="4096512"/>
            <a:ext cx="4526280" cy="640080"/>
          </a:xfrm>
          <a:prstGeom prst="rect">
            <a:avLst/>
          </a:prstGeom>
          <a:noFill/>
          <a:ln/>
        </p:spPr>
        <p:txBody>
          <a:bodyPr wrap="square" lIns="0" tIns="0" rIns="0" bIns="0" rtlCol="0" anchor="ctr"/>
          <a:lstStyle/>
          <a:p>
            <a:pPr marL="0" indent="0">
              <a:buNone/>
            </a:pPr>
            <a:r>
              <a:rPr lang="en-US" sz="1030" dirty="0">
                <a:solidFill>
                  <a:srgbClr val="D8E7F2"/>
                </a:solidFill>
              </a:rPr>
              <a:t>Recommended next analytical improvements: total retail share, income/unemployment/rates, provincial data and category-level e-commerce.</a:t>
            </a:r>
            <a:endParaRPr lang="en-US" sz="1030" dirty="0"/>
          </a:p>
        </p:txBody>
      </p:sp>
      <p:sp>
        <p:nvSpPr>
          <p:cNvPr id="18" name="Text 16"/>
          <p:cNvSpPr/>
          <p:nvPr/>
        </p:nvSpPr>
        <p:spPr>
          <a:xfrm>
            <a:off x="6400800" y="5047488"/>
            <a:ext cx="4480560" cy="384048"/>
          </a:xfrm>
          <a:prstGeom prst="rect">
            <a:avLst/>
          </a:prstGeom>
          <a:noFill/>
          <a:ln/>
        </p:spPr>
        <p:txBody>
          <a:bodyPr wrap="square" lIns="0" tIns="0" rIns="0" bIns="0" rtlCol="0" anchor="ctr"/>
          <a:lstStyle/>
          <a:p>
            <a:pPr marL="0" indent="0" algn="ctr">
              <a:buNone/>
            </a:pPr>
            <a:r>
              <a:rPr lang="en-US" sz="2400" b="1" dirty="0">
                <a:solidFill>
                  <a:srgbClr val="A9D4EF"/>
                </a:solidFill>
              </a:rPr>
              <a:t>Questions?</a:t>
            </a:r>
            <a:endParaRPr lang="en-US" sz="2400" dirty="0"/>
          </a:p>
        </p:txBody>
      </p:sp>
      <p:sp>
        <p:nvSpPr>
          <p:cNvPr id="25"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Appendix · Statistical evidence at a glance</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Backup slide for technical questions</a:t>
            </a:r>
            <a:endParaRPr lang="en-US" sz="1050" dirty="0"/>
          </a:p>
        </p:txBody>
      </p:sp>
      <p:sp>
        <p:nvSpPr>
          <p:cNvPr id="4" name="Shape 2"/>
          <p:cNvSpPr/>
          <p:nvPr/>
        </p:nvSpPr>
        <p:spPr>
          <a:xfrm>
            <a:off x="9829800" y="347472"/>
            <a:ext cx="1847088" cy="310896"/>
          </a:xfrm>
          <a:prstGeom prst="roundRect">
            <a:avLst>
              <a:gd name="adj" fmla="val 17647"/>
            </a:avLst>
          </a:prstGeom>
          <a:solidFill>
            <a:srgbClr val="5F6B76"/>
          </a:solidFill>
          <a:ln w="12700">
            <a:solidFill>
              <a:srgbClr val="5F6B76"/>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APPENDIX</a:t>
            </a:r>
            <a:endParaRPr lang="en-US" sz="800" dirty="0"/>
          </a:p>
        </p:txBody>
      </p:sp>
      <p:sp>
        <p:nvSpPr>
          <p:cNvPr id="6" name="Shape 4"/>
          <p:cNvSpPr/>
          <p:nvPr/>
        </p:nvSpPr>
        <p:spPr>
          <a:xfrm>
            <a:off x="640080" y="1417320"/>
            <a:ext cx="2514600" cy="475488"/>
          </a:xfrm>
          <a:prstGeom prst="rect">
            <a:avLst/>
          </a:prstGeom>
          <a:solidFill>
            <a:srgbClr val="123B5D"/>
          </a:solidFill>
          <a:ln w="12700">
            <a:solidFill>
              <a:srgbClr val="123B5D"/>
            </a:solidFill>
            <a:prstDash val="solid"/>
          </a:ln>
        </p:spPr>
        <p:txBody>
          <a:bodyPr/>
          <a:lstStyle/>
          <a:p>
            <a:endParaRPr lang="LID4096"/>
          </a:p>
        </p:txBody>
      </p:sp>
      <p:sp>
        <p:nvSpPr>
          <p:cNvPr id="7" name="Text 5"/>
          <p:cNvSpPr/>
          <p:nvPr/>
        </p:nvSpPr>
        <p:spPr>
          <a:xfrm>
            <a:off x="713232" y="1563624"/>
            <a:ext cx="2368296" cy="146304"/>
          </a:xfrm>
          <a:prstGeom prst="rect">
            <a:avLst/>
          </a:prstGeom>
          <a:noFill/>
          <a:ln/>
        </p:spPr>
        <p:txBody>
          <a:bodyPr wrap="square" lIns="0" tIns="0" rIns="0" bIns="0" rtlCol="0" anchor="ctr"/>
          <a:lstStyle/>
          <a:p>
            <a:pPr marL="0" indent="0">
              <a:buNone/>
            </a:pPr>
            <a:r>
              <a:rPr lang="en-US" sz="900" b="1" dirty="0">
                <a:solidFill>
                  <a:srgbClr val="FFFFFF"/>
                </a:solidFill>
              </a:rPr>
              <a:t>Test / relationship</a:t>
            </a:r>
            <a:endParaRPr lang="en-US" sz="900" dirty="0"/>
          </a:p>
        </p:txBody>
      </p:sp>
      <p:sp>
        <p:nvSpPr>
          <p:cNvPr id="8" name="Shape 6"/>
          <p:cNvSpPr/>
          <p:nvPr/>
        </p:nvSpPr>
        <p:spPr>
          <a:xfrm>
            <a:off x="3291840" y="1417320"/>
            <a:ext cx="2103120" cy="475488"/>
          </a:xfrm>
          <a:prstGeom prst="rect">
            <a:avLst/>
          </a:prstGeom>
          <a:solidFill>
            <a:srgbClr val="123B5D"/>
          </a:solidFill>
          <a:ln w="12700">
            <a:solidFill>
              <a:srgbClr val="123B5D"/>
            </a:solidFill>
            <a:prstDash val="solid"/>
          </a:ln>
        </p:spPr>
        <p:txBody>
          <a:bodyPr/>
          <a:lstStyle/>
          <a:p>
            <a:endParaRPr lang="LID4096"/>
          </a:p>
        </p:txBody>
      </p:sp>
      <p:sp>
        <p:nvSpPr>
          <p:cNvPr id="9" name="Text 7"/>
          <p:cNvSpPr/>
          <p:nvPr/>
        </p:nvSpPr>
        <p:spPr>
          <a:xfrm>
            <a:off x="3364992" y="1563624"/>
            <a:ext cx="1956816" cy="146304"/>
          </a:xfrm>
          <a:prstGeom prst="rect">
            <a:avLst/>
          </a:prstGeom>
          <a:noFill/>
          <a:ln/>
        </p:spPr>
        <p:txBody>
          <a:bodyPr wrap="square" lIns="0" tIns="0" rIns="0" bIns="0" rtlCol="0" anchor="ctr"/>
          <a:lstStyle/>
          <a:p>
            <a:pPr marL="0" indent="0">
              <a:buNone/>
            </a:pPr>
            <a:r>
              <a:rPr lang="en-US" sz="900" b="1" dirty="0">
                <a:solidFill>
                  <a:srgbClr val="FFFFFF"/>
                </a:solidFill>
              </a:rPr>
              <a:t>Statistic</a:t>
            </a:r>
            <a:endParaRPr lang="en-US" sz="900" dirty="0"/>
          </a:p>
        </p:txBody>
      </p:sp>
      <p:sp>
        <p:nvSpPr>
          <p:cNvPr id="10" name="Shape 8"/>
          <p:cNvSpPr/>
          <p:nvPr/>
        </p:nvSpPr>
        <p:spPr>
          <a:xfrm>
            <a:off x="5577840" y="1417320"/>
            <a:ext cx="1463040" cy="475488"/>
          </a:xfrm>
          <a:prstGeom prst="rect">
            <a:avLst/>
          </a:prstGeom>
          <a:solidFill>
            <a:srgbClr val="123B5D"/>
          </a:solidFill>
          <a:ln w="12700">
            <a:solidFill>
              <a:srgbClr val="123B5D"/>
            </a:solidFill>
            <a:prstDash val="solid"/>
          </a:ln>
        </p:spPr>
        <p:txBody>
          <a:bodyPr/>
          <a:lstStyle/>
          <a:p>
            <a:endParaRPr lang="LID4096"/>
          </a:p>
        </p:txBody>
      </p:sp>
      <p:sp>
        <p:nvSpPr>
          <p:cNvPr id="11" name="Text 9"/>
          <p:cNvSpPr/>
          <p:nvPr/>
        </p:nvSpPr>
        <p:spPr>
          <a:xfrm>
            <a:off x="5650992" y="1563624"/>
            <a:ext cx="1316736" cy="146304"/>
          </a:xfrm>
          <a:prstGeom prst="rect">
            <a:avLst/>
          </a:prstGeom>
          <a:noFill/>
          <a:ln/>
        </p:spPr>
        <p:txBody>
          <a:bodyPr wrap="square" lIns="0" tIns="0" rIns="0" bIns="0" rtlCol="0" anchor="ctr"/>
          <a:lstStyle/>
          <a:p>
            <a:pPr marL="0" indent="0">
              <a:buNone/>
            </a:pPr>
            <a:r>
              <a:rPr lang="en-US" sz="900" b="1" dirty="0">
                <a:solidFill>
                  <a:srgbClr val="FFFFFF"/>
                </a:solidFill>
              </a:rPr>
              <a:t>p-value</a:t>
            </a:r>
            <a:endParaRPr lang="en-US" sz="900" dirty="0"/>
          </a:p>
        </p:txBody>
      </p:sp>
      <p:sp>
        <p:nvSpPr>
          <p:cNvPr id="12" name="Shape 10"/>
          <p:cNvSpPr/>
          <p:nvPr/>
        </p:nvSpPr>
        <p:spPr>
          <a:xfrm>
            <a:off x="7406640" y="1417320"/>
            <a:ext cx="4069080" cy="475488"/>
          </a:xfrm>
          <a:prstGeom prst="rect">
            <a:avLst/>
          </a:prstGeom>
          <a:solidFill>
            <a:srgbClr val="123B5D"/>
          </a:solidFill>
          <a:ln w="12700">
            <a:solidFill>
              <a:srgbClr val="123B5D"/>
            </a:solidFill>
            <a:prstDash val="solid"/>
          </a:ln>
        </p:spPr>
        <p:txBody>
          <a:bodyPr/>
          <a:lstStyle/>
          <a:p>
            <a:endParaRPr lang="LID4096"/>
          </a:p>
        </p:txBody>
      </p:sp>
      <p:sp>
        <p:nvSpPr>
          <p:cNvPr id="13" name="Text 11"/>
          <p:cNvSpPr/>
          <p:nvPr/>
        </p:nvSpPr>
        <p:spPr>
          <a:xfrm>
            <a:off x="7479792" y="1563624"/>
            <a:ext cx="3922776" cy="146304"/>
          </a:xfrm>
          <a:prstGeom prst="rect">
            <a:avLst/>
          </a:prstGeom>
          <a:noFill/>
          <a:ln/>
        </p:spPr>
        <p:txBody>
          <a:bodyPr wrap="square" lIns="0" tIns="0" rIns="0" bIns="0" rtlCol="0" anchor="ctr"/>
          <a:lstStyle/>
          <a:p>
            <a:pPr marL="0" indent="0">
              <a:buNone/>
            </a:pPr>
            <a:r>
              <a:rPr lang="en-US" sz="900" b="1" dirty="0">
                <a:solidFill>
                  <a:srgbClr val="FFFFFF"/>
                </a:solidFill>
              </a:rPr>
              <a:t>Interpretation</a:t>
            </a:r>
            <a:endParaRPr lang="en-US" sz="900" dirty="0"/>
          </a:p>
        </p:txBody>
      </p:sp>
      <p:sp>
        <p:nvSpPr>
          <p:cNvPr id="14" name="Shape 12"/>
          <p:cNvSpPr/>
          <p:nvPr/>
        </p:nvSpPr>
        <p:spPr>
          <a:xfrm>
            <a:off x="640080" y="1901952"/>
            <a:ext cx="2514600" cy="749808"/>
          </a:xfrm>
          <a:prstGeom prst="rect">
            <a:avLst/>
          </a:prstGeom>
          <a:solidFill>
            <a:srgbClr val="FFFFFF"/>
          </a:solidFill>
          <a:ln w="8890">
            <a:solidFill>
              <a:srgbClr val="D9E1E8"/>
            </a:solidFill>
            <a:prstDash val="solid"/>
          </a:ln>
        </p:spPr>
        <p:txBody>
          <a:bodyPr/>
          <a:lstStyle/>
          <a:p>
            <a:endParaRPr lang="LID4096"/>
          </a:p>
        </p:txBody>
      </p:sp>
      <p:sp>
        <p:nvSpPr>
          <p:cNvPr id="15" name="Shape 13"/>
          <p:cNvSpPr/>
          <p:nvPr/>
        </p:nvSpPr>
        <p:spPr>
          <a:xfrm>
            <a:off x="3291840" y="1901952"/>
            <a:ext cx="2103120" cy="749808"/>
          </a:xfrm>
          <a:prstGeom prst="rect">
            <a:avLst/>
          </a:prstGeom>
          <a:solidFill>
            <a:srgbClr val="FFFFFF"/>
          </a:solidFill>
          <a:ln w="8890">
            <a:solidFill>
              <a:srgbClr val="D9E1E8"/>
            </a:solidFill>
            <a:prstDash val="solid"/>
          </a:ln>
        </p:spPr>
        <p:txBody>
          <a:bodyPr/>
          <a:lstStyle/>
          <a:p>
            <a:endParaRPr lang="LID4096"/>
          </a:p>
        </p:txBody>
      </p:sp>
      <p:sp>
        <p:nvSpPr>
          <p:cNvPr id="16" name="Shape 14"/>
          <p:cNvSpPr/>
          <p:nvPr/>
        </p:nvSpPr>
        <p:spPr>
          <a:xfrm>
            <a:off x="5577840" y="1901952"/>
            <a:ext cx="1463040" cy="749808"/>
          </a:xfrm>
          <a:prstGeom prst="rect">
            <a:avLst/>
          </a:prstGeom>
          <a:solidFill>
            <a:srgbClr val="FFFFFF"/>
          </a:solidFill>
          <a:ln w="8890">
            <a:solidFill>
              <a:srgbClr val="D9E1E8"/>
            </a:solidFill>
            <a:prstDash val="solid"/>
          </a:ln>
        </p:spPr>
        <p:txBody>
          <a:bodyPr/>
          <a:lstStyle/>
          <a:p>
            <a:endParaRPr lang="LID4096"/>
          </a:p>
        </p:txBody>
      </p:sp>
      <p:sp>
        <p:nvSpPr>
          <p:cNvPr id="17" name="Shape 15"/>
          <p:cNvSpPr/>
          <p:nvPr/>
        </p:nvSpPr>
        <p:spPr>
          <a:xfrm>
            <a:off x="7406640" y="1901952"/>
            <a:ext cx="4069080" cy="749808"/>
          </a:xfrm>
          <a:prstGeom prst="rect">
            <a:avLst/>
          </a:prstGeom>
          <a:solidFill>
            <a:srgbClr val="FFFFFF"/>
          </a:solidFill>
          <a:ln w="8890">
            <a:solidFill>
              <a:srgbClr val="D9E1E8"/>
            </a:solidFill>
            <a:prstDash val="solid"/>
          </a:ln>
        </p:spPr>
        <p:txBody>
          <a:bodyPr/>
          <a:lstStyle/>
          <a:p>
            <a:endParaRPr lang="LID4096"/>
          </a:p>
        </p:txBody>
      </p:sp>
      <p:sp>
        <p:nvSpPr>
          <p:cNvPr id="18" name="Text 16"/>
          <p:cNvSpPr/>
          <p:nvPr/>
        </p:nvSpPr>
        <p:spPr>
          <a:xfrm>
            <a:off x="713232" y="2103120"/>
            <a:ext cx="2368296" cy="292608"/>
          </a:xfrm>
          <a:prstGeom prst="rect">
            <a:avLst/>
          </a:prstGeom>
          <a:noFill/>
          <a:ln/>
        </p:spPr>
        <p:txBody>
          <a:bodyPr wrap="square" lIns="0" tIns="0" rIns="0" bIns="0" rtlCol="0" anchor="ctr"/>
          <a:lstStyle/>
          <a:p>
            <a:pPr marL="0" indent="0">
              <a:buNone/>
            </a:pPr>
            <a:r>
              <a:rPr lang="en-US" sz="900" b="1" dirty="0">
                <a:solidFill>
                  <a:srgbClr val="1F2937"/>
                </a:solidFill>
              </a:rPr>
              <a:t>Kruskal–Wallis period test</a:t>
            </a:r>
            <a:endParaRPr lang="en-US" sz="900" dirty="0"/>
          </a:p>
        </p:txBody>
      </p:sp>
      <p:sp>
        <p:nvSpPr>
          <p:cNvPr id="19" name="Text 17"/>
          <p:cNvSpPr/>
          <p:nvPr/>
        </p:nvSpPr>
        <p:spPr>
          <a:xfrm>
            <a:off x="3364992" y="2103120"/>
            <a:ext cx="1956816" cy="292608"/>
          </a:xfrm>
          <a:prstGeom prst="rect">
            <a:avLst/>
          </a:prstGeom>
          <a:noFill/>
          <a:ln/>
        </p:spPr>
        <p:txBody>
          <a:bodyPr wrap="square" lIns="0" tIns="0" rIns="0" bIns="0" rtlCol="0" anchor="ctr"/>
          <a:lstStyle/>
          <a:p>
            <a:pPr marL="0" indent="0">
              <a:buNone/>
            </a:pPr>
            <a:r>
              <a:rPr lang="en-US" sz="900" dirty="0">
                <a:solidFill>
                  <a:srgbClr val="1F2937"/>
                </a:solidFill>
              </a:rPr>
              <a:t>H ≈ 29.50</a:t>
            </a:r>
            <a:endParaRPr lang="en-US" sz="900" dirty="0"/>
          </a:p>
        </p:txBody>
      </p:sp>
      <p:sp>
        <p:nvSpPr>
          <p:cNvPr id="20" name="Text 18"/>
          <p:cNvSpPr/>
          <p:nvPr/>
        </p:nvSpPr>
        <p:spPr>
          <a:xfrm>
            <a:off x="5650992" y="2103120"/>
            <a:ext cx="1316736" cy="292608"/>
          </a:xfrm>
          <a:prstGeom prst="rect">
            <a:avLst/>
          </a:prstGeom>
          <a:noFill/>
          <a:ln/>
        </p:spPr>
        <p:txBody>
          <a:bodyPr wrap="square" lIns="0" tIns="0" rIns="0" bIns="0" rtlCol="0" anchor="ctr"/>
          <a:lstStyle/>
          <a:p>
            <a:pPr marL="0" indent="0">
              <a:buNone/>
            </a:pPr>
            <a:r>
              <a:rPr lang="en-US" sz="900" dirty="0">
                <a:solidFill>
                  <a:srgbClr val="1F2937"/>
                </a:solidFill>
              </a:rPr>
              <a:t>p &lt; .001</a:t>
            </a:r>
            <a:endParaRPr lang="en-US" sz="900" dirty="0"/>
          </a:p>
        </p:txBody>
      </p:sp>
      <p:sp>
        <p:nvSpPr>
          <p:cNvPr id="21" name="Text 19"/>
          <p:cNvSpPr/>
          <p:nvPr/>
        </p:nvSpPr>
        <p:spPr>
          <a:xfrm>
            <a:off x="7479792" y="2039112"/>
            <a:ext cx="3922776" cy="475488"/>
          </a:xfrm>
          <a:prstGeom prst="rect">
            <a:avLst/>
          </a:prstGeom>
          <a:noFill/>
          <a:ln/>
        </p:spPr>
        <p:txBody>
          <a:bodyPr wrap="square" lIns="0" tIns="0" rIns="0" bIns="0" rtlCol="0" anchor="ctr"/>
          <a:lstStyle/>
          <a:p>
            <a:pPr marL="0" indent="0">
              <a:buNone/>
            </a:pPr>
            <a:r>
              <a:rPr lang="en-US" sz="850" dirty="0">
                <a:solidFill>
                  <a:srgbClr val="5F6B76"/>
                </a:solidFill>
              </a:rPr>
              <a:t>Growth distributions differ across regimes</a:t>
            </a:r>
            <a:endParaRPr lang="en-US" sz="850" dirty="0"/>
          </a:p>
        </p:txBody>
      </p:sp>
      <p:sp>
        <p:nvSpPr>
          <p:cNvPr id="22" name="Shape 20"/>
          <p:cNvSpPr/>
          <p:nvPr/>
        </p:nvSpPr>
        <p:spPr>
          <a:xfrm>
            <a:off x="640080" y="2651760"/>
            <a:ext cx="2514600" cy="749808"/>
          </a:xfrm>
          <a:prstGeom prst="rect">
            <a:avLst/>
          </a:prstGeom>
          <a:solidFill>
            <a:srgbClr val="F8FAFC"/>
          </a:solidFill>
          <a:ln w="8890">
            <a:solidFill>
              <a:srgbClr val="D9E1E8"/>
            </a:solidFill>
            <a:prstDash val="solid"/>
          </a:ln>
        </p:spPr>
        <p:txBody>
          <a:bodyPr/>
          <a:lstStyle/>
          <a:p>
            <a:endParaRPr lang="LID4096"/>
          </a:p>
        </p:txBody>
      </p:sp>
      <p:sp>
        <p:nvSpPr>
          <p:cNvPr id="23" name="Shape 21"/>
          <p:cNvSpPr/>
          <p:nvPr/>
        </p:nvSpPr>
        <p:spPr>
          <a:xfrm>
            <a:off x="3291840" y="2651760"/>
            <a:ext cx="2103120" cy="749808"/>
          </a:xfrm>
          <a:prstGeom prst="rect">
            <a:avLst/>
          </a:prstGeom>
          <a:solidFill>
            <a:srgbClr val="F8FAFC"/>
          </a:solidFill>
          <a:ln w="8890">
            <a:solidFill>
              <a:srgbClr val="D9E1E8"/>
            </a:solidFill>
            <a:prstDash val="solid"/>
          </a:ln>
        </p:spPr>
        <p:txBody>
          <a:bodyPr/>
          <a:lstStyle/>
          <a:p>
            <a:endParaRPr lang="LID4096"/>
          </a:p>
        </p:txBody>
      </p:sp>
      <p:sp>
        <p:nvSpPr>
          <p:cNvPr id="24" name="Shape 22"/>
          <p:cNvSpPr/>
          <p:nvPr/>
        </p:nvSpPr>
        <p:spPr>
          <a:xfrm>
            <a:off x="5577840" y="2651760"/>
            <a:ext cx="1463040" cy="749808"/>
          </a:xfrm>
          <a:prstGeom prst="rect">
            <a:avLst/>
          </a:prstGeom>
          <a:solidFill>
            <a:srgbClr val="F8FAFC"/>
          </a:solidFill>
          <a:ln w="8890">
            <a:solidFill>
              <a:srgbClr val="D9E1E8"/>
            </a:solidFill>
            <a:prstDash val="solid"/>
          </a:ln>
        </p:spPr>
        <p:txBody>
          <a:bodyPr/>
          <a:lstStyle/>
          <a:p>
            <a:endParaRPr lang="LID4096"/>
          </a:p>
        </p:txBody>
      </p:sp>
      <p:sp>
        <p:nvSpPr>
          <p:cNvPr id="25" name="Shape 23"/>
          <p:cNvSpPr/>
          <p:nvPr/>
        </p:nvSpPr>
        <p:spPr>
          <a:xfrm>
            <a:off x="7406640" y="2651760"/>
            <a:ext cx="4069080" cy="749808"/>
          </a:xfrm>
          <a:prstGeom prst="rect">
            <a:avLst/>
          </a:prstGeom>
          <a:solidFill>
            <a:srgbClr val="F8FAFC"/>
          </a:solidFill>
          <a:ln w="8890">
            <a:solidFill>
              <a:srgbClr val="D9E1E8"/>
            </a:solidFill>
            <a:prstDash val="solid"/>
          </a:ln>
        </p:spPr>
        <p:txBody>
          <a:bodyPr/>
          <a:lstStyle/>
          <a:p>
            <a:endParaRPr lang="LID4096"/>
          </a:p>
        </p:txBody>
      </p:sp>
      <p:sp>
        <p:nvSpPr>
          <p:cNvPr id="26" name="Text 24"/>
          <p:cNvSpPr/>
          <p:nvPr/>
        </p:nvSpPr>
        <p:spPr>
          <a:xfrm>
            <a:off x="713232" y="2852928"/>
            <a:ext cx="2368296" cy="292608"/>
          </a:xfrm>
          <a:prstGeom prst="rect">
            <a:avLst/>
          </a:prstGeom>
          <a:noFill/>
          <a:ln/>
        </p:spPr>
        <p:txBody>
          <a:bodyPr wrap="square" lIns="0" tIns="0" rIns="0" bIns="0" rtlCol="0" anchor="ctr"/>
          <a:lstStyle/>
          <a:p>
            <a:pPr marL="0" indent="0">
              <a:buNone/>
            </a:pPr>
            <a:r>
              <a:rPr lang="en-US" sz="900" b="1" dirty="0">
                <a:solidFill>
                  <a:srgbClr val="1F2937"/>
                </a:solidFill>
              </a:rPr>
              <a:t>CPI vs e-commerce growth</a:t>
            </a:r>
            <a:endParaRPr lang="en-US" sz="900" dirty="0"/>
          </a:p>
        </p:txBody>
      </p:sp>
      <p:sp>
        <p:nvSpPr>
          <p:cNvPr id="27" name="Text 25"/>
          <p:cNvSpPr/>
          <p:nvPr/>
        </p:nvSpPr>
        <p:spPr>
          <a:xfrm>
            <a:off x="3364992" y="2852928"/>
            <a:ext cx="1956816" cy="292608"/>
          </a:xfrm>
          <a:prstGeom prst="rect">
            <a:avLst/>
          </a:prstGeom>
          <a:noFill/>
          <a:ln/>
        </p:spPr>
        <p:txBody>
          <a:bodyPr wrap="square" lIns="0" tIns="0" rIns="0" bIns="0" rtlCol="0" anchor="ctr"/>
          <a:lstStyle/>
          <a:p>
            <a:pPr marL="0" indent="0">
              <a:buNone/>
            </a:pPr>
            <a:r>
              <a:rPr lang="en-US" sz="900" dirty="0">
                <a:solidFill>
                  <a:srgbClr val="1F2937"/>
                </a:solidFill>
              </a:rPr>
              <a:t>Spearman ρ ≈ −0.705</a:t>
            </a:r>
            <a:endParaRPr lang="en-US" sz="900" dirty="0"/>
          </a:p>
        </p:txBody>
      </p:sp>
      <p:sp>
        <p:nvSpPr>
          <p:cNvPr id="28" name="Text 26"/>
          <p:cNvSpPr/>
          <p:nvPr/>
        </p:nvSpPr>
        <p:spPr>
          <a:xfrm>
            <a:off x="5650992" y="2852928"/>
            <a:ext cx="1316736" cy="292608"/>
          </a:xfrm>
          <a:prstGeom prst="rect">
            <a:avLst/>
          </a:prstGeom>
          <a:noFill/>
          <a:ln/>
        </p:spPr>
        <p:txBody>
          <a:bodyPr wrap="square" lIns="0" tIns="0" rIns="0" bIns="0" rtlCol="0" anchor="ctr"/>
          <a:lstStyle/>
          <a:p>
            <a:pPr marL="0" indent="0">
              <a:buNone/>
            </a:pPr>
            <a:r>
              <a:rPr lang="en-US" sz="900" dirty="0">
                <a:solidFill>
                  <a:srgbClr val="1F2937"/>
                </a:solidFill>
              </a:rPr>
              <a:t>p &lt; .001</a:t>
            </a:r>
            <a:endParaRPr lang="en-US" sz="900" dirty="0"/>
          </a:p>
        </p:txBody>
      </p:sp>
      <p:sp>
        <p:nvSpPr>
          <p:cNvPr id="29" name="Text 27"/>
          <p:cNvSpPr/>
          <p:nvPr/>
        </p:nvSpPr>
        <p:spPr>
          <a:xfrm>
            <a:off x="7479792" y="2788920"/>
            <a:ext cx="3922776" cy="475488"/>
          </a:xfrm>
          <a:prstGeom prst="rect">
            <a:avLst/>
          </a:prstGeom>
          <a:noFill/>
          <a:ln/>
        </p:spPr>
        <p:txBody>
          <a:bodyPr wrap="square" lIns="0" tIns="0" rIns="0" bIns="0" rtlCol="0" anchor="ctr"/>
          <a:lstStyle/>
          <a:p>
            <a:pPr marL="0" indent="0">
              <a:buNone/>
            </a:pPr>
            <a:r>
              <a:rPr lang="en-US" sz="850" dirty="0">
                <a:solidFill>
                  <a:srgbClr val="5F6B76"/>
                </a:solidFill>
              </a:rPr>
              <a:t>Strong negative full-period association</a:t>
            </a:r>
            <a:endParaRPr lang="en-US" sz="850" dirty="0"/>
          </a:p>
        </p:txBody>
      </p:sp>
      <p:sp>
        <p:nvSpPr>
          <p:cNvPr id="30" name="Shape 28"/>
          <p:cNvSpPr/>
          <p:nvPr/>
        </p:nvSpPr>
        <p:spPr>
          <a:xfrm>
            <a:off x="640080" y="3401568"/>
            <a:ext cx="2514600" cy="749808"/>
          </a:xfrm>
          <a:prstGeom prst="rect">
            <a:avLst/>
          </a:prstGeom>
          <a:solidFill>
            <a:srgbClr val="FFFFFF"/>
          </a:solidFill>
          <a:ln w="8890">
            <a:solidFill>
              <a:srgbClr val="D9E1E8"/>
            </a:solidFill>
            <a:prstDash val="solid"/>
          </a:ln>
        </p:spPr>
        <p:txBody>
          <a:bodyPr/>
          <a:lstStyle/>
          <a:p>
            <a:endParaRPr lang="LID4096"/>
          </a:p>
        </p:txBody>
      </p:sp>
      <p:sp>
        <p:nvSpPr>
          <p:cNvPr id="31" name="Shape 29"/>
          <p:cNvSpPr/>
          <p:nvPr/>
        </p:nvSpPr>
        <p:spPr>
          <a:xfrm>
            <a:off x="3291840" y="3401568"/>
            <a:ext cx="2103120" cy="749808"/>
          </a:xfrm>
          <a:prstGeom prst="rect">
            <a:avLst/>
          </a:prstGeom>
          <a:solidFill>
            <a:srgbClr val="FFFFFF"/>
          </a:solidFill>
          <a:ln w="8890">
            <a:solidFill>
              <a:srgbClr val="D9E1E8"/>
            </a:solidFill>
            <a:prstDash val="solid"/>
          </a:ln>
        </p:spPr>
        <p:txBody>
          <a:bodyPr/>
          <a:lstStyle/>
          <a:p>
            <a:endParaRPr lang="LID4096"/>
          </a:p>
        </p:txBody>
      </p:sp>
      <p:sp>
        <p:nvSpPr>
          <p:cNvPr id="32" name="Shape 30"/>
          <p:cNvSpPr/>
          <p:nvPr/>
        </p:nvSpPr>
        <p:spPr>
          <a:xfrm>
            <a:off x="5577840" y="3401568"/>
            <a:ext cx="1463040" cy="749808"/>
          </a:xfrm>
          <a:prstGeom prst="rect">
            <a:avLst/>
          </a:prstGeom>
          <a:solidFill>
            <a:srgbClr val="FFFFFF"/>
          </a:solidFill>
          <a:ln w="8890">
            <a:solidFill>
              <a:srgbClr val="D9E1E8"/>
            </a:solidFill>
            <a:prstDash val="solid"/>
          </a:ln>
        </p:spPr>
        <p:txBody>
          <a:bodyPr/>
          <a:lstStyle/>
          <a:p>
            <a:endParaRPr lang="LID4096"/>
          </a:p>
        </p:txBody>
      </p:sp>
      <p:sp>
        <p:nvSpPr>
          <p:cNvPr id="33" name="Shape 31"/>
          <p:cNvSpPr/>
          <p:nvPr/>
        </p:nvSpPr>
        <p:spPr>
          <a:xfrm>
            <a:off x="7406640" y="3401568"/>
            <a:ext cx="4069080" cy="749808"/>
          </a:xfrm>
          <a:prstGeom prst="rect">
            <a:avLst/>
          </a:prstGeom>
          <a:solidFill>
            <a:srgbClr val="FFFFFF"/>
          </a:solidFill>
          <a:ln w="8890">
            <a:solidFill>
              <a:srgbClr val="D9E1E8"/>
            </a:solidFill>
            <a:prstDash val="solid"/>
          </a:ln>
        </p:spPr>
        <p:txBody>
          <a:bodyPr/>
          <a:lstStyle/>
          <a:p>
            <a:endParaRPr lang="LID4096"/>
          </a:p>
        </p:txBody>
      </p:sp>
      <p:sp>
        <p:nvSpPr>
          <p:cNvPr id="34" name="Text 32"/>
          <p:cNvSpPr/>
          <p:nvPr/>
        </p:nvSpPr>
        <p:spPr>
          <a:xfrm>
            <a:off x="713232" y="3602736"/>
            <a:ext cx="2368296" cy="292608"/>
          </a:xfrm>
          <a:prstGeom prst="rect">
            <a:avLst/>
          </a:prstGeom>
          <a:noFill/>
          <a:ln/>
        </p:spPr>
        <p:txBody>
          <a:bodyPr wrap="square" lIns="0" tIns="0" rIns="0" bIns="0" rtlCol="0" anchor="ctr"/>
          <a:lstStyle/>
          <a:p>
            <a:pPr marL="0" indent="0">
              <a:buNone/>
            </a:pPr>
            <a:r>
              <a:rPr lang="en-US" sz="900" b="1" dirty="0">
                <a:solidFill>
                  <a:srgbClr val="1F2937"/>
                </a:solidFill>
              </a:rPr>
              <a:t>CCI vs e-commerce growth</a:t>
            </a:r>
            <a:endParaRPr lang="en-US" sz="900" dirty="0"/>
          </a:p>
        </p:txBody>
      </p:sp>
      <p:sp>
        <p:nvSpPr>
          <p:cNvPr id="35" name="Text 33"/>
          <p:cNvSpPr/>
          <p:nvPr/>
        </p:nvSpPr>
        <p:spPr>
          <a:xfrm>
            <a:off x="3364992" y="3602736"/>
            <a:ext cx="1956816" cy="292608"/>
          </a:xfrm>
          <a:prstGeom prst="rect">
            <a:avLst/>
          </a:prstGeom>
          <a:noFill/>
          <a:ln/>
        </p:spPr>
        <p:txBody>
          <a:bodyPr wrap="square" lIns="0" tIns="0" rIns="0" bIns="0" rtlCol="0" anchor="ctr"/>
          <a:lstStyle/>
          <a:p>
            <a:pPr marL="0" indent="0">
              <a:buNone/>
            </a:pPr>
            <a:r>
              <a:rPr lang="en-US" sz="900" dirty="0">
                <a:solidFill>
                  <a:srgbClr val="1F2937"/>
                </a:solidFill>
              </a:rPr>
              <a:t>Spearman ρ ≈ +0.328</a:t>
            </a:r>
            <a:endParaRPr lang="en-US" sz="900" dirty="0"/>
          </a:p>
        </p:txBody>
      </p:sp>
      <p:sp>
        <p:nvSpPr>
          <p:cNvPr id="36" name="Text 34"/>
          <p:cNvSpPr/>
          <p:nvPr/>
        </p:nvSpPr>
        <p:spPr>
          <a:xfrm>
            <a:off x="5650992" y="3602736"/>
            <a:ext cx="1316736" cy="292608"/>
          </a:xfrm>
          <a:prstGeom prst="rect">
            <a:avLst/>
          </a:prstGeom>
          <a:noFill/>
          <a:ln/>
        </p:spPr>
        <p:txBody>
          <a:bodyPr wrap="square" lIns="0" tIns="0" rIns="0" bIns="0" rtlCol="0" anchor="ctr"/>
          <a:lstStyle/>
          <a:p>
            <a:pPr marL="0" indent="0">
              <a:buNone/>
            </a:pPr>
            <a:r>
              <a:rPr lang="en-US" sz="900" dirty="0">
                <a:solidFill>
                  <a:srgbClr val="1F2937"/>
                </a:solidFill>
              </a:rPr>
              <a:t>p ≈ .001</a:t>
            </a:r>
            <a:endParaRPr lang="en-US" sz="900" dirty="0"/>
          </a:p>
        </p:txBody>
      </p:sp>
      <p:sp>
        <p:nvSpPr>
          <p:cNvPr id="37" name="Text 35"/>
          <p:cNvSpPr/>
          <p:nvPr/>
        </p:nvSpPr>
        <p:spPr>
          <a:xfrm>
            <a:off x="7479792" y="3538728"/>
            <a:ext cx="3922776" cy="475488"/>
          </a:xfrm>
          <a:prstGeom prst="rect">
            <a:avLst/>
          </a:prstGeom>
          <a:noFill/>
          <a:ln/>
        </p:spPr>
        <p:txBody>
          <a:bodyPr wrap="square" lIns="0" tIns="0" rIns="0" bIns="0" rtlCol="0" anchor="ctr"/>
          <a:lstStyle/>
          <a:p>
            <a:pPr marL="0" indent="0">
              <a:buNone/>
            </a:pPr>
            <a:r>
              <a:rPr lang="en-US" sz="850" dirty="0">
                <a:solidFill>
                  <a:srgbClr val="5F6B76"/>
                </a:solidFill>
              </a:rPr>
              <a:t>Positive monotonic association; pandemic distorts Pearson</a:t>
            </a:r>
            <a:endParaRPr lang="en-US" sz="850" dirty="0"/>
          </a:p>
        </p:txBody>
      </p:sp>
      <p:sp>
        <p:nvSpPr>
          <p:cNvPr id="38" name="Shape 36"/>
          <p:cNvSpPr/>
          <p:nvPr/>
        </p:nvSpPr>
        <p:spPr>
          <a:xfrm>
            <a:off x="640080" y="4151376"/>
            <a:ext cx="2514600" cy="749808"/>
          </a:xfrm>
          <a:prstGeom prst="rect">
            <a:avLst/>
          </a:prstGeom>
          <a:solidFill>
            <a:srgbClr val="F8FAFC"/>
          </a:solidFill>
          <a:ln w="8890">
            <a:solidFill>
              <a:srgbClr val="D9E1E8"/>
            </a:solidFill>
            <a:prstDash val="solid"/>
          </a:ln>
        </p:spPr>
        <p:txBody>
          <a:bodyPr/>
          <a:lstStyle/>
          <a:p>
            <a:endParaRPr lang="LID4096"/>
          </a:p>
        </p:txBody>
      </p:sp>
      <p:sp>
        <p:nvSpPr>
          <p:cNvPr id="39" name="Shape 37"/>
          <p:cNvSpPr/>
          <p:nvPr/>
        </p:nvSpPr>
        <p:spPr>
          <a:xfrm>
            <a:off x="3291840" y="4151376"/>
            <a:ext cx="2103120" cy="749808"/>
          </a:xfrm>
          <a:prstGeom prst="rect">
            <a:avLst/>
          </a:prstGeom>
          <a:solidFill>
            <a:srgbClr val="F8FAFC"/>
          </a:solidFill>
          <a:ln w="8890">
            <a:solidFill>
              <a:srgbClr val="D9E1E8"/>
            </a:solidFill>
            <a:prstDash val="solid"/>
          </a:ln>
        </p:spPr>
        <p:txBody>
          <a:bodyPr/>
          <a:lstStyle/>
          <a:p>
            <a:endParaRPr lang="LID4096"/>
          </a:p>
        </p:txBody>
      </p:sp>
      <p:sp>
        <p:nvSpPr>
          <p:cNvPr id="40" name="Shape 38"/>
          <p:cNvSpPr/>
          <p:nvPr/>
        </p:nvSpPr>
        <p:spPr>
          <a:xfrm>
            <a:off x="5577840" y="4151376"/>
            <a:ext cx="1463040" cy="749808"/>
          </a:xfrm>
          <a:prstGeom prst="rect">
            <a:avLst/>
          </a:prstGeom>
          <a:solidFill>
            <a:srgbClr val="F8FAFC"/>
          </a:solidFill>
          <a:ln w="8890">
            <a:solidFill>
              <a:srgbClr val="D9E1E8"/>
            </a:solidFill>
            <a:prstDash val="solid"/>
          </a:ln>
        </p:spPr>
        <p:txBody>
          <a:bodyPr/>
          <a:lstStyle/>
          <a:p>
            <a:endParaRPr lang="LID4096"/>
          </a:p>
        </p:txBody>
      </p:sp>
      <p:sp>
        <p:nvSpPr>
          <p:cNvPr id="41" name="Shape 39"/>
          <p:cNvSpPr/>
          <p:nvPr/>
        </p:nvSpPr>
        <p:spPr>
          <a:xfrm>
            <a:off x="7406640" y="4151376"/>
            <a:ext cx="4069080" cy="749808"/>
          </a:xfrm>
          <a:prstGeom prst="rect">
            <a:avLst/>
          </a:prstGeom>
          <a:solidFill>
            <a:srgbClr val="F8FAFC"/>
          </a:solidFill>
          <a:ln w="8890">
            <a:solidFill>
              <a:srgbClr val="D9E1E8"/>
            </a:solidFill>
            <a:prstDash val="solid"/>
          </a:ln>
        </p:spPr>
        <p:txBody>
          <a:bodyPr/>
          <a:lstStyle/>
          <a:p>
            <a:endParaRPr lang="LID4096"/>
          </a:p>
        </p:txBody>
      </p:sp>
      <p:sp>
        <p:nvSpPr>
          <p:cNvPr id="42" name="Text 40"/>
          <p:cNvSpPr/>
          <p:nvPr/>
        </p:nvSpPr>
        <p:spPr>
          <a:xfrm>
            <a:off x="713232" y="4352544"/>
            <a:ext cx="2368296" cy="292608"/>
          </a:xfrm>
          <a:prstGeom prst="rect">
            <a:avLst/>
          </a:prstGeom>
          <a:noFill/>
          <a:ln/>
        </p:spPr>
        <p:txBody>
          <a:bodyPr wrap="square" lIns="0" tIns="0" rIns="0" bIns="0" rtlCol="0" anchor="ctr"/>
          <a:lstStyle/>
          <a:p>
            <a:pPr marL="0" indent="0">
              <a:buNone/>
            </a:pPr>
            <a:r>
              <a:rPr lang="en-US" sz="900" b="1" dirty="0">
                <a:solidFill>
                  <a:srgbClr val="1F2937"/>
                </a:solidFill>
              </a:rPr>
              <a:t>HFCE growth vs e-commerce growth</a:t>
            </a:r>
            <a:endParaRPr lang="en-US" sz="900" dirty="0"/>
          </a:p>
        </p:txBody>
      </p:sp>
      <p:sp>
        <p:nvSpPr>
          <p:cNvPr id="43" name="Text 41"/>
          <p:cNvSpPr/>
          <p:nvPr/>
        </p:nvSpPr>
        <p:spPr>
          <a:xfrm>
            <a:off x="3364992" y="4352544"/>
            <a:ext cx="1956816" cy="292608"/>
          </a:xfrm>
          <a:prstGeom prst="rect">
            <a:avLst/>
          </a:prstGeom>
          <a:noFill/>
          <a:ln/>
        </p:spPr>
        <p:txBody>
          <a:bodyPr wrap="square" lIns="0" tIns="0" rIns="0" bIns="0" rtlCol="0" anchor="ctr"/>
          <a:lstStyle/>
          <a:p>
            <a:pPr marL="0" indent="0">
              <a:buNone/>
            </a:pPr>
            <a:r>
              <a:rPr lang="en-US" sz="900" dirty="0">
                <a:solidFill>
                  <a:srgbClr val="1F2937"/>
                </a:solidFill>
              </a:rPr>
              <a:t>Spearman ρ ≈ −0.579</a:t>
            </a:r>
            <a:endParaRPr lang="en-US" sz="900" dirty="0"/>
          </a:p>
        </p:txBody>
      </p:sp>
      <p:sp>
        <p:nvSpPr>
          <p:cNvPr id="44" name="Text 42"/>
          <p:cNvSpPr/>
          <p:nvPr/>
        </p:nvSpPr>
        <p:spPr>
          <a:xfrm>
            <a:off x="5650992" y="4352544"/>
            <a:ext cx="1316736" cy="292608"/>
          </a:xfrm>
          <a:prstGeom prst="rect">
            <a:avLst/>
          </a:prstGeom>
          <a:noFill/>
          <a:ln/>
        </p:spPr>
        <p:txBody>
          <a:bodyPr wrap="square" lIns="0" tIns="0" rIns="0" bIns="0" rtlCol="0" anchor="ctr"/>
          <a:lstStyle/>
          <a:p>
            <a:pPr marL="0" indent="0">
              <a:buNone/>
            </a:pPr>
            <a:r>
              <a:rPr lang="en-US" sz="900" dirty="0">
                <a:solidFill>
                  <a:srgbClr val="1F2937"/>
                </a:solidFill>
              </a:rPr>
              <a:t>p &lt; .001</a:t>
            </a:r>
            <a:endParaRPr lang="en-US" sz="900" dirty="0"/>
          </a:p>
        </p:txBody>
      </p:sp>
      <p:sp>
        <p:nvSpPr>
          <p:cNvPr id="45" name="Text 43"/>
          <p:cNvSpPr/>
          <p:nvPr/>
        </p:nvSpPr>
        <p:spPr>
          <a:xfrm>
            <a:off x="7479792" y="4288536"/>
            <a:ext cx="3922776" cy="475488"/>
          </a:xfrm>
          <a:prstGeom prst="rect">
            <a:avLst/>
          </a:prstGeom>
          <a:noFill/>
          <a:ln/>
        </p:spPr>
        <p:txBody>
          <a:bodyPr wrap="square" lIns="0" tIns="0" rIns="0" bIns="0" rtlCol="0" anchor="ctr"/>
          <a:lstStyle/>
          <a:p>
            <a:pPr marL="0" indent="0">
              <a:buNone/>
            </a:pPr>
            <a:r>
              <a:rPr lang="en-US" sz="850" dirty="0">
                <a:solidFill>
                  <a:srgbClr val="5F6B76"/>
                </a:solidFill>
              </a:rPr>
              <a:t>Reflects regime/channel substitution effects</a:t>
            </a:r>
            <a:endParaRPr lang="en-US" sz="850" dirty="0"/>
          </a:p>
        </p:txBody>
      </p:sp>
      <p:sp>
        <p:nvSpPr>
          <p:cNvPr id="46" name="Shape 44"/>
          <p:cNvSpPr/>
          <p:nvPr/>
        </p:nvSpPr>
        <p:spPr>
          <a:xfrm>
            <a:off x="640080" y="4901184"/>
            <a:ext cx="2514600" cy="749808"/>
          </a:xfrm>
          <a:prstGeom prst="rect">
            <a:avLst/>
          </a:prstGeom>
          <a:solidFill>
            <a:srgbClr val="FFFFFF"/>
          </a:solidFill>
          <a:ln w="8890">
            <a:solidFill>
              <a:srgbClr val="D9E1E8"/>
            </a:solidFill>
            <a:prstDash val="solid"/>
          </a:ln>
        </p:spPr>
        <p:txBody>
          <a:bodyPr/>
          <a:lstStyle/>
          <a:p>
            <a:endParaRPr lang="LID4096"/>
          </a:p>
        </p:txBody>
      </p:sp>
      <p:sp>
        <p:nvSpPr>
          <p:cNvPr id="47" name="Shape 45"/>
          <p:cNvSpPr/>
          <p:nvPr/>
        </p:nvSpPr>
        <p:spPr>
          <a:xfrm>
            <a:off x="3291840" y="4901184"/>
            <a:ext cx="2103120" cy="749808"/>
          </a:xfrm>
          <a:prstGeom prst="rect">
            <a:avLst/>
          </a:prstGeom>
          <a:solidFill>
            <a:srgbClr val="FFFFFF"/>
          </a:solidFill>
          <a:ln w="8890">
            <a:solidFill>
              <a:srgbClr val="D9E1E8"/>
            </a:solidFill>
            <a:prstDash val="solid"/>
          </a:ln>
        </p:spPr>
        <p:txBody>
          <a:bodyPr/>
          <a:lstStyle/>
          <a:p>
            <a:endParaRPr lang="LID4096"/>
          </a:p>
        </p:txBody>
      </p:sp>
      <p:sp>
        <p:nvSpPr>
          <p:cNvPr id="48" name="Shape 46"/>
          <p:cNvSpPr/>
          <p:nvPr/>
        </p:nvSpPr>
        <p:spPr>
          <a:xfrm>
            <a:off x="5577840" y="4901184"/>
            <a:ext cx="1463040" cy="749808"/>
          </a:xfrm>
          <a:prstGeom prst="rect">
            <a:avLst/>
          </a:prstGeom>
          <a:solidFill>
            <a:srgbClr val="FFFFFF"/>
          </a:solidFill>
          <a:ln w="8890">
            <a:solidFill>
              <a:srgbClr val="D9E1E8"/>
            </a:solidFill>
            <a:prstDash val="solid"/>
          </a:ln>
        </p:spPr>
        <p:txBody>
          <a:bodyPr/>
          <a:lstStyle/>
          <a:p>
            <a:endParaRPr lang="LID4096"/>
          </a:p>
        </p:txBody>
      </p:sp>
      <p:sp>
        <p:nvSpPr>
          <p:cNvPr id="49" name="Shape 47"/>
          <p:cNvSpPr/>
          <p:nvPr/>
        </p:nvSpPr>
        <p:spPr>
          <a:xfrm>
            <a:off x="7406640" y="4901184"/>
            <a:ext cx="4069080" cy="749808"/>
          </a:xfrm>
          <a:prstGeom prst="rect">
            <a:avLst/>
          </a:prstGeom>
          <a:solidFill>
            <a:srgbClr val="FFFFFF"/>
          </a:solidFill>
          <a:ln w="8890">
            <a:solidFill>
              <a:srgbClr val="D9E1E8"/>
            </a:solidFill>
            <a:prstDash val="solid"/>
          </a:ln>
        </p:spPr>
        <p:txBody>
          <a:bodyPr/>
          <a:lstStyle/>
          <a:p>
            <a:endParaRPr lang="LID4096"/>
          </a:p>
        </p:txBody>
      </p:sp>
      <p:sp>
        <p:nvSpPr>
          <p:cNvPr id="50" name="Text 48"/>
          <p:cNvSpPr/>
          <p:nvPr/>
        </p:nvSpPr>
        <p:spPr>
          <a:xfrm>
            <a:off x="713232" y="5102352"/>
            <a:ext cx="2368296" cy="292608"/>
          </a:xfrm>
          <a:prstGeom prst="rect">
            <a:avLst/>
          </a:prstGeom>
          <a:noFill/>
          <a:ln/>
        </p:spPr>
        <p:txBody>
          <a:bodyPr wrap="square" lIns="0" tIns="0" rIns="0" bIns="0" rtlCol="0" anchor="ctr"/>
          <a:lstStyle/>
          <a:p>
            <a:pPr marL="0" indent="0">
              <a:buNone/>
            </a:pPr>
            <a:r>
              <a:rPr lang="en-US" sz="900" b="1" dirty="0">
                <a:solidFill>
                  <a:srgbClr val="1F2937"/>
                </a:solidFill>
              </a:rPr>
              <a:t>Dynamic HAC regression</a:t>
            </a:r>
            <a:endParaRPr lang="en-US" sz="900" dirty="0"/>
          </a:p>
        </p:txBody>
      </p:sp>
      <p:sp>
        <p:nvSpPr>
          <p:cNvPr id="51" name="Text 49"/>
          <p:cNvSpPr/>
          <p:nvPr/>
        </p:nvSpPr>
        <p:spPr>
          <a:xfrm>
            <a:off x="3364992" y="5102352"/>
            <a:ext cx="1956816" cy="292608"/>
          </a:xfrm>
          <a:prstGeom prst="rect">
            <a:avLst/>
          </a:prstGeom>
          <a:noFill/>
          <a:ln/>
        </p:spPr>
        <p:txBody>
          <a:bodyPr wrap="square" lIns="0" tIns="0" rIns="0" bIns="0" rtlCol="0" anchor="ctr"/>
          <a:lstStyle/>
          <a:p>
            <a:pPr marL="0" indent="0">
              <a:buNone/>
            </a:pPr>
            <a:r>
              <a:rPr lang="en-US" sz="900" dirty="0">
                <a:solidFill>
                  <a:srgbClr val="1F2937"/>
                </a:solidFill>
              </a:rPr>
              <a:t>R² ≈ .879</a:t>
            </a:r>
            <a:endParaRPr lang="en-US" sz="900" dirty="0"/>
          </a:p>
        </p:txBody>
      </p:sp>
      <p:sp>
        <p:nvSpPr>
          <p:cNvPr id="52" name="Text 50"/>
          <p:cNvSpPr/>
          <p:nvPr/>
        </p:nvSpPr>
        <p:spPr>
          <a:xfrm>
            <a:off x="5650992" y="5102352"/>
            <a:ext cx="1316736" cy="292608"/>
          </a:xfrm>
          <a:prstGeom prst="rect">
            <a:avLst/>
          </a:prstGeom>
          <a:noFill/>
          <a:ln/>
        </p:spPr>
        <p:txBody>
          <a:bodyPr wrap="square" lIns="0" tIns="0" rIns="0" bIns="0" rtlCol="0" anchor="ctr"/>
          <a:lstStyle/>
          <a:p>
            <a:pPr marL="0" indent="0">
              <a:buNone/>
            </a:pPr>
            <a:r>
              <a:rPr lang="en-US" sz="900" dirty="0">
                <a:solidFill>
                  <a:srgbClr val="1F2937"/>
                </a:solidFill>
              </a:rPr>
              <a:t>Adj. R² ≈ .872</a:t>
            </a:r>
            <a:endParaRPr lang="en-US" sz="900" dirty="0"/>
          </a:p>
        </p:txBody>
      </p:sp>
      <p:sp>
        <p:nvSpPr>
          <p:cNvPr id="53" name="Text 51"/>
          <p:cNvSpPr/>
          <p:nvPr/>
        </p:nvSpPr>
        <p:spPr>
          <a:xfrm>
            <a:off x="7479792" y="5038344"/>
            <a:ext cx="3922776" cy="475488"/>
          </a:xfrm>
          <a:prstGeom prst="rect">
            <a:avLst/>
          </a:prstGeom>
          <a:noFill/>
          <a:ln/>
        </p:spPr>
        <p:txBody>
          <a:bodyPr wrap="square" lIns="0" tIns="0" rIns="0" bIns="0" rtlCol="0" anchor="ctr"/>
          <a:lstStyle/>
          <a:p>
            <a:pPr marL="0" indent="0">
              <a:buNone/>
            </a:pPr>
            <a:r>
              <a:rPr lang="en-US" sz="850" dirty="0">
                <a:solidFill>
                  <a:srgbClr val="5F6B76"/>
                </a:solidFill>
              </a:rPr>
              <a:t>Lagged growth, HFCE and pandemic dummy significant</a:t>
            </a:r>
            <a:endParaRPr lang="en-US" sz="850" dirty="0"/>
          </a:p>
        </p:txBody>
      </p:sp>
      <p:sp>
        <p:nvSpPr>
          <p:cNvPr id="54" name="Shape 52"/>
          <p:cNvSpPr/>
          <p:nvPr/>
        </p:nvSpPr>
        <p:spPr>
          <a:xfrm>
            <a:off x="841248" y="5779008"/>
            <a:ext cx="10469880" cy="457200"/>
          </a:xfrm>
          <a:prstGeom prst="roundRect">
            <a:avLst>
              <a:gd name="adj" fmla="val 12000"/>
            </a:avLst>
          </a:prstGeom>
          <a:solidFill>
            <a:srgbClr val="FFFFFF"/>
          </a:solidFill>
          <a:ln w="12700">
            <a:solidFill>
              <a:srgbClr val="D9E1E8"/>
            </a:solidFill>
            <a:prstDash val="solid"/>
          </a:ln>
        </p:spPr>
        <p:txBody>
          <a:bodyPr/>
          <a:lstStyle/>
          <a:p>
            <a:endParaRPr lang="LID4096"/>
          </a:p>
        </p:txBody>
      </p:sp>
      <p:sp>
        <p:nvSpPr>
          <p:cNvPr id="55" name="Shape 53"/>
          <p:cNvSpPr/>
          <p:nvPr/>
        </p:nvSpPr>
        <p:spPr>
          <a:xfrm>
            <a:off x="1005840" y="5943600"/>
            <a:ext cx="292608" cy="292608"/>
          </a:xfrm>
          <a:prstGeom prst="roundRect">
            <a:avLst>
              <a:gd name="adj" fmla="val 25000"/>
            </a:avLst>
          </a:prstGeom>
          <a:solidFill>
            <a:srgbClr val="123B5D"/>
          </a:solidFill>
          <a:ln w="12700">
            <a:solidFill>
              <a:srgbClr val="123B5D"/>
            </a:solidFill>
            <a:prstDash val="solid"/>
          </a:ln>
        </p:spPr>
        <p:txBody>
          <a:bodyPr/>
          <a:lstStyle/>
          <a:p>
            <a:endParaRPr lang="LID4096"/>
          </a:p>
        </p:txBody>
      </p:sp>
      <p:sp>
        <p:nvSpPr>
          <p:cNvPr id="56" name="Text 54"/>
          <p:cNvSpPr/>
          <p:nvPr/>
        </p:nvSpPr>
        <p:spPr>
          <a:xfrm>
            <a:off x="1074420" y="5975604"/>
            <a:ext cx="146304" cy="10972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57" name="Text 55"/>
          <p:cNvSpPr/>
          <p:nvPr/>
        </p:nvSpPr>
        <p:spPr>
          <a:xfrm>
            <a:off x="1408176" y="5925312"/>
            <a:ext cx="9738360" cy="274320"/>
          </a:xfrm>
          <a:prstGeom prst="rect">
            <a:avLst/>
          </a:prstGeom>
          <a:noFill/>
          <a:ln/>
        </p:spPr>
        <p:txBody>
          <a:bodyPr wrap="square" lIns="0" tIns="0" rIns="0" bIns="0" rtlCol="0" anchor="ctr"/>
          <a:lstStyle/>
          <a:p>
            <a:pPr marL="0" indent="0">
              <a:buNone/>
            </a:pPr>
            <a:r>
              <a:rPr lang="en-US" sz="1200" b="1" dirty="0">
                <a:solidFill>
                  <a:srgbClr val="1F2937"/>
                </a:solidFill>
              </a:rPr>
              <a:t>Interpretation rule</a:t>
            </a:r>
            <a:endParaRPr lang="en-US" sz="1200" dirty="0"/>
          </a:p>
        </p:txBody>
      </p:sp>
      <p:sp>
        <p:nvSpPr>
          <p:cNvPr id="58" name="Text 56"/>
          <p:cNvSpPr/>
          <p:nvPr/>
        </p:nvSpPr>
        <p:spPr>
          <a:xfrm>
            <a:off x="1024128" y="6309360"/>
            <a:ext cx="10104120" cy="0"/>
          </a:xfrm>
          <a:prstGeom prst="rect">
            <a:avLst/>
          </a:prstGeom>
          <a:noFill/>
          <a:ln/>
        </p:spPr>
        <p:txBody>
          <a:bodyPr wrap="square" lIns="0" tIns="0" rIns="0" bIns="0" rtlCol="0" anchor="t"/>
          <a:lstStyle/>
          <a:p>
            <a:pPr marL="0" indent="0">
              <a:buNone/>
            </a:pPr>
            <a:r>
              <a:rPr lang="en-US" sz="920" dirty="0">
                <a:solidFill>
                  <a:srgbClr val="5F6B76"/>
                </a:solidFill>
              </a:rPr>
              <a:t>Robust methods strengthen the evidence, but the study remains observational and is not presented as causal identification.</a:t>
            </a:r>
            <a:endParaRPr lang="en-US" sz="920" dirty="0"/>
          </a:p>
        </p:txBody>
      </p:sp>
      <p:sp>
        <p:nvSpPr>
          <p:cNvPr id="59"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9006840" cy="411480"/>
          </a:xfrm>
          <a:prstGeom prst="rect">
            <a:avLst/>
          </a:prstGeom>
          <a:noFill/>
          <a:ln/>
        </p:spPr>
        <p:txBody>
          <a:bodyPr wrap="square" lIns="0" tIns="0" rIns="0" bIns="0" rtlCol="0" anchor="ctr"/>
          <a:lstStyle/>
          <a:p>
            <a:pPr marL="0" indent="0">
              <a:buNone/>
            </a:pPr>
            <a:r>
              <a:rPr lang="en-US" sz="2400" b="1" dirty="0">
                <a:solidFill>
                  <a:srgbClr val="1F2937"/>
                </a:solidFill>
                <a:latin typeface="Aptos Display" pitchFamily="34" charset="0"/>
                <a:ea typeface="Aptos Display" pitchFamily="34" charset="-122"/>
                <a:cs typeface="Aptos Display" pitchFamily="34" charset="-120"/>
              </a:rPr>
              <a:t>Appendix · Likely questions and concise answers</a:t>
            </a:r>
            <a:endParaRPr lang="en-US" sz="2400" dirty="0"/>
          </a:p>
        </p:txBody>
      </p:sp>
      <p:sp>
        <p:nvSpPr>
          <p:cNvPr id="3" name="Text 1"/>
          <p:cNvSpPr/>
          <p:nvPr/>
        </p:nvSpPr>
        <p:spPr>
          <a:xfrm>
            <a:off x="521208" y="786384"/>
            <a:ext cx="10607040" cy="292608"/>
          </a:xfrm>
          <a:prstGeom prst="rect">
            <a:avLst/>
          </a:prstGeom>
          <a:noFill/>
          <a:ln/>
        </p:spPr>
        <p:txBody>
          <a:bodyPr wrap="square" lIns="0" tIns="0" rIns="0" bIns="0" rtlCol="0" anchor="ctr"/>
          <a:lstStyle/>
          <a:p>
            <a:pPr marL="0" indent="0">
              <a:buNone/>
            </a:pPr>
            <a:r>
              <a:rPr lang="en-US" sz="1050" dirty="0">
                <a:solidFill>
                  <a:srgbClr val="5F6B76"/>
                </a:solidFill>
              </a:rPr>
              <a:t>Use this slide as a presentation defence prompt</a:t>
            </a:r>
            <a:endParaRPr lang="en-US" sz="1050" dirty="0"/>
          </a:p>
        </p:txBody>
      </p:sp>
      <p:sp>
        <p:nvSpPr>
          <p:cNvPr id="4" name="Shape 2"/>
          <p:cNvSpPr/>
          <p:nvPr/>
        </p:nvSpPr>
        <p:spPr>
          <a:xfrm>
            <a:off x="9829800" y="347472"/>
            <a:ext cx="1847088" cy="310896"/>
          </a:xfrm>
          <a:prstGeom prst="roundRect">
            <a:avLst>
              <a:gd name="adj" fmla="val 17647"/>
            </a:avLst>
          </a:prstGeom>
          <a:solidFill>
            <a:srgbClr val="5F6B76"/>
          </a:solidFill>
          <a:ln w="12700">
            <a:solidFill>
              <a:srgbClr val="5F6B76"/>
            </a:solidFill>
            <a:prstDash val="solid"/>
          </a:ln>
        </p:spPr>
        <p:txBody>
          <a:bodyPr/>
          <a:lstStyle/>
          <a:p>
            <a:endParaRPr lang="LID4096"/>
          </a:p>
        </p:txBody>
      </p:sp>
      <p:sp>
        <p:nvSpPr>
          <p:cNvPr id="5" name="Text 3"/>
          <p:cNvSpPr/>
          <p:nvPr/>
        </p:nvSpPr>
        <p:spPr>
          <a:xfrm>
            <a:off x="9930384" y="416052"/>
            <a:ext cx="1645920" cy="146304"/>
          </a:xfrm>
          <a:prstGeom prst="rect">
            <a:avLst/>
          </a:prstGeom>
          <a:noFill/>
          <a:ln/>
        </p:spPr>
        <p:txBody>
          <a:bodyPr wrap="square" lIns="0" tIns="0" rIns="0" bIns="0" rtlCol="0" anchor="ctr"/>
          <a:lstStyle/>
          <a:p>
            <a:pPr marL="0" indent="0" algn="ctr">
              <a:buNone/>
            </a:pPr>
            <a:r>
              <a:rPr lang="en-US" sz="800" b="1" dirty="0">
                <a:solidFill>
                  <a:srgbClr val="FFFFFF"/>
                </a:solidFill>
              </a:rPr>
              <a:t>Q&amp;A BACKUP</a:t>
            </a:r>
            <a:endParaRPr lang="en-US" sz="800" dirty="0"/>
          </a:p>
        </p:txBody>
      </p:sp>
      <p:sp>
        <p:nvSpPr>
          <p:cNvPr id="6" name="Shape 4"/>
          <p:cNvSpPr/>
          <p:nvPr/>
        </p:nvSpPr>
        <p:spPr>
          <a:xfrm>
            <a:off x="658368" y="1325880"/>
            <a:ext cx="5074920" cy="1335024"/>
          </a:xfrm>
          <a:prstGeom prst="roundRect">
            <a:avLst>
              <a:gd name="adj" fmla="val 4110"/>
            </a:avLst>
          </a:prstGeom>
          <a:solidFill>
            <a:srgbClr val="FFFFFF"/>
          </a:solidFill>
          <a:ln w="12700">
            <a:solidFill>
              <a:srgbClr val="D9E1E8"/>
            </a:solidFill>
            <a:prstDash val="solid"/>
          </a:ln>
        </p:spPr>
        <p:txBody>
          <a:bodyPr/>
          <a:lstStyle/>
          <a:p>
            <a:endParaRPr lang="LID4096"/>
          </a:p>
        </p:txBody>
      </p:sp>
      <p:sp>
        <p:nvSpPr>
          <p:cNvPr id="7" name="Text 5"/>
          <p:cNvSpPr/>
          <p:nvPr/>
        </p:nvSpPr>
        <p:spPr>
          <a:xfrm>
            <a:off x="859536" y="1490472"/>
            <a:ext cx="4617720" cy="292608"/>
          </a:xfrm>
          <a:prstGeom prst="rect">
            <a:avLst/>
          </a:prstGeom>
          <a:noFill/>
          <a:ln/>
        </p:spPr>
        <p:txBody>
          <a:bodyPr wrap="square" lIns="0" tIns="0" rIns="0" bIns="0" rtlCol="0" anchor="ctr"/>
          <a:lstStyle/>
          <a:p>
            <a:pPr marL="0" indent="0">
              <a:buNone/>
            </a:pPr>
            <a:r>
              <a:rPr lang="en-US" sz="1060" b="1" dirty="0">
                <a:solidFill>
                  <a:srgbClr val="123B5D"/>
                </a:solidFill>
              </a:rPr>
              <a:t>Why only 3 PESTEL dimensions?</a:t>
            </a:r>
            <a:endParaRPr lang="en-US" sz="1060" dirty="0"/>
          </a:p>
        </p:txBody>
      </p:sp>
      <p:sp>
        <p:nvSpPr>
          <p:cNvPr id="8" name="Text 6"/>
          <p:cNvSpPr/>
          <p:nvPr/>
        </p:nvSpPr>
        <p:spPr>
          <a:xfrm>
            <a:off x="859536" y="1892808"/>
            <a:ext cx="4617720" cy="566928"/>
          </a:xfrm>
          <a:prstGeom prst="rect">
            <a:avLst/>
          </a:prstGeom>
          <a:noFill/>
          <a:ln/>
        </p:spPr>
        <p:txBody>
          <a:bodyPr wrap="square" lIns="0" tIns="0" rIns="0" bIns="0" rtlCol="0" anchor="ctr"/>
          <a:lstStyle/>
          <a:p>
            <a:pPr marL="0" indent="0">
              <a:buNone/>
            </a:pPr>
            <a:r>
              <a:rPr lang="en-US" sz="870" dirty="0">
                <a:solidFill>
                  <a:srgbClr val="5F6B76"/>
                </a:solidFill>
              </a:rPr>
              <a:t>They were the dimensions with the strongest sector relevance and consistent authoritative data across the study period. The assignment requires at least three, not all six.</a:t>
            </a:r>
            <a:endParaRPr lang="en-US" sz="870" dirty="0"/>
          </a:p>
        </p:txBody>
      </p:sp>
      <p:sp>
        <p:nvSpPr>
          <p:cNvPr id="9" name="Shape 7"/>
          <p:cNvSpPr/>
          <p:nvPr/>
        </p:nvSpPr>
        <p:spPr>
          <a:xfrm>
            <a:off x="6190488" y="1325880"/>
            <a:ext cx="5074920" cy="1335024"/>
          </a:xfrm>
          <a:prstGeom prst="roundRect">
            <a:avLst>
              <a:gd name="adj" fmla="val 4110"/>
            </a:avLst>
          </a:prstGeom>
          <a:solidFill>
            <a:srgbClr val="FFFFFF"/>
          </a:solidFill>
          <a:ln w="12700">
            <a:solidFill>
              <a:srgbClr val="D9E1E8"/>
            </a:solidFill>
            <a:prstDash val="solid"/>
          </a:ln>
        </p:spPr>
        <p:txBody>
          <a:bodyPr/>
          <a:lstStyle/>
          <a:p>
            <a:endParaRPr lang="LID4096"/>
          </a:p>
        </p:txBody>
      </p:sp>
      <p:sp>
        <p:nvSpPr>
          <p:cNvPr id="10" name="Text 8"/>
          <p:cNvSpPr/>
          <p:nvPr/>
        </p:nvSpPr>
        <p:spPr>
          <a:xfrm>
            <a:off x="6391656" y="1490472"/>
            <a:ext cx="4617720" cy="292608"/>
          </a:xfrm>
          <a:prstGeom prst="rect">
            <a:avLst/>
          </a:prstGeom>
          <a:noFill/>
          <a:ln/>
        </p:spPr>
        <p:txBody>
          <a:bodyPr wrap="square" lIns="0" tIns="0" rIns="0" bIns="0" rtlCol="0" anchor="ctr"/>
          <a:lstStyle/>
          <a:p>
            <a:pPr marL="0" indent="0">
              <a:buNone/>
            </a:pPr>
            <a:r>
              <a:rPr lang="en-US" sz="1060" b="1" dirty="0">
                <a:solidFill>
                  <a:srgbClr val="123B5D"/>
                </a:solidFill>
              </a:rPr>
              <a:t>Why not use all 108 rows for population and internet?</a:t>
            </a:r>
            <a:endParaRPr lang="en-US" sz="1060" dirty="0"/>
          </a:p>
        </p:txBody>
      </p:sp>
      <p:sp>
        <p:nvSpPr>
          <p:cNvPr id="11" name="Text 9"/>
          <p:cNvSpPr/>
          <p:nvPr/>
        </p:nvSpPr>
        <p:spPr>
          <a:xfrm>
            <a:off x="6391656" y="1892808"/>
            <a:ext cx="4617720" cy="566928"/>
          </a:xfrm>
          <a:prstGeom prst="rect">
            <a:avLst/>
          </a:prstGeom>
          <a:noFill/>
          <a:ln/>
        </p:spPr>
        <p:txBody>
          <a:bodyPr wrap="square" lIns="0" tIns="0" rIns="0" bIns="0" rtlCol="0" anchor="ctr"/>
          <a:lstStyle/>
          <a:p>
            <a:pPr marL="0" indent="0">
              <a:buNone/>
            </a:pPr>
            <a:r>
              <a:rPr lang="en-US" sz="870" dirty="0">
                <a:solidFill>
                  <a:srgbClr val="5F6B76"/>
                </a:solidFill>
              </a:rPr>
              <a:t>Those indicators are annual and were repeated monthly only for integration. Treating them as 108 independent observations would exaggerate statistical significance.</a:t>
            </a:r>
            <a:endParaRPr lang="en-US" sz="870" dirty="0"/>
          </a:p>
        </p:txBody>
      </p:sp>
      <p:sp>
        <p:nvSpPr>
          <p:cNvPr id="12" name="Shape 10"/>
          <p:cNvSpPr/>
          <p:nvPr/>
        </p:nvSpPr>
        <p:spPr>
          <a:xfrm>
            <a:off x="658368" y="2898648"/>
            <a:ext cx="5074920" cy="1335024"/>
          </a:xfrm>
          <a:prstGeom prst="roundRect">
            <a:avLst>
              <a:gd name="adj" fmla="val 4110"/>
            </a:avLst>
          </a:prstGeom>
          <a:solidFill>
            <a:srgbClr val="FFFFFF"/>
          </a:solidFill>
          <a:ln w="12700">
            <a:solidFill>
              <a:srgbClr val="D9E1E8"/>
            </a:solidFill>
            <a:prstDash val="solid"/>
          </a:ln>
        </p:spPr>
        <p:txBody>
          <a:bodyPr/>
          <a:lstStyle/>
          <a:p>
            <a:endParaRPr lang="LID4096"/>
          </a:p>
        </p:txBody>
      </p:sp>
      <p:sp>
        <p:nvSpPr>
          <p:cNvPr id="13" name="Text 11"/>
          <p:cNvSpPr/>
          <p:nvPr/>
        </p:nvSpPr>
        <p:spPr>
          <a:xfrm>
            <a:off x="859536" y="3063240"/>
            <a:ext cx="4617720" cy="292608"/>
          </a:xfrm>
          <a:prstGeom prst="rect">
            <a:avLst/>
          </a:prstGeom>
          <a:noFill/>
          <a:ln/>
        </p:spPr>
        <p:txBody>
          <a:bodyPr wrap="square" lIns="0" tIns="0" rIns="0" bIns="0" rtlCol="0" anchor="ctr"/>
          <a:lstStyle/>
          <a:p>
            <a:pPr marL="0" indent="0">
              <a:buNone/>
            </a:pPr>
            <a:r>
              <a:rPr lang="en-US" sz="1060" b="1" dirty="0">
                <a:solidFill>
                  <a:srgbClr val="123B5D"/>
                </a:solidFill>
              </a:rPr>
              <a:t>Why retain outliers?</a:t>
            </a:r>
            <a:endParaRPr lang="en-US" sz="1060" dirty="0"/>
          </a:p>
        </p:txBody>
      </p:sp>
      <p:sp>
        <p:nvSpPr>
          <p:cNvPr id="14" name="Text 12"/>
          <p:cNvSpPr/>
          <p:nvPr/>
        </p:nvSpPr>
        <p:spPr>
          <a:xfrm>
            <a:off x="859536" y="3465576"/>
            <a:ext cx="4617720" cy="566928"/>
          </a:xfrm>
          <a:prstGeom prst="rect">
            <a:avLst/>
          </a:prstGeom>
          <a:noFill/>
          <a:ln/>
        </p:spPr>
        <p:txBody>
          <a:bodyPr wrap="square" lIns="0" tIns="0" rIns="0" bIns="0" rtlCol="0" anchor="ctr"/>
          <a:lstStyle/>
          <a:p>
            <a:pPr marL="0" indent="0">
              <a:buNone/>
            </a:pPr>
            <a:r>
              <a:rPr lang="en-US" sz="870" dirty="0">
                <a:solidFill>
                  <a:srgbClr val="5F6B76"/>
                </a:solidFill>
              </a:rPr>
              <a:t>The major outliers are genuine pandemic and inflation shocks. Removing them would erase the external events the PESTEL study is meant to understand.</a:t>
            </a:r>
            <a:endParaRPr lang="en-US" sz="870" dirty="0"/>
          </a:p>
        </p:txBody>
      </p:sp>
      <p:sp>
        <p:nvSpPr>
          <p:cNvPr id="15" name="Shape 13"/>
          <p:cNvSpPr/>
          <p:nvPr/>
        </p:nvSpPr>
        <p:spPr>
          <a:xfrm>
            <a:off x="6190488" y="2898648"/>
            <a:ext cx="5074920" cy="1335024"/>
          </a:xfrm>
          <a:prstGeom prst="roundRect">
            <a:avLst>
              <a:gd name="adj" fmla="val 4110"/>
            </a:avLst>
          </a:prstGeom>
          <a:solidFill>
            <a:srgbClr val="FFFFFF"/>
          </a:solidFill>
          <a:ln w="12700">
            <a:solidFill>
              <a:srgbClr val="D9E1E8"/>
            </a:solidFill>
            <a:prstDash val="solid"/>
          </a:ln>
        </p:spPr>
        <p:txBody>
          <a:bodyPr/>
          <a:lstStyle/>
          <a:p>
            <a:endParaRPr lang="LID4096"/>
          </a:p>
        </p:txBody>
      </p:sp>
      <p:sp>
        <p:nvSpPr>
          <p:cNvPr id="16" name="Text 14"/>
          <p:cNvSpPr/>
          <p:nvPr/>
        </p:nvSpPr>
        <p:spPr>
          <a:xfrm>
            <a:off x="6391656" y="3063240"/>
            <a:ext cx="4617720" cy="292608"/>
          </a:xfrm>
          <a:prstGeom prst="rect">
            <a:avLst/>
          </a:prstGeom>
          <a:noFill/>
          <a:ln/>
        </p:spPr>
        <p:txBody>
          <a:bodyPr wrap="square" lIns="0" tIns="0" rIns="0" bIns="0" rtlCol="0" anchor="ctr"/>
          <a:lstStyle/>
          <a:p>
            <a:pPr marL="0" indent="0">
              <a:buNone/>
            </a:pPr>
            <a:r>
              <a:rPr lang="en-US" sz="1060" b="1" dirty="0">
                <a:solidFill>
                  <a:srgbClr val="123B5D"/>
                </a:solidFill>
              </a:rPr>
              <a:t>Why Spearman instead of only Pearson?</a:t>
            </a:r>
            <a:endParaRPr lang="en-US" sz="1060" dirty="0"/>
          </a:p>
        </p:txBody>
      </p:sp>
      <p:sp>
        <p:nvSpPr>
          <p:cNvPr id="17" name="Text 15"/>
          <p:cNvSpPr/>
          <p:nvPr/>
        </p:nvSpPr>
        <p:spPr>
          <a:xfrm>
            <a:off x="6391656" y="3465576"/>
            <a:ext cx="4617720" cy="566928"/>
          </a:xfrm>
          <a:prstGeom prst="rect">
            <a:avLst/>
          </a:prstGeom>
          <a:noFill/>
          <a:ln/>
        </p:spPr>
        <p:txBody>
          <a:bodyPr wrap="square" lIns="0" tIns="0" rIns="0" bIns="0" rtlCol="0" anchor="ctr"/>
          <a:lstStyle/>
          <a:p>
            <a:pPr marL="0" indent="0">
              <a:buNone/>
            </a:pPr>
            <a:r>
              <a:rPr lang="en-US" sz="870" dirty="0">
                <a:solidFill>
                  <a:srgbClr val="5F6B76"/>
                </a:solidFill>
              </a:rPr>
              <a:t>Growth is non-normal and contains large structural shocks. Spearman is more robust to those conditions and captures monotonic relationships.</a:t>
            </a:r>
            <a:endParaRPr lang="en-US" sz="870" dirty="0"/>
          </a:p>
        </p:txBody>
      </p:sp>
      <p:sp>
        <p:nvSpPr>
          <p:cNvPr id="18" name="Shape 16"/>
          <p:cNvSpPr/>
          <p:nvPr/>
        </p:nvSpPr>
        <p:spPr>
          <a:xfrm>
            <a:off x="658368" y="4471416"/>
            <a:ext cx="5074920" cy="1335024"/>
          </a:xfrm>
          <a:prstGeom prst="roundRect">
            <a:avLst>
              <a:gd name="adj" fmla="val 4110"/>
            </a:avLst>
          </a:prstGeom>
          <a:solidFill>
            <a:srgbClr val="FFFFFF"/>
          </a:solidFill>
          <a:ln w="12700">
            <a:solidFill>
              <a:srgbClr val="D9E1E8"/>
            </a:solidFill>
            <a:prstDash val="solid"/>
          </a:ln>
        </p:spPr>
        <p:txBody>
          <a:bodyPr/>
          <a:lstStyle/>
          <a:p>
            <a:endParaRPr lang="LID4096"/>
          </a:p>
        </p:txBody>
      </p:sp>
      <p:sp>
        <p:nvSpPr>
          <p:cNvPr id="19" name="Text 17"/>
          <p:cNvSpPr/>
          <p:nvPr/>
        </p:nvSpPr>
        <p:spPr>
          <a:xfrm>
            <a:off x="859536" y="4636008"/>
            <a:ext cx="4617720" cy="292608"/>
          </a:xfrm>
          <a:prstGeom prst="rect">
            <a:avLst/>
          </a:prstGeom>
          <a:noFill/>
          <a:ln/>
        </p:spPr>
        <p:txBody>
          <a:bodyPr wrap="square" lIns="0" tIns="0" rIns="0" bIns="0" rtlCol="0" anchor="ctr"/>
          <a:lstStyle/>
          <a:p>
            <a:pPr marL="0" indent="0">
              <a:buNone/>
            </a:pPr>
            <a:r>
              <a:rPr lang="en-US" sz="1060" b="1" dirty="0">
                <a:solidFill>
                  <a:srgbClr val="123B5D"/>
                </a:solidFill>
              </a:rPr>
              <a:t>Does inflation cause lower e-commerce growth?</a:t>
            </a:r>
            <a:endParaRPr lang="en-US" sz="1060" dirty="0"/>
          </a:p>
        </p:txBody>
      </p:sp>
      <p:sp>
        <p:nvSpPr>
          <p:cNvPr id="20" name="Text 18"/>
          <p:cNvSpPr/>
          <p:nvPr/>
        </p:nvSpPr>
        <p:spPr>
          <a:xfrm>
            <a:off x="859536" y="5038344"/>
            <a:ext cx="4617720" cy="566928"/>
          </a:xfrm>
          <a:prstGeom prst="rect">
            <a:avLst/>
          </a:prstGeom>
          <a:noFill/>
          <a:ln/>
        </p:spPr>
        <p:txBody>
          <a:bodyPr wrap="square" lIns="0" tIns="0" rIns="0" bIns="0" rtlCol="0" anchor="ctr"/>
          <a:lstStyle/>
          <a:p>
            <a:pPr marL="0" indent="0">
              <a:buNone/>
            </a:pPr>
            <a:r>
              <a:rPr lang="en-US" sz="870" dirty="0">
                <a:solidFill>
                  <a:srgbClr val="5F6B76"/>
                </a:solidFill>
              </a:rPr>
              <a:t>No causal claim is made. Inflation is a strong risk indicator in bivariate analysis, but it is not independently significant in the full multivariable model.</a:t>
            </a:r>
            <a:endParaRPr lang="en-US" sz="870" dirty="0"/>
          </a:p>
        </p:txBody>
      </p:sp>
      <p:sp>
        <p:nvSpPr>
          <p:cNvPr id="21" name="Shape 19"/>
          <p:cNvSpPr/>
          <p:nvPr/>
        </p:nvSpPr>
        <p:spPr>
          <a:xfrm>
            <a:off x="6190488" y="4471416"/>
            <a:ext cx="5074920" cy="1335024"/>
          </a:xfrm>
          <a:prstGeom prst="roundRect">
            <a:avLst>
              <a:gd name="adj" fmla="val 4110"/>
            </a:avLst>
          </a:prstGeom>
          <a:solidFill>
            <a:srgbClr val="FFFFFF"/>
          </a:solidFill>
          <a:ln w="12700">
            <a:solidFill>
              <a:srgbClr val="D9E1E8"/>
            </a:solidFill>
            <a:prstDash val="solid"/>
          </a:ln>
        </p:spPr>
        <p:txBody>
          <a:bodyPr/>
          <a:lstStyle/>
          <a:p>
            <a:endParaRPr lang="LID4096"/>
          </a:p>
        </p:txBody>
      </p:sp>
      <p:sp>
        <p:nvSpPr>
          <p:cNvPr id="22" name="Text 20"/>
          <p:cNvSpPr/>
          <p:nvPr/>
        </p:nvSpPr>
        <p:spPr>
          <a:xfrm>
            <a:off x="6391656" y="4636008"/>
            <a:ext cx="4617720" cy="292608"/>
          </a:xfrm>
          <a:prstGeom prst="rect">
            <a:avLst/>
          </a:prstGeom>
          <a:noFill/>
          <a:ln/>
        </p:spPr>
        <p:txBody>
          <a:bodyPr wrap="square" lIns="0" tIns="0" rIns="0" bIns="0" rtlCol="0" anchor="ctr"/>
          <a:lstStyle/>
          <a:p>
            <a:pPr marL="0" indent="0">
              <a:buNone/>
            </a:pPr>
            <a:r>
              <a:rPr lang="en-US" sz="1060" b="1" dirty="0">
                <a:solidFill>
                  <a:srgbClr val="123B5D"/>
                </a:solidFill>
              </a:rPr>
              <a:t>Why no machine learning?</a:t>
            </a:r>
            <a:endParaRPr lang="en-US" sz="1060" dirty="0"/>
          </a:p>
        </p:txBody>
      </p:sp>
      <p:sp>
        <p:nvSpPr>
          <p:cNvPr id="23" name="Text 21"/>
          <p:cNvSpPr/>
          <p:nvPr/>
        </p:nvSpPr>
        <p:spPr>
          <a:xfrm>
            <a:off x="6391656" y="5038344"/>
            <a:ext cx="4617720" cy="566928"/>
          </a:xfrm>
          <a:prstGeom prst="rect">
            <a:avLst/>
          </a:prstGeom>
          <a:noFill/>
          <a:ln/>
        </p:spPr>
        <p:txBody>
          <a:bodyPr wrap="square" lIns="0" tIns="0" rIns="0" bIns="0" rtlCol="0" anchor="ctr"/>
          <a:lstStyle/>
          <a:p>
            <a:pPr marL="0" indent="0">
              <a:buNone/>
            </a:pPr>
            <a:r>
              <a:rPr lang="en-US" sz="870" dirty="0">
                <a:solidFill>
                  <a:srgbClr val="5F6B76"/>
                </a:solidFill>
              </a:rPr>
              <a:t>The assignment asks for explanatory PESTEL analysis, not advanced prediction. Classical statistical methods are more aligned with the decision question and easier to defend.</a:t>
            </a:r>
            <a:endParaRPr lang="en-US" sz="870" dirty="0"/>
          </a:p>
        </p:txBody>
      </p:sp>
      <p:sp>
        <p:nvSpPr>
          <p:cNvPr id="25" name="Slide Number Placeholder 0"/>
          <p:cNvSpPr>
            <a:spLocks noGrp="1"/>
          </p:cNvSpPr>
          <p:nvPr>
            <p:ph type="sldNum" sz="quarter" idx="4294967295"/>
          </p:nvPr>
        </p:nvSpPr>
        <p:spPr>
          <a:xfrm>
            <a:off x="1172260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B7280"/>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3263</Words>
  <Application>Microsoft Office PowerPoint</Application>
  <PresentationFormat>Widescreen</PresentationFormat>
  <Paragraphs>362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Yusuf Musa</dc:creator>
  <cp:lastModifiedBy>Yusuf Musa</cp:lastModifiedBy>
  <cp:revision>1</cp:revision>
  <dcterms:created xsi:type="dcterms:W3CDTF">2026-09-13T12:51:20Z</dcterms:created>
  <dcterms:modified xsi:type="dcterms:W3CDTF">2026-09-13T12:52:28Z</dcterms:modified>
</cp:coreProperties>
</file>